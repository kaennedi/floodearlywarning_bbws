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56"/>
  </p:notesMasterIdLst>
  <p:sldIdLst>
    <p:sldId id="256" r:id="rId5"/>
    <p:sldId id="293" r:id="rId6"/>
    <p:sldId id="257" r:id="rId7"/>
    <p:sldId id="258" r:id="rId8"/>
    <p:sldId id="294" r:id="rId9"/>
    <p:sldId id="260" r:id="rId10"/>
    <p:sldId id="304" r:id="rId11"/>
    <p:sldId id="279" r:id="rId12"/>
    <p:sldId id="262" r:id="rId13"/>
    <p:sldId id="259" r:id="rId14"/>
    <p:sldId id="300" r:id="rId15"/>
    <p:sldId id="299" r:id="rId16"/>
    <p:sldId id="301" r:id="rId17"/>
    <p:sldId id="295" r:id="rId18"/>
    <p:sldId id="263" r:id="rId19"/>
    <p:sldId id="264" r:id="rId20"/>
    <p:sldId id="309" r:id="rId21"/>
    <p:sldId id="310" r:id="rId22"/>
    <p:sldId id="302" r:id="rId23"/>
    <p:sldId id="286" r:id="rId24"/>
    <p:sldId id="274" r:id="rId25"/>
    <p:sldId id="265" r:id="rId26"/>
    <p:sldId id="289" r:id="rId27"/>
    <p:sldId id="305" r:id="rId28"/>
    <p:sldId id="307" r:id="rId29"/>
    <p:sldId id="308" r:id="rId30"/>
    <p:sldId id="298" r:id="rId31"/>
    <p:sldId id="297" r:id="rId32"/>
    <p:sldId id="315" r:id="rId33"/>
    <p:sldId id="271" r:id="rId34"/>
    <p:sldId id="290" r:id="rId35"/>
    <p:sldId id="296" r:id="rId36"/>
    <p:sldId id="314" r:id="rId37"/>
    <p:sldId id="273" r:id="rId38"/>
    <p:sldId id="277" r:id="rId39"/>
    <p:sldId id="306" r:id="rId40"/>
    <p:sldId id="316" r:id="rId41"/>
    <p:sldId id="317" r:id="rId42"/>
    <p:sldId id="292" r:id="rId43"/>
    <p:sldId id="311" r:id="rId44"/>
    <p:sldId id="318" r:id="rId45"/>
    <p:sldId id="272" r:id="rId46"/>
    <p:sldId id="283" r:id="rId47"/>
    <p:sldId id="280" r:id="rId48"/>
    <p:sldId id="281" r:id="rId49"/>
    <p:sldId id="278" r:id="rId50"/>
    <p:sldId id="268" r:id="rId51"/>
    <p:sldId id="287" r:id="rId52"/>
    <p:sldId id="269" r:id="rId53"/>
    <p:sldId id="276" r:id="rId54"/>
    <p:sldId id="319" r:id="rId5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76" autoAdjust="0"/>
    <p:restoredTop sz="94162" autoAdjust="0"/>
  </p:normalViewPr>
  <p:slideViewPr>
    <p:cSldViewPr snapToGrid="0">
      <p:cViewPr varScale="1">
        <p:scale>
          <a:sx n="67" d="100"/>
          <a:sy n="67" d="100"/>
        </p:scale>
        <p:origin x="1572" y="96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viewProps" Target="viewProp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presProps" Target="pres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C00F51-D4C2-49B8-89E1-F8C4402E7F09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8AA5E9-3B26-4858-91B5-570D106ED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748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AA5E9-3B26-4858-91B5-570D106ED6C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9373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Daftar </a:t>
            </a:r>
            <a:r>
              <a:rPr lang="en-US" dirty="0" err="1"/>
              <a:t>isi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AA5E9-3B26-4858-91B5-570D106ED6C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323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Banjir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bencana</a:t>
            </a:r>
            <a:r>
              <a:rPr lang="en-US" dirty="0"/>
              <a:t> </a:t>
            </a:r>
            <a:r>
              <a:rPr lang="en-US" dirty="0" err="1"/>
              <a:t>alam</a:t>
            </a:r>
            <a:r>
              <a:rPr lang="en-US" dirty="0"/>
              <a:t> yang </a:t>
            </a:r>
            <a:r>
              <a:rPr lang="en-US" dirty="0" err="1"/>
              <a:t>sering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temui</a:t>
            </a:r>
            <a:r>
              <a:rPr lang="en-US" dirty="0"/>
              <a:t> di Indonesia dan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menimbulkan</a:t>
            </a:r>
            <a:r>
              <a:rPr lang="en-US" dirty="0"/>
              <a:t> </a:t>
            </a:r>
            <a:r>
              <a:rPr lang="en-US" dirty="0" err="1"/>
              <a:t>kerugian</a:t>
            </a:r>
            <a:r>
              <a:rPr lang="en-US" dirty="0"/>
              <a:t> </a:t>
            </a:r>
            <a:r>
              <a:rPr lang="en-US" dirty="0" err="1"/>
              <a:t>baik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korban </a:t>
            </a:r>
            <a:r>
              <a:rPr lang="en-US" dirty="0" err="1"/>
              <a:t>jiwa</a:t>
            </a:r>
            <a:r>
              <a:rPr lang="en-US" dirty="0"/>
              <a:t> </a:t>
            </a:r>
            <a:r>
              <a:rPr lang="en-US" dirty="0" err="1"/>
              <a:t>maupun</a:t>
            </a:r>
            <a:r>
              <a:rPr lang="en-US" dirty="0"/>
              <a:t> </a:t>
            </a:r>
            <a:r>
              <a:rPr lang="en-US" dirty="0" err="1"/>
              <a:t>materi</a:t>
            </a:r>
            <a:r>
              <a:rPr lang="en-US" dirty="0"/>
              <a:t>. Di Bandung </a:t>
            </a:r>
            <a:r>
              <a:rPr lang="en-US" dirty="0" err="1"/>
              <a:t>sendiri</a:t>
            </a:r>
            <a:r>
              <a:rPr lang="en-US" dirty="0"/>
              <a:t> pada DAS Citarum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Dayeuhkolot</a:t>
            </a:r>
            <a:r>
              <a:rPr lang="en-US" dirty="0"/>
              <a:t>, </a:t>
            </a:r>
            <a:r>
              <a:rPr lang="en-US" dirty="0" err="1"/>
              <a:t>Baleendah</a:t>
            </a:r>
            <a:r>
              <a:rPr lang="en-US" dirty="0"/>
              <a:t>, dan </a:t>
            </a:r>
            <a:r>
              <a:rPr lang="en-US" dirty="0" err="1"/>
              <a:t>Ciroyom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kerentanan</a:t>
            </a:r>
            <a:r>
              <a:rPr lang="en-US" dirty="0"/>
              <a:t> </a:t>
            </a:r>
            <a:r>
              <a:rPr lang="en-US" dirty="0" err="1"/>
              <a:t>terhadap</a:t>
            </a:r>
            <a:r>
              <a:rPr lang="en-US" dirty="0"/>
              <a:t> </a:t>
            </a:r>
            <a:r>
              <a:rPr lang="en-US" dirty="0" err="1"/>
              <a:t>banjir</a:t>
            </a:r>
            <a:r>
              <a:rPr lang="en-US" dirty="0"/>
              <a:t> yang </a:t>
            </a:r>
            <a:r>
              <a:rPr lang="en-US" dirty="0" err="1"/>
              <a:t>diakibatkan</a:t>
            </a:r>
            <a:r>
              <a:rPr lang="en-US" dirty="0"/>
              <a:t> </a:t>
            </a:r>
            <a:r>
              <a:rPr lang="en-US" dirty="0" err="1"/>
              <a:t>faktor</a:t>
            </a:r>
            <a:r>
              <a:rPr lang="en-US" dirty="0"/>
              <a:t> </a:t>
            </a:r>
            <a:r>
              <a:rPr lang="en-US" dirty="0" err="1"/>
              <a:t>geologis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berada</a:t>
            </a:r>
            <a:r>
              <a:rPr lang="en-US" dirty="0"/>
              <a:t> di basin Bandung </a:t>
            </a:r>
            <a:r>
              <a:rPr lang="en-US" dirty="0" err="1"/>
              <a:t>serta</a:t>
            </a:r>
            <a:r>
              <a:rPr lang="en-US" dirty="0"/>
              <a:t> </a:t>
            </a:r>
            <a:r>
              <a:rPr lang="en-US" dirty="0" err="1"/>
              <a:t>faktor</a:t>
            </a:r>
            <a:r>
              <a:rPr lang="en-US" dirty="0"/>
              <a:t> </a:t>
            </a:r>
            <a:r>
              <a:rPr lang="en-US" dirty="0" err="1"/>
              <a:t>hidrologis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hujan</a:t>
            </a:r>
            <a:r>
              <a:rPr lang="en-US" dirty="0"/>
              <a:t> </a:t>
            </a:r>
            <a:r>
              <a:rPr lang="en-US" dirty="0" err="1"/>
              <a:t>periodik</a:t>
            </a:r>
            <a:r>
              <a:rPr lang="en-US" dirty="0"/>
              <a:t> yang </a:t>
            </a:r>
            <a:r>
              <a:rPr lang="en-US" dirty="0" err="1"/>
              <a:t>terjadi</a:t>
            </a:r>
            <a:r>
              <a:rPr lang="en-US" dirty="0"/>
              <a:t> pada </a:t>
            </a:r>
            <a:r>
              <a:rPr lang="en-US" dirty="0" err="1"/>
              <a:t>tahun</a:t>
            </a:r>
            <a:r>
              <a:rPr lang="en-US" dirty="0"/>
              <a:t> 2020.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diperlukan</a:t>
            </a:r>
            <a:r>
              <a:rPr lang="en-US" dirty="0"/>
              <a:t> </a:t>
            </a:r>
            <a:r>
              <a:rPr lang="en-US" dirty="0" err="1"/>
              <a:t>pemantauan</a:t>
            </a:r>
            <a:r>
              <a:rPr lang="en-US" dirty="0"/>
              <a:t> </a:t>
            </a:r>
            <a:r>
              <a:rPr lang="en-US" dirty="0" err="1"/>
              <a:t>tehadap</a:t>
            </a:r>
            <a:r>
              <a:rPr lang="en-US" dirty="0"/>
              <a:t> </a:t>
            </a:r>
            <a:r>
              <a:rPr lang="en-US" dirty="0" err="1"/>
              <a:t>ketinggian</a:t>
            </a:r>
            <a:r>
              <a:rPr lang="en-US" dirty="0"/>
              <a:t> air </a:t>
            </a:r>
            <a:r>
              <a:rPr lang="en-US" dirty="0" err="1"/>
              <a:t>sungai</a:t>
            </a:r>
            <a:r>
              <a:rPr lang="en-US" dirty="0"/>
              <a:t> dan </a:t>
            </a:r>
            <a:r>
              <a:rPr lang="en-US" dirty="0" err="1"/>
              <a:t>curah</a:t>
            </a:r>
            <a:r>
              <a:rPr lang="en-US" dirty="0"/>
              <a:t> </a:t>
            </a:r>
            <a:r>
              <a:rPr lang="en-US" dirty="0" err="1"/>
              <a:t>hujan</a:t>
            </a:r>
            <a:r>
              <a:rPr lang="en-US" dirty="0"/>
              <a:t> pada Sungai Citarum </a:t>
            </a:r>
            <a:r>
              <a:rPr lang="en-US" dirty="0" err="1"/>
              <a:t>sebagai</a:t>
            </a:r>
            <a:r>
              <a:rPr lang="en-US" dirty="0"/>
              <a:t> mode </a:t>
            </a:r>
            <a:r>
              <a:rPr lang="en-US" dirty="0" err="1"/>
              <a:t>deteksi</a:t>
            </a:r>
            <a:r>
              <a:rPr lang="en-US" dirty="0"/>
              <a:t> </a:t>
            </a:r>
            <a:r>
              <a:rPr lang="en-US" dirty="0" err="1"/>
              <a:t>dini</a:t>
            </a:r>
            <a:r>
              <a:rPr lang="en-US" dirty="0"/>
              <a:t> </a:t>
            </a:r>
            <a:r>
              <a:rPr lang="en-US" dirty="0" err="1"/>
              <a:t>banjir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AA5E9-3B26-4858-91B5-570D106ED6C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7901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tujuan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penelitian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: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AA5E9-3B26-4858-91B5-570D106ED6C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5998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mencapai</a:t>
            </a:r>
            <a:r>
              <a:rPr lang="en-US" dirty="0"/>
              <a:t> </a:t>
            </a:r>
            <a:r>
              <a:rPr lang="en-US" dirty="0" err="1"/>
              <a:t>tujuan-tujuan</a:t>
            </a:r>
            <a:r>
              <a:rPr lang="en-US" dirty="0"/>
              <a:t> yang </a:t>
            </a:r>
            <a:r>
              <a:rPr lang="en-US" dirty="0" err="1"/>
              <a:t>telah</a:t>
            </a:r>
            <a:r>
              <a:rPr lang="en-US" dirty="0"/>
              <a:t> </a:t>
            </a:r>
            <a:r>
              <a:rPr lang="en-US" dirty="0" err="1"/>
              <a:t>dipaparkan</a:t>
            </a:r>
            <a:r>
              <a:rPr lang="en-US" dirty="0"/>
              <a:t> </a:t>
            </a:r>
            <a:r>
              <a:rPr lang="en-US" dirty="0" err="1"/>
              <a:t>sebelumnya</a:t>
            </a:r>
            <a:r>
              <a:rPr lang="en-US" dirty="0"/>
              <a:t>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diperlukan</a:t>
            </a:r>
            <a:r>
              <a:rPr lang="en-US" dirty="0"/>
              <a:t> </a:t>
            </a:r>
            <a:r>
              <a:rPr lang="en-US" dirty="0" err="1"/>
              <a:t>studi</a:t>
            </a:r>
            <a:r>
              <a:rPr lang="en-US" dirty="0"/>
              <a:t> </a:t>
            </a:r>
            <a:r>
              <a:rPr lang="en-US" dirty="0" err="1"/>
              <a:t>pustaka</a:t>
            </a:r>
            <a:r>
              <a:rPr lang="en-US" dirty="0"/>
              <a:t> </a:t>
            </a:r>
            <a:r>
              <a:rPr lang="en-US" dirty="0" err="1"/>
              <a:t>mengenai</a:t>
            </a:r>
            <a:r>
              <a:rPr lang="en-US" dirty="0"/>
              <a:t> </a:t>
            </a:r>
            <a:r>
              <a:rPr lang="en-US" dirty="0" err="1"/>
              <a:t>perangkat</a:t>
            </a:r>
            <a:r>
              <a:rPr lang="en-US" dirty="0"/>
              <a:t>, </a:t>
            </a:r>
            <a:r>
              <a:rPr lang="en-US" dirty="0" err="1"/>
              <a:t>sistem</a:t>
            </a:r>
            <a:r>
              <a:rPr lang="en-US" dirty="0"/>
              <a:t>, dan </a:t>
            </a:r>
            <a:r>
              <a:rPr lang="en-US" dirty="0" err="1"/>
              <a:t>elemen-elemen</a:t>
            </a:r>
            <a:r>
              <a:rPr lang="en-US" dirty="0"/>
              <a:t> </a:t>
            </a:r>
            <a:r>
              <a:rPr lang="en-US" dirty="0" err="1"/>
              <a:t>lainnya</a:t>
            </a:r>
            <a:r>
              <a:rPr lang="en-US" dirty="0"/>
              <a:t> yang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penelitian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AA5E9-3B26-4858-91B5-570D106ED6C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9599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Sebagaimana</a:t>
            </a:r>
            <a:r>
              <a:rPr lang="en-US" dirty="0"/>
              <a:t> </a:t>
            </a:r>
            <a:r>
              <a:rPr lang="en-US" dirty="0" err="1"/>
              <a:t>disebutkan</a:t>
            </a:r>
            <a:r>
              <a:rPr lang="en-US" dirty="0"/>
              <a:t> </a:t>
            </a:r>
            <a:r>
              <a:rPr lang="en-US" dirty="0" err="1"/>
              <a:t>sebelumnya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peringatan</a:t>
            </a:r>
            <a:r>
              <a:rPr lang="en-US" dirty="0"/>
              <a:t> </a:t>
            </a:r>
            <a:r>
              <a:rPr lang="en-US" dirty="0" err="1"/>
              <a:t>dini</a:t>
            </a:r>
            <a:r>
              <a:rPr lang="en-US" dirty="0"/>
              <a:t> yang </a:t>
            </a:r>
            <a:r>
              <a:rPr lang="en-US" dirty="0" err="1"/>
              <a:t>dibangun</a:t>
            </a:r>
            <a:r>
              <a:rPr lang="en-US" dirty="0"/>
              <a:t> </a:t>
            </a:r>
            <a:r>
              <a:rPr lang="en-US" dirty="0" err="1"/>
              <a:t>memanfaatkan</a:t>
            </a:r>
            <a:r>
              <a:rPr lang="en-US" dirty="0"/>
              <a:t> IoT. Internet of Things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yang </a:t>
            </a:r>
            <a:r>
              <a:rPr lang="en-US" dirty="0" err="1"/>
              <a:t>memetakan</a:t>
            </a:r>
            <a:r>
              <a:rPr lang="en-US" dirty="0"/>
              <a:t> </a:t>
            </a:r>
            <a:r>
              <a:rPr lang="en-US" dirty="0" err="1"/>
              <a:t>perangkat-perangkat</a:t>
            </a:r>
            <a:r>
              <a:rPr lang="en-US" dirty="0"/>
              <a:t> di dunia </a:t>
            </a:r>
            <a:r>
              <a:rPr lang="en-US" dirty="0" err="1"/>
              <a:t>nyata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things yang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konektivitas</a:t>
            </a:r>
            <a:r>
              <a:rPr lang="en-US" dirty="0"/>
              <a:t> di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. </a:t>
            </a:r>
            <a:r>
              <a:rPr lang="en-US" dirty="0" err="1"/>
              <a:t>Keunggulan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IoT </a:t>
            </a:r>
            <a:r>
              <a:rPr lang="en-US" dirty="0" err="1"/>
              <a:t>adalah</a:t>
            </a:r>
            <a:r>
              <a:rPr lang="en-US" dirty="0"/>
              <a:t> IoT </a:t>
            </a:r>
            <a:r>
              <a:rPr lang="en-US" dirty="0" err="1"/>
              <a:t>memudahkan</a:t>
            </a:r>
            <a:r>
              <a:rPr lang="en-US" dirty="0"/>
              <a:t> </a:t>
            </a:r>
            <a:r>
              <a:rPr lang="en-US" dirty="0" err="1"/>
              <a:t>pengelolaan</a:t>
            </a:r>
            <a:r>
              <a:rPr lang="en-US" dirty="0"/>
              <a:t> data </a:t>
            </a:r>
            <a:r>
              <a:rPr lang="en-US" dirty="0" err="1"/>
              <a:t>berjumlah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perangkat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berbagai</a:t>
            </a:r>
            <a:r>
              <a:rPr lang="en-US" dirty="0"/>
              <a:t> </a:t>
            </a:r>
            <a:r>
              <a:rPr lang="en-US" dirty="0" err="1"/>
              <a:t>kemampuan</a:t>
            </a:r>
            <a:r>
              <a:rPr lang="en-US" dirty="0"/>
              <a:t> di </a:t>
            </a:r>
            <a:r>
              <a:rPr lang="en-US" dirty="0" err="1"/>
              <a:t>berbagai</a:t>
            </a:r>
            <a:r>
              <a:rPr lang="en-US" dirty="0"/>
              <a:t> </a:t>
            </a:r>
            <a:r>
              <a:rPr lang="en-US" dirty="0" err="1"/>
              <a:t>lokasi</a:t>
            </a:r>
            <a:r>
              <a:rPr lang="en-US" dirty="0"/>
              <a:t> yang </a:t>
            </a:r>
            <a:r>
              <a:rPr lang="en-US" dirty="0" err="1"/>
              <a:t>memanfaatkan</a:t>
            </a:r>
            <a:r>
              <a:rPr lang="en-US" dirty="0"/>
              <a:t> </a:t>
            </a:r>
            <a:r>
              <a:rPr lang="en-US" dirty="0" err="1"/>
              <a:t>berbagai</a:t>
            </a:r>
            <a:r>
              <a:rPr lang="en-US" dirty="0"/>
              <a:t> </a:t>
            </a:r>
            <a:r>
              <a:rPr lang="en-US" dirty="0" err="1"/>
              <a:t>protokol</a:t>
            </a:r>
            <a:r>
              <a:rPr lang="en-US" dirty="0"/>
              <a:t> </a:t>
            </a:r>
            <a:r>
              <a:rPr lang="en-US" dirty="0" err="1"/>
              <a:t>komunikasi</a:t>
            </a:r>
            <a:r>
              <a:rPr lang="en-US" dirty="0"/>
              <a:t>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dimengerti</a:t>
            </a:r>
            <a:r>
              <a:rPr lang="en-US" dirty="0"/>
              <a:t> dan </a:t>
            </a:r>
            <a:r>
              <a:rPr lang="en-US" dirty="0" err="1"/>
              <a:t>dimodelkan</a:t>
            </a:r>
            <a:r>
              <a:rPr lang="en-US" dirty="0"/>
              <a:t> </a:t>
            </a:r>
            <a:r>
              <a:rPr lang="en-US" dirty="0" err="1"/>
              <a:t>serta</a:t>
            </a:r>
            <a:r>
              <a:rPr lang="en-US" dirty="0"/>
              <a:t> </a:t>
            </a:r>
            <a:r>
              <a:rPr lang="en-US" dirty="0" err="1"/>
              <a:t>menjalankan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baik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AA5E9-3B26-4858-91B5-570D106ED6C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5095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Lalu </a:t>
            </a:r>
            <a:r>
              <a:rPr lang="en-US" dirty="0" err="1"/>
              <a:t>pengukuran</a:t>
            </a:r>
            <a:r>
              <a:rPr lang="en-US" dirty="0"/>
              <a:t> </a:t>
            </a:r>
            <a:r>
              <a:rPr lang="en-US" dirty="0" err="1"/>
              <a:t>curah</a:t>
            </a:r>
            <a:r>
              <a:rPr lang="en-US" dirty="0"/>
              <a:t> </a:t>
            </a:r>
            <a:r>
              <a:rPr lang="en-US" dirty="0" err="1"/>
              <a:t>hujan</a:t>
            </a:r>
            <a:r>
              <a:rPr lang="en-US" dirty="0"/>
              <a:t> pada </a:t>
            </a:r>
            <a:r>
              <a:rPr lang="en-US" dirty="0" err="1"/>
              <a:t>penelitian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sensor </a:t>
            </a:r>
            <a:r>
              <a:rPr lang="en-US" dirty="0" err="1"/>
              <a:t>curah</a:t>
            </a:r>
            <a:r>
              <a:rPr lang="en-US" dirty="0"/>
              <a:t> </a:t>
            </a:r>
            <a:r>
              <a:rPr lang="en-US" dirty="0" err="1"/>
              <a:t>hujan</a:t>
            </a:r>
            <a:r>
              <a:rPr lang="en-US" dirty="0"/>
              <a:t> Rk400-07.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AA5E9-3B26-4858-91B5-570D106ED6C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9606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Sensor node yang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penelitian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mikrokontroller</a:t>
            </a:r>
            <a:r>
              <a:rPr lang="en-US" dirty="0"/>
              <a:t> ESP32.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mikrokontroller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dikarenakan</a:t>
            </a:r>
            <a:r>
              <a:rPr lang="en-US" dirty="0"/>
              <a:t> </a:t>
            </a:r>
            <a:r>
              <a:rPr lang="en-US" dirty="0" err="1"/>
              <a:t>harganya</a:t>
            </a:r>
            <a:r>
              <a:rPr lang="en-US" dirty="0"/>
              <a:t> yang </a:t>
            </a:r>
            <a:r>
              <a:rPr lang="en-US" dirty="0" err="1"/>
              <a:t>murah</a:t>
            </a:r>
            <a:r>
              <a:rPr lang="en-US" dirty="0"/>
              <a:t>, </a:t>
            </a:r>
            <a:r>
              <a:rPr lang="en-US" dirty="0" err="1"/>
              <a:t>kemudahan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memprogram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Arduino IDE, </a:t>
            </a:r>
            <a:r>
              <a:rPr lang="en-US" dirty="0" err="1"/>
              <a:t>serta</a:t>
            </a:r>
            <a:r>
              <a:rPr lang="en-US" dirty="0"/>
              <a:t> </a:t>
            </a:r>
            <a:r>
              <a:rPr lang="en-US" dirty="0" err="1"/>
              <a:t>ketersediaan</a:t>
            </a:r>
            <a:r>
              <a:rPr lang="en-US" dirty="0"/>
              <a:t> </a:t>
            </a:r>
            <a:r>
              <a:rPr lang="en-US" dirty="0" err="1"/>
              <a:t>baik</a:t>
            </a:r>
            <a:r>
              <a:rPr lang="en-US" dirty="0"/>
              <a:t> </a:t>
            </a:r>
            <a:r>
              <a:rPr lang="en-US" dirty="0" err="1"/>
              <a:t>mikrokontroller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dan </a:t>
            </a:r>
            <a:r>
              <a:rPr lang="en-US" dirty="0" err="1"/>
              <a:t>modul-modul</a:t>
            </a:r>
            <a:r>
              <a:rPr lang="en-US" dirty="0"/>
              <a:t> yang </a:t>
            </a:r>
            <a:r>
              <a:rPr lang="en-US" dirty="0" err="1"/>
              <a:t>kompatibel</a:t>
            </a:r>
            <a:r>
              <a:rPr lang="en-US" dirty="0"/>
              <a:t> </a:t>
            </a:r>
            <a:r>
              <a:rPr lang="en-US" dirty="0" err="1"/>
              <a:t>beserta</a:t>
            </a:r>
            <a:r>
              <a:rPr lang="en-US" dirty="0"/>
              <a:t> </a:t>
            </a:r>
            <a:r>
              <a:rPr lang="en-US" i="0" dirty="0"/>
              <a:t>library</a:t>
            </a:r>
            <a:r>
              <a:rPr lang="en-US" dirty="0"/>
              <a:t> </a:t>
            </a:r>
            <a:r>
              <a:rPr lang="en-US" dirty="0" err="1"/>
              <a:t>programnya</a:t>
            </a:r>
            <a:r>
              <a:rPr lang="en-US" dirty="0"/>
              <a:t>. </a:t>
            </a:r>
            <a:r>
              <a:rPr lang="en-US" dirty="0" err="1"/>
              <a:t>Mikrokontroller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mengolah</a:t>
            </a:r>
            <a:r>
              <a:rPr lang="en-US" dirty="0"/>
              <a:t> data yang </a:t>
            </a:r>
            <a:r>
              <a:rPr lang="en-US" dirty="0" err="1"/>
              <a:t>ditransmisikan</a:t>
            </a:r>
            <a:r>
              <a:rPr lang="en-US" dirty="0"/>
              <a:t> LoRa.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AA5E9-3B26-4858-91B5-570D106ED6C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624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LoRa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teknologi</a:t>
            </a:r>
            <a:r>
              <a:rPr lang="en-US" dirty="0"/>
              <a:t> </a:t>
            </a:r>
            <a:r>
              <a:rPr lang="en-US" dirty="0" err="1"/>
              <a:t>komunikasi</a:t>
            </a:r>
            <a:r>
              <a:rPr lang="en-US" dirty="0"/>
              <a:t> </a:t>
            </a:r>
            <a:r>
              <a:rPr lang="en-US" dirty="0" err="1"/>
              <a:t>jarak</a:t>
            </a:r>
            <a:r>
              <a:rPr lang="en-US" dirty="0"/>
              <a:t> </a:t>
            </a:r>
            <a:r>
              <a:rPr lang="en-US" dirty="0" err="1"/>
              <a:t>jauh</a:t>
            </a:r>
            <a:r>
              <a:rPr lang="en-US" dirty="0"/>
              <a:t> yang pada </a:t>
            </a:r>
            <a:r>
              <a:rPr lang="en-US" dirty="0" err="1"/>
              <a:t>penelitian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mentransmisikan</a:t>
            </a:r>
            <a:r>
              <a:rPr lang="en-US" dirty="0"/>
              <a:t> data </a:t>
            </a:r>
            <a:r>
              <a:rPr lang="en-US" dirty="0" err="1"/>
              <a:t>dari</a:t>
            </a:r>
            <a:r>
              <a:rPr lang="en-US" dirty="0"/>
              <a:t> sensor node </a:t>
            </a:r>
            <a:r>
              <a:rPr lang="en-US" dirty="0" err="1"/>
              <a:t>menuju</a:t>
            </a:r>
            <a:r>
              <a:rPr lang="en-US" dirty="0"/>
              <a:t> monitoring station. </a:t>
            </a:r>
            <a:r>
              <a:rPr lang="en-US" dirty="0" err="1"/>
              <a:t>Tabel</a:t>
            </a:r>
            <a:r>
              <a:rPr lang="en-US" dirty="0"/>
              <a:t> </a:t>
            </a:r>
            <a:r>
              <a:rPr lang="en-US" dirty="0" err="1"/>
              <a:t>didepan</a:t>
            </a:r>
            <a:r>
              <a:rPr lang="en-US" dirty="0"/>
              <a:t> </a:t>
            </a:r>
            <a:r>
              <a:rPr lang="en-US" dirty="0" err="1"/>
              <a:t>menunjukkan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Received Signal Strength Indicator (RSSI) </a:t>
            </a:r>
            <a:r>
              <a:rPr lang="en-US" dirty="0" err="1"/>
              <a:t>terhadap</a:t>
            </a:r>
            <a:r>
              <a:rPr lang="en-US" dirty="0"/>
              <a:t> </a:t>
            </a:r>
            <a:r>
              <a:rPr lang="en-US" dirty="0" err="1"/>
              <a:t>kategori</a:t>
            </a:r>
            <a:r>
              <a:rPr lang="en-US" dirty="0"/>
              <a:t> </a:t>
            </a:r>
            <a:r>
              <a:rPr lang="en-US" dirty="0" err="1"/>
              <a:t>kualitas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transmisi</a:t>
            </a:r>
            <a:r>
              <a:rPr lang="en-US" dirty="0"/>
              <a:t> LoRa </a:t>
            </a:r>
            <a:r>
              <a:rPr lang="en-US" dirty="0" err="1"/>
              <a:t>tersebut</a:t>
            </a:r>
            <a:r>
              <a:rPr lang="en-US" dirty="0"/>
              <a:t>.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AA5E9-3B26-4858-91B5-570D106ED6C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8535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yang </a:t>
            </a:r>
            <a:r>
              <a:rPr lang="en-US" dirty="0" err="1"/>
              <a:t>diterima</a:t>
            </a:r>
            <a:r>
              <a:rPr lang="en-US" dirty="0"/>
              <a:t> di monitoring station </a:t>
            </a:r>
            <a:r>
              <a:rPr lang="en-US" dirty="0" err="1"/>
              <a:t>lalu</a:t>
            </a:r>
            <a:r>
              <a:rPr lang="en-US" dirty="0"/>
              <a:t> </a:t>
            </a:r>
            <a:r>
              <a:rPr lang="en-US" dirty="0" err="1"/>
              <a:t>diolah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mikrokontroller</a:t>
            </a:r>
            <a:r>
              <a:rPr lang="en-US" dirty="0"/>
              <a:t> esp32 juga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diproses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 MQTT. MQTT </a:t>
            </a:r>
            <a:r>
              <a:rPr lang="en-US" dirty="0" err="1"/>
              <a:t>umum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mengelola</a:t>
            </a:r>
            <a:r>
              <a:rPr lang="en-US" dirty="0"/>
              <a:t> data </a:t>
            </a:r>
            <a:r>
              <a:rPr lang="en-US" dirty="0" err="1"/>
              <a:t>perangkat-perangkat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konektivitas</a:t>
            </a:r>
            <a:r>
              <a:rPr lang="en-US" dirty="0"/>
              <a:t> internet </a:t>
            </a:r>
            <a:r>
              <a:rPr lang="en-US" dirty="0" err="1"/>
              <a:t>seperti</a:t>
            </a:r>
            <a:r>
              <a:rPr lang="en-US" dirty="0"/>
              <a:t> ESP32 dan </a:t>
            </a:r>
            <a:r>
              <a:rPr lang="en-US" dirty="0" err="1"/>
              <a:t>komputer</a:t>
            </a:r>
            <a:r>
              <a:rPr lang="en-US" dirty="0"/>
              <a:t> yang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pengolahan</a:t>
            </a:r>
            <a:r>
              <a:rPr lang="en-US" dirty="0"/>
              <a:t> data pada </a:t>
            </a:r>
            <a:r>
              <a:rPr lang="en-US" dirty="0" err="1"/>
              <a:t>penelitian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AA5E9-3B26-4858-91B5-570D106ED6C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6489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memproses</a:t>
            </a:r>
            <a:r>
              <a:rPr lang="en-US" dirty="0"/>
              <a:t> data-data </a:t>
            </a:r>
            <a:r>
              <a:rPr lang="en-US" dirty="0" err="1"/>
              <a:t>curah</a:t>
            </a:r>
            <a:r>
              <a:rPr lang="en-US" dirty="0"/>
              <a:t> </a:t>
            </a:r>
            <a:r>
              <a:rPr lang="en-US" dirty="0" err="1"/>
              <a:t>hujan</a:t>
            </a:r>
            <a:r>
              <a:rPr lang="en-US" dirty="0"/>
              <a:t> dan </a:t>
            </a:r>
            <a:r>
              <a:rPr lang="en-US" dirty="0" err="1"/>
              <a:t>memetakannya</a:t>
            </a:r>
            <a:r>
              <a:rPr lang="en-US" dirty="0"/>
              <a:t> </a:t>
            </a:r>
            <a:r>
              <a:rPr lang="en-US" dirty="0" err="1"/>
              <a:t>terhadap</a:t>
            </a:r>
            <a:r>
              <a:rPr lang="en-US" dirty="0"/>
              <a:t> </a:t>
            </a:r>
            <a:r>
              <a:rPr lang="en-US" dirty="0" err="1"/>
              <a:t>potensi</a:t>
            </a:r>
            <a:r>
              <a:rPr lang="en-US" dirty="0"/>
              <a:t> </a:t>
            </a:r>
            <a:r>
              <a:rPr lang="en-US" dirty="0" err="1"/>
              <a:t>banjir</a:t>
            </a:r>
            <a:r>
              <a:rPr lang="en-US" dirty="0"/>
              <a:t> di </a:t>
            </a:r>
            <a:r>
              <a:rPr lang="en-US" dirty="0" err="1"/>
              <a:t>Kecamatan</a:t>
            </a:r>
            <a:r>
              <a:rPr lang="en-US" dirty="0"/>
              <a:t> </a:t>
            </a:r>
            <a:r>
              <a:rPr lang="en-US" dirty="0" err="1"/>
              <a:t>Dayeuhkolot</a:t>
            </a:r>
            <a:r>
              <a:rPr lang="en-US" dirty="0"/>
              <a:t>,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algoritma</a:t>
            </a:r>
            <a:r>
              <a:rPr lang="en-US" dirty="0"/>
              <a:t> machine learning – salah </a:t>
            </a:r>
            <a:r>
              <a:rPr lang="en-US" dirty="0" err="1"/>
              <a:t>satunya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algoritma</a:t>
            </a:r>
            <a:r>
              <a:rPr lang="en-US" dirty="0"/>
              <a:t> Decision Tree. </a:t>
            </a:r>
            <a:r>
              <a:rPr lang="en-US" dirty="0" err="1"/>
              <a:t>Algoritma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memodelkan</a:t>
            </a:r>
            <a:r>
              <a:rPr lang="en-US" dirty="0"/>
              <a:t> data yang </a:t>
            </a:r>
            <a:r>
              <a:rPr lang="en-US" dirty="0" err="1"/>
              <a:t>dipelajari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sekumpulan</a:t>
            </a:r>
            <a:r>
              <a:rPr lang="en-US" dirty="0"/>
              <a:t> </a:t>
            </a:r>
            <a:r>
              <a:rPr lang="en-US" dirty="0" err="1"/>
              <a:t>pernyataan</a:t>
            </a:r>
            <a:r>
              <a:rPr lang="en-US" dirty="0"/>
              <a:t> if/else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tujuan</a:t>
            </a:r>
            <a:r>
              <a:rPr lang="en-US" dirty="0"/>
              <a:t> </a:t>
            </a:r>
            <a:r>
              <a:rPr lang="en-US" dirty="0" err="1"/>
              <a:t>mengelompokan</a:t>
            </a:r>
            <a:r>
              <a:rPr lang="en-US" dirty="0"/>
              <a:t> data </a:t>
            </a:r>
            <a:r>
              <a:rPr lang="en-US" dirty="0" err="1"/>
              <a:t>dengan</a:t>
            </a:r>
            <a:r>
              <a:rPr lang="en-US" dirty="0"/>
              <a:t> label yang </a:t>
            </a:r>
            <a:r>
              <a:rPr lang="en-US" dirty="0" err="1"/>
              <a:t>sekategori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AA5E9-3B26-4858-91B5-570D106ED6C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0678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Selain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menunjang</a:t>
            </a:r>
            <a:r>
              <a:rPr lang="en-US" dirty="0"/>
              <a:t> </a:t>
            </a:r>
            <a:r>
              <a:rPr lang="en-US" dirty="0" err="1"/>
              <a:t>permodelan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algoritma</a:t>
            </a:r>
            <a:r>
              <a:rPr lang="en-US" dirty="0"/>
              <a:t> Decision Tree, juga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permodelan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algoritma</a:t>
            </a:r>
            <a:r>
              <a:rPr lang="en-US" dirty="0"/>
              <a:t> Linear Regression.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AA5E9-3B26-4858-91B5-570D106ED6C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6061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Dari model machine learning yang </a:t>
            </a:r>
            <a:r>
              <a:rPr lang="en-US" dirty="0" err="1"/>
              <a:t>digunakan</a:t>
            </a:r>
            <a:r>
              <a:rPr lang="en-US" dirty="0"/>
              <a:t>,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dianalisa</a:t>
            </a:r>
            <a:r>
              <a:rPr lang="en-US" dirty="0"/>
              <a:t> </a:t>
            </a:r>
            <a:r>
              <a:rPr lang="en-US" dirty="0" err="1"/>
              <a:t>keberpengaruhan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pengukuran</a:t>
            </a:r>
            <a:r>
              <a:rPr lang="en-US" dirty="0"/>
              <a:t> </a:t>
            </a:r>
            <a:r>
              <a:rPr lang="en-US" dirty="0" err="1"/>
              <a:t>curah</a:t>
            </a:r>
            <a:r>
              <a:rPr lang="en-US" dirty="0"/>
              <a:t> </a:t>
            </a:r>
            <a:r>
              <a:rPr lang="en-US" dirty="0" err="1"/>
              <a:t>hujan</a:t>
            </a:r>
            <a:r>
              <a:rPr lang="en-US" dirty="0"/>
              <a:t> dan </a:t>
            </a:r>
            <a:r>
              <a:rPr lang="en-US" dirty="0" err="1"/>
              <a:t>ditentukan</a:t>
            </a:r>
            <a:r>
              <a:rPr lang="en-US" dirty="0"/>
              <a:t> </a:t>
            </a:r>
            <a:r>
              <a:rPr lang="en-US" dirty="0" err="1"/>
              <a:t>daerah</a:t>
            </a:r>
            <a:r>
              <a:rPr lang="en-US" dirty="0"/>
              <a:t> mana </a:t>
            </a:r>
            <a:r>
              <a:rPr lang="en-US" dirty="0" err="1"/>
              <a:t>saja</a:t>
            </a:r>
            <a:r>
              <a:rPr lang="en-US" dirty="0"/>
              <a:t> yang paling </a:t>
            </a:r>
            <a:r>
              <a:rPr lang="en-US" dirty="0" err="1"/>
              <a:t>mempengaruhi</a:t>
            </a:r>
            <a:r>
              <a:rPr lang="en-US" dirty="0"/>
              <a:t> </a:t>
            </a:r>
            <a:r>
              <a:rPr lang="en-US" dirty="0" err="1"/>
              <a:t>potensi</a:t>
            </a:r>
            <a:r>
              <a:rPr lang="en-US" dirty="0"/>
              <a:t> </a:t>
            </a:r>
            <a:r>
              <a:rPr lang="en-US" dirty="0" err="1"/>
              <a:t>banjir</a:t>
            </a:r>
            <a:r>
              <a:rPr lang="en-US" dirty="0"/>
              <a:t> di </a:t>
            </a:r>
            <a:r>
              <a:rPr lang="en-US" dirty="0" err="1"/>
              <a:t>Kecamatan</a:t>
            </a:r>
            <a:r>
              <a:rPr lang="en-US" dirty="0"/>
              <a:t> </a:t>
            </a:r>
            <a:r>
              <a:rPr lang="en-US" dirty="0" err="1"/>
              <a:t>Dayeuhkolot</a:t>
            </a:r>
            <a:r>
              <a:rPr lang="en-US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AA5E9-3B26-4858-91B5-570D106ED6C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5982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Selanjutnya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beranjak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membahas</a:t>
            </a:r>
            <a:r>
              <a:rPr lang="en-US" dirty="0"/>
              <a:t> </a:t>
            </a:r>
            <a:r>
              <a:rPr lang="en-US" dirty="0" err="1"/>
              <a:t>metode-metode</a:t>
            </a:r>
            <a:r>
              <a:rPr lang="en-US" dirty="0"/>
              <a:t> yang </a:t>
            </a:r>
            <a:r>
              <a:rPr lang="en-US" dirty="0" err="1"/>
              <a:t>diiguanakan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mencapai</a:t>
            </a:r>
            <a:r>
              <a:rPr lang="en-US" dirty="0"/>
              <a:t> </a:t>
            </a:r>
            <a:r>
              <a:rPr lang="en-US" dirty="0" err="1"/>
              <a:t>tujuan-tujuan</a:t>
            </a:r>
            <a:r>
              <a:rPr lang="en-US" dirty="0"/>
              <a:t> pada </a:t>
            </a:r>
            <a:r>
              <a:rPr lang="en-US" dirty="0" err="1"/>
              <a:t>penelitian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AA5E9-3B26-4858-91B5-570D106ED6C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7676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AA5E9-3B26-4858-91B5-570D106ED6C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9823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Juga </a:t>
            </a:r>
            <a:r>
              <a:rPr lang="en-US" dirty="0" err="1"/>
              <a:t>berikut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visualisasi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sensor node pada </a:t>
            </a:r>
            <a:r>
              <a:rPr lang="en-US" dirty="0" err="1"/>
              <a:t>penelitian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. </a:t>
            </a:r>
            <a:r>
              <a:rPr lang="en-US" dirty="0" err="1"/>
              <a:t>Terdapat</a:t>
            </a:r>
            <a:r>
              <a:rPr lang="en-US" dirty="0"/>
              <a:t> </a:t>
            </a:r>
            <a:r>
              <a:rPr lang="en-US" dirty="0" err="1"/>
              <a:t>komponen</a:t>
            </a:r>
            <a:r>
              <a:rPr lang="en-US" dirty="0"/>
              <a:t> </a:t>
            </a:r>
            <a:r>
              <a:rPr lang="en-US" dirty="0" err="1"/>
              <a:t>pengukuran</a:t>
            </a:r>
            <a:r>
              <a:rPr lang="en-US" dirty="0"/>
              <a:t> </a:t>
            </a:r>
            <a:r>
              <a:rPr lang="en-US" dirty="0" err="1"/>
              <a:t>curah</a:t>
            </a:r>
            <a:r>
              <a:rPr lang="en-US" dirty="0"/>
              <a:t> </a:t>
            </a:r>
            <a:r>
              <a:rPr lang="en-US" dirty="0" err="1"/>
              <a:t>hujan</a:t>
            </a:r>
            <a:r>
              <a:rPr lang="en-US" dirty="0"/>
              <a:t>, </a:t>
            </a:r>
            <a:r>
              <a:rPr lang="en-US" dirty="0" err="1"/>
              <a:t>komponen</a:t>
            </a:r>
            <a:r>
              <a:rPr lang="en-US" dirty="0"/>
              <a:t> </a:t>
            </a:r>
            <a:r>
              <a:rPr lang="en-US" dirty="0" err="1"/>
              <a:t>pengukuran</a:t>
            </a:r>
            <a:r>
              <a:rPr lang="en-US" dirty="0"/>
              <a:t> </a:t>
            </a:r>
            <a:r>
              <a:rPr lang="en-US" dirty="0" err="1"/>
              <a:t>ketinggian</a:t>
            </a:r>
            <a:r>
              <a:rPr lang="en-US" dirty="0"/>
              <a:t> </a:t>
            </a:r>
            <a:r>
              <a:rPr lang="en-US" dirty="0" err="1"/>
              <a:t>permukaan</a:t>
            </a:r>
            <a:r>
              <a:rPr lang="en-US" dirty="0"/>
              <a:t> </a:t>
            </a:r>
            <a:r>
              <a:rPr lang="en-US" dirty="0" err="1"/>
              <a:t>sungai</a:t>
            </a:r>
            <a:r>
              <a:rPr lang="en-US" dirty="0"/>
              <a:t>, dan </a:t>
            </a:r>
            <a:r>
              <a:rPr lang="en-US" dirty="0" err="1"/>
              <a:t>komponen</a:t>
            </a:r>
            <a:r>
              <a:rPr lang="en-US" dirty="0"/>
              <a:t> </a:t>
            </a:r>
            <a:r>
              <a:rPr lang="en-US" dirty="0" err="1"/>
              <a:t>identifikasi</a:t>
            </a:r>
            <a:r>
              <a:rPr lang="en-US" dirty="0"/>
              <a:t> dan </a:t>
            </a:r>
            <a:r>
              <a:rPr lang="en-US" dirty="0" err="1"/>
              <a:t>transmisi</a:t>
            </a:r>
            <a:r>
              <a:rPr lang="en-US" dirty="0"/>
              <a:t> data. </a:t>
            </a:r>
            <a:r>
              <a:rPr lang="en-US" dirty="0" err="1"/>
              <a:t>Pembahasan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meliputi</a:t>
            </a:r>
            <a:r>
              <a:rPr lang="en-US" dirty="0"/>
              <a:t> </a:t>
            </a:r>
            <a:r>
              <a:rPr lang="en-US" dirty="0" err="1"/>
              <a:t>komponen</a:t>
            </a:r>
            <a:r>
              <a:rPr lang="en-US" dirty="0"/>
              <a:t> </a:t>
            </a:r>
            <a:r>
              <a:rPr lang="en-US" dirty="0" err="1"/>
              <a:t>pengukuran</a:t>
            </a:r>
            <a:r>
              <a:rPr lang="en-US" dirty="0"/>
              <a:t> </a:t>
            </a:r>
            <a:r>
              <a:rPr lang="en-US" dirty="0" err="1"/>
              <a:t>curah</a:t>
            </a:r>
            <a:r>
              <a:rPr lang="en-US" dirty="0"/>
              <a:t> </a:t>
            </a:r>
            <a:r>
              <a:rPr lang="en-US" dirty="0" err="1"/>
              <a:t>hujan</a:t>
            </a:r>
            <a:r>
              <a:rPr lang="en-US" dirty="0"/>
              <a:t> dan </a:t>
            </a:r>
            <a:r>
              <a:rPr lang="en-US" dirty="0" err="1"/>
              <a:t>identifikasi-transmisi</a:t>
            </a:r>
            <a:r>
              <a:rPr lang="en-US" dirty="0"/>
              <a:t>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AA5E9-3B26-4858-91B5-570D106ED6C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9699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Dari </a:t>
            </a:r>
            <a:r>
              <a:rPr lang="en-US" dirty="0" err="1"/>
              <a:t>sistem</a:t>
            </a:r>
            <a:r>
              <a:rPr lang="en-US" dirty="0"/>
              <a:t> sensor node yang </a:t>
            </a:r>
            <a:r>
              <a:rPr lang="en-US" dirty="0" err="1"/>
              <a:t>telah</a:t>
            </a:r>
            <a:r>
              <a:rPr lang="en-US" dirty="0"/>
              <a:t> </a:t>
            </a:r>
            <a:r>
              <a:rPr lang="en-US" dirty="0" err="1"/>
              <a:t>dipaparkan</a:t>
            </a:r>
            <a:r>
              <a:rPr lang="en-US" dirty="0"/>
              <a:t>,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pengujian</a:t>
            </a:r>
            <a:r>
              <a:rPr lang="en-US" dirty="0"/>
              <a:t> </a:t>
            </a:r>
            <a:r>
              <a:rPr lang="en-US" dirty="0" err="1"/>
              <a:t>terhadap</a:t>
            </a:r>
            <a:r>
              <a:rPr lang="en-US" dirty="0"/>
              <a:t> </a:t>
            </a:r>
            <a:r>
              <a:rPr lang="en-US" dirty="0" err="1"/>
              <a:t>beberapa</a:t>
            </a:r>
            <a:r>
              <a:rPr lang="en-US" dirty="0"/>
              <a:t> sub-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sensor node </a:t>
            </a:r>
            <a:r>
              <a:rPr lang="en-US" dirty="0" err="1"/>
              <a:t>tersebut</a:t>
            </a:r>
            <a:r>
              <a:rPr lang="en-US" dirty="0"/>
              <a:t>. Salah </a:t>
            </a:r>
            <a:r>
              <a:rPr lang="en-US" dirty="0" err="1"/>
              <a:t>satunya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pengukuan</a:t>
            </a:r>
            <a:r>
              <a:rPr lang="en-US" dirty="0"/>
              <a:t> </a:t>
            </a:r>
            <a:r>
              <a:rPr lang="en-US" dirty="0" err="1"/>
              <a:t>curah</a:t>
            </a:r>
            <a:r>
              <a:rPr lang="en-US" dirty="0"/>
              <a:t> </a:t>
            </a:r>
            <a:r>
              <a:rPr lang="en-US" dirty="0" err="1"/>
              <a:t>hujan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sensor </a:t>
            </a:r>
            <a:r>
              <a:rPr lang="en-US" dirty="0" err="1"/>
              <a:t>curah</a:t>
            </a:r>
            <a:r>
              <a:rPr lang="en-US" dirty="0"/>
              <a:t> </a:t>
            </a:r>
            <a:r>
              <a:rPr lang="en-US" dirty="0" err="1"/>
              <a:t>hujan</a:t>
            </a:r>
            <a:r>
              <a:rPr lang="en-US" dirty="0"/>
              <a:t> RK400-07.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AA5E9-3B26-4858-91B5-570D106ED6C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8445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Berikut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arsitektur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system </a:t>
            </a:r>
            <a:r>
              <a:rPr lang="en-US" dirty="0" err="1"/>
              <a:t>pengujian</a:t>
            </a:r>
            <a:r>
              <a:rPr lang="en-US" dirty="0"/>
              <a:t> sensor </a:t>
            </a:r>
            <a:r>
              <a:rPr lang="en-US" dirty="0" err="1"/>
              <a:t>curah</a:t>
            </a:r>
            <a:r>
              <a:rPr lang="en-US" dirty="0"/>
              <a:t> </a:t>
            </a:r>
            <a:r>
              <a:rPr lang="en-US" dirty="0" err="1"/>
              <a:t>hujan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.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AA5E9-3B26-4858-91B5-570D106ED6C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2179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Beserta</a:t>
            </a:r>
            <a:r>
              <a:rPr lang="en-US" dirty="0"/>
              <a:t> flowchart program pada </a:t>
            </a:r>
            <a:r>
              <a:rPr lang="en-US" dirty="0" err="1"/>
              <a:t>mikrokontroller</a:t>
            </a:r>
            <a:r>
              <a:rPr lang="en-US" dirty="0"/>
              <a:t> ESP32 yang </a:t>
            </a:r>
            <a:r>
              <a:rPr lang="en-US" dirty="0" err="1"/>
              <a:t>digunakan</a:t>
            </a:r>
            <a:r>
              <a:rPr lang="en-US" dirty="0"/>
              <a:t>.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AA5E9-3B26-4858-91B5-570D106ED6C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09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Juga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pengujian</a:t>
            </a:r>
            <a:r>
              <a:rPr lang="en-US" dirty="0"/>
              <a:t> </a:t>
            </a:r>
            <a:r>
              <a:rPr lang="en-US" dirty="0" err="1"/>
              <a:t>terhadap</a:t>
            </a:r>
            <a:r>
              <a:rPr lang="en-US" dirty="0"/>
              <a:t> </a:t>
            </a:r>
            <a:r>
              <a:rPr lang="en-US" dirty="0" err="1"/>
              <a:t>kualitas</a:t>
            </a:r>
            <a:r>
              <a:rPr lang="en-US" dirty="0"/>
              <a:t> </a:t>
            </a:r>
            <a:r>
              <a:rPr lang="en-US" dirty="0" err="1"/>
              <a:t>transmisi</a:t>
            </a:r>
            <a:r>
              <a:rPr lang="en-US" dirty="0"/>
              <a:t> LoRa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mengukur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RSSI </a:t>
            </a:r>
            <a:r>
              <a:rPr lang="en-US" dirty="0" err="1"/>
              <a:t>transmisi</a:t>
            </a:r>
            <a:r>
              <a:rPr lang="en-US" dirty="0"/>
              <a:t> data pada </a:t>
            </a:r>
            <a:r>
              <a:rPr lang="en-US" dirty="0" err="1"/>
              <a:t>jarak-jarak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transmitter dan receiver </a:t>
            </a:r>
            <a:r>
              <a:rPr lang="en-US" dirty="0" err="1"/>
              <a:t>tertentu</a:t>
            </a:r>
            <a:r>
              <a:rPr lang="en-US" dirty="0"/>
              <a:t> pada </a:t>
            </a:r>
            <a:r>
              <a:rPr lang="en-US" dirty="0" err="1"/>
              <a:t>lingkungan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gedung</a:t>
            </a:r>
            <a:r>
              <a:rPr lang="en-US" dirty="0"/>
              <a:t>,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pohon</a:t>
            </a:r>
            <a:r>
              <a:rPr lang="en-US" dirty="0"/>
              <a:t>, dan </a:t>
            </a:r>
            <a:r>
              <a:rPr lang="en-US" dirty="0" err="1"/>
              <a:t>tanah</a:t>
            </a:r>
            <a:r>
              <a:rPr lang="en-US" dirty="0"/>
              <a:t> </a:t>
            </a:r>
            <a:r>
              <a:rPr lang="en-US" dirty="0" err="1"/>
              <a:t>lapang</a:t>
            </a:r>
            <a:r>
              <a:rPr lang="en-US" dirty="0"/>
              <a:t>.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AA5E9-3B26-4858-91B5-570D106ED6C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5146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Berikut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foto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lingkungan</a:t>
            </a:r>
            <a:r>
              <a:rPr lang="en-US" dirty="0"/>
              <a:t> </a:t>
            </a:r>
            <a:r>
              <a:rPr lang="en-US" dirty="0" err="1"/>
              <a:t>kondisi</a:t>
            </a:r>
            <a:r>
              <a:rPr lang="en-US" dirty="0"/>
              <a:t> </a:t>
            </a:r>
            <a:r>
              <a:rPr lang="en-US" dirty="0" err="1"/>
              <a:t>pengujian</a:t>
            </a:r>
            <a:r>
              <a:rPr lang="en-US" dirty="0"/>
              <a:t>.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AA5E9-3B26-4858-91B5-570D106ED6C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0851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Selain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,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pengukuran</a:t>
            </a:r>
            <a:r>
              <a:rPr lang="en-US" dirty="0"/>
              <a:t> </a:t>
            </a:r>
            <a:r>
              <a:rPr lang="en-US" dirty="0" err="1"/>
              <a:t>curah</a:t>
            </a:r>
            <a:r>
              <a:rPr lang="en-US" dirty="0"/>
              <a:t> </a:t>
            </a:r>
            <a:r>
              <a:rPr lang="en-US" dirty="0" err="1"/>
              <a:t>hujan</a:t>
            </a:r>
            <a:r>
              <a:rPr lang="en-US" dirty="0"/>
              <a:t> yang </a:t>
            </a:r>
            <a:r>
              <a:rPr lang="en-US" dirty="0" err="1"/>
              <a:t>dilakukan</a:t>
            </a:r>
            <a:r>
              <a:rPr lang="en-US" dirty="0"/>
              <a:t>,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dipetakan</a:t>
            </a:r>
            <a:r>
              <a:rPr lang="en-US" dirty="0"/>
              <a:t> </a:t>
            </a:r>
            <a:r>
              <a:rPr lang="en-US" dirty="0" err="1"/>
              <a:t>terhadap</a:t>
            </a:r>
            <a:r>
              <a:rPr lang="en-US" dirty="0"/>
              <a:t> </a:t>
            </a:r>
            <a:r>
              <a:rPr lang="en-US" dirty="0" err="1"/>
              <a:t>potensi</a:t>
            </a:r>
            <a:r>
              <a:rPr lang="en-US" dirty="0"/>
              <a:t> </a:t>
            </a:r>
            <a:r>
              <a:rPr lang="en-US" dirty="0" err="1"/>
              <a:t>banjir</a:t>
            </a:r>
            <a:r>
              <a:rPr lang="en-US" dirty="0"/>
              <a:t> di </a:t>
            </a:r>
            <a:r>
              <a:rPr lang="en-US" dirty="0" err="1"/>
              <a:t>Kecamatan</a:t>
            </a:r>
            <a:r>
              <a:rPr lang="en-US" dirty="0"/>
              <a:t> </a:t>
            </a:r>
            <a:r>
              <a:rPr lang="en-US" dirty="0" err="1"/>
              <a:t>Dayeuhkolot</a:t>
            </a:r>
            <a:r>
              <a:rPr lang="en-US" dirty="0"/>
              <a:t>.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algoritma</a:t>
            </a:r>
            <a:r>
              <a:rPr lang="en-US" dirty="0"/>
              <a:t> machine learning linear regression dan decision tree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memodelkan</a:t>
            </a:r>
            <a:r>
              <a:rPr lang="en-US" dirty="0"/>
              <a:t> </a:t>
            </a:r>
            <a:r>
              <a:rPr lang="en-US" dirty="0" err="1"/>
              <a:t>pengukuran-pengukuran</a:t>
            </a:r>
            <a:r>
              <a:rPr lang="en-US" dirty="0"/>
              <a:t> yang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fasilitas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BBWS </a:t>
            </a:r>
            <a:r>
              <a:rPr lang="en-US" dirty="0" err="1"/>
              <a:t>Citarum</a:t>
            </a:r>
            <a:r>
              <a:rPr lang="en-US" dirty="0"/>
              <a:t>.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analisis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menentukan</a:t>
            </a:r>
            <a:r>
              <a:rPr lang="en-US" dirty="0"/>
              <a:t> </a:t>
            </a:r>
            <a:r>
              <a:rPr lang="en-US" dirty="0" err="1"/>
              <a:t>prioritas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membangun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peringatan</a:t>
            </a:r>
            <a:r>
              <a:rPr lang="en-US" dirty="0"/>
              <a:t> </a:t>
            </a:r>
            <a:r>
              <a:rPr lang="en-US" dirty="0" err="1"/>
              <a:t>dini</a:t>
            </a:r>
            <a:r>
              <a:rPr lang="en-US" dirty="0"/>
              <a:t> </a:t>
            </a:r>
            <a:r>
              <a:rPr lang="en-US" dirty="0" err="1"/>
              <a:t>banjir</a:t>
            </a:r>
            <a:r>
              <a:rPr lang="en-US" dirty="0"/>
              <a:t> pada </a:t>
            </a:r>
            <a:r>
              <a:rPr lang="en-US" dirty="0" err="1"/>
              <a:t>Kecamatan</a:t>
            </a:r>
            <a:r>
              <a:rPr lang="en-US" dirty="0"/>
              <a:t> </a:t>
            </a:r>
            <a:r>
              <a:rPr lang="en-US" dirty="0" err="1"/>
              <a:t>Dayeuhkolot</a:t>
            </a:r>
            <a:r>
              <a:rPr lang="en-US" dirty="0"/>
              <a:t>.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AA5E9-3B26-4858-91B5-570D106ED6C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9333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Berikut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denah</a:t>
            </a:r>
            <a:r>
              <a:rPr lang="en-US" dirty="0"/>
              <a:t> Sungai </a:t>
            </a:r>
            <a:r>
              <a:rPr lang="en-US" dirty="0" err="1"/>
              <a:t>Citarum</a:t>
            </a:r>
            <a:r>
              <a:rPr lang="en-US" dirty="0"/>
              <a:t> </a:t>
            </a:r>
            <a:r>
              <a:rPr lang="en-US" dirty="0" err="1"/>
              <a:t>beserta</a:t>
            </a:r>
            <a:r>
              <a:rPr lang="en-US" dirty="0"/>
              <a:t> </a:t>
            </a:r>
            <a:r>
              <a:rPr lang="en-US" dirty="0" err="1"/>
              <a:t>anak-anak</a:t>
            </a:r>
            <a:r>
              <a:rPr lang="en-US" dirty="0"/>
              <a:t> </a:t>
            </a:r>
            <a:r>
              <a:rPr lang="en-US" dirty="0" err="1"/>
              <a:t>sungainya</a:t>
            </a:r>
            <a:r>
              <a:rPr lang="en-US" dirty="0"/>
              <a:t> dan </a:t>
            </a:r>
            <a:r>
              <a:rPr lang="en-US" dirty="0" err="1"/>
              <a:t>fasilitas-fasilitas</a:t>
            </a:r>
            <a:r>
              <a:rPr lang="en-US" dirty="0"/>
              <a:t> </a:t>
            </a:r>
            <a:r>
              <a:rPr lang="en-US" dirty="0" err="1"/>
              <a:t>pengukuran</a:t>
            </a:r>
            <a:r>
              <a:rPr lang="en-US" dirty="0"/>
              <a:t> </a:t>
            </a:r>
            <a:r>
              <a:rPr lang="en-US" dirty="0" err="1"/>
              <a:t>ketinggian</a:t>
            </a:r>
            <a:r>
              <a:rPr lang="en-US" dirty="0"/>
              <a:t> </a:t>
            </a:r>
            <a:r>
              <a:rPr lang="en-US" dirty="0" err="1"/>
              <a:t>permukaan</a:t>
            </a:r>
            <a:r>
              <a:rPr lang="en-US" dirty="0"/>
              <a:t> </a:t>
            </a:r>
            <a:r>
              <a:rPr lang="en-US" dirty="0" err="1"/>
              <a:t>sungai</a:t>
            </a:r>
            <a:r>
              <a:rPr lang="en-US" dirty="0"/>
              <a:t> </a:t>
            </a:r>
            <a:r>
              <a:rPr lang="en-US" dirty="0" err="1"/>
              <a:t>sepanjang</a:t>
            </a:r>
            <a:r>
              <a:rPr lang="en-US" dirty="0"/>
              <a:t> </a:t>
            </a:r>
            <a:r>
              <a:rPr lang="en-US" dirty="0" err="1"/>
              <a:t>sungai-sungai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AA5E9-3B26-4858-91B5-570D106ED6C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0974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Berikut</a:t>
            </a:r>
            <a:r>
              <a:rPr lang="en-US" dirty="0"/>
              <a:t> juga </a:t>
            </a:r>
            <a:r>
              <a:rPr lang="en-US" dirty="0" err="1"/>
              <a:t>merupakan</a:t>
            </a:r>
            <a:r>
              <a:rPr lang="en-US" dirty="0"/>
              <a:t> detail status </a:t>
            </a:r>
            <a:r>
              <a:rPr lang="en-US" dirty="0" err="1"/>
              <a:t>kewaspadaan</a:t>
            </a:r>
            <a:r>
              <a:rPr lang="en-US" dirty="0"/>
              <a:t> </a:t>
            </a:r>
            <a:r>
              <a:rPr lang="en-US" dirty="0" err="1"/>
              <a:t>banjir</a:t>
            </a:r>
            <a:r>
              <a:rPr lang="en-US" dirty="0"/>
              <a:t> yang </a:t>
            </a:r>
            <a:r>
              <a:rPr lang="en-US" dirty="0" err="1"/>
              <a:t>ditetapkan</a:t>
            </a:r>
            <a:r>
              <a:rPr lang="en-US" dirty="0"/>
              <a:t> oleh BBWS </a:t>
            </a:r>
            <a:r>
              <a:rPr lang="en-US" dirty="0" err="1"/>
              <a:t>Citarum</a:t>
            </a:r>
            <a:r>
              <a:rPr lang="en-US" dirty="0"/>
              <a:t> pada </a:t>
            </a:r>
            <a:r>
              <a:rPr lang="en-US" dirty="0" err="1"/>
              <a:t>Kecamatan</a:t>
            </a:r>
            <a:r>
              <a:rPr lang="en-US" dirty="0"/>
              <a:t> </a:t>
            </a:r>
            <a:r>
              <a:rPr lang="en-US" dirty="0" err="1"/>
              <a:t>Dayeuhkolot</a:t>
            </a:r>
            <a:r>
              <a:rPr lang="en-US" dirty="0"/>
              <a:t>.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AA5E9-3B26-4858-91B5-570D106ED6C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5663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Dari </a:t>
            </a:r>
            <a:r>
              <a:rPr lang="en-US" dirty="0" err="1"/>
              <a:t>pembuatan</a:t>
            </a:r>
            <a:r>
              <a:rPr lang="en-US" dirty="0"/>
              <a:t>, </a:t>
            </a:r>
            <a:r>
              <a:rPr lang="en-US" dirty="0" err="1"/>
              <a:t>pengujian</a:t>
            </a:r>
            <a:r>
              <a:rPr lang="en-US" dirty="0"/>
              <a:t>, dan </a:t>
            </a:r>
            <a:r>
              <a:rPr lang="en-US" dirty="0" err="1"/>
              <a:t>permodelan</a:t>
            </a:r>
            <a:r>
              <a:rPr lang="en-US" dirty="0"/>
              <a:t> yang </a:t>
            </a:r>
            <a:r>
              <a:rPr lang="en-US" dirty="0" err="1"/>
              <a:t>dilakukan</a:t>
            </a:r>
            <a:r>
              <a:rPr lang="en-US" dirty="0"/>
              <a:t>, </a:t>
            </a:r>
            <a:r>
              <a:rPr lang="en-US" dirty="0" err="1"/>
              <a:t>didapatkan</a:t>
            </a:r>
            <a:r>
              <a:rPr lang="en-US" dirty="0"/>
              <a:t> </a:t>
            </a:r>
            <a:r>
              <a:rPr lang="en-US" dirty="0" err="1"/>
              <a:t>hasil-hasil</a:t>
            </a:r>
            <a:r>
              <a:rPr lang="en-US" dirty="0"/>
              <a:t> </a:t>
            </a:r>
            <a:r>
              <a:rPr lang="en-US" dirty="0" err="1"/>
              <a:t>mengenai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peringatan</a:t>
            </a:r>
            <a:r>
              <a:rPr lang="en-US" dirty="0"/>
              <a:t> </a:t>
            </a:r>
            <a:r>
              <a:rPr lang="en-US" dirty="0" err="1"/>
              <a:t>dini</a:t>
            </a:r>
            <a:r>
              <a:rPr lang="en-US" dirty="0"/>
              <a:t> </a:t>
            </a:r>
            <a:r>
              <a:rPr lang="en-US" dirty="0" err="1"/>
              <a:t>banjir</a:t>
            </a:r>
            <a:r>
              <a:rPr lang="en-US" dirty="0"/>
              <a:t> </a:t>
            </a:r>
            <a:r>
              <a:rPr lang="en-US" dirty="0" err="1"/>
              <a:t>sebagaimana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AA5E9-3B26-4858-91B5-570D106ED6C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87075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Berikut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pengukuran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tipping </a:t>
            </a:r>
            <a:r>
              <a:rPr lang="en-US" dirty="0" err="1"/>
              <a:t>dari</a:t>
            </a:r>
            <a:r>
              <a:rPr lang="en-US" dirty="0"/>
              <a:t> sensor </a:t>
            </a:r>
            <a:r>
              <a:rPr lang="en-US" dirty="0" err="1"/>
              <a:t>curah</a:t>
            </a:r>
            <a:r>
              <a:rPr lang="en-US" dirty="0"/>
              <a:t> </a:t>
            </a:r>
            <a:r>
              <a:rPr lang="en-US" dirty="0" err="1"/>
              <a:t>hujan</a:t>
            </a:r>
            <a:r>
              <a:rPr lang="en-US" dirty="0"/>
              <a:t> RK400-07 pada </a:t>
            </a:r>
            <a:r>
              <a:rPr lang="en-US" dirty="0" err="1"/>
              <a:t>pengujian</a:t>
            </a:r>
            <a:r>
              <a:rPr lang="en-US" dirty="0"/>
              <a:t> </a:t>
            </a:r>
            <a:r>
              <a:rPr lang="en-US" dirty="0" err="1"/>
              <a:t>pengukuran</a:t>
            </a:r>
            <a:r>
              <a:rPr lang="en-US" dirty="0"/>
              <a:t> </a:t>
            </a:r>
            <a:r>
              <a:rPr lang="en-US" dirty="0" err="1"/>
              <a:t>curah</a:t>
            </a:r>
            <a:r>
              <a:rPr lang="en-US" dirty="0"/>
              <a:t> </a:t>
            </a:r>
            <a:r>
              <a:rPr lang="en-US" dirty="0" err="1"/>
              <a:t>hujan</a:t>
            </a:r>
            <a:r>
              <a:rPr lang="en-US" dirty="0"/>
              <a:t> pada </a:t>
            </a:r>
            <a:r>
              <a:rPr lang="en-US" dirty="0" err="1"/>
              <a:t>tanggal</a:t>
            </a:r>
            <a:r>
              <a:rPr lang="en-US" dirty="0"/>
              <a:t> 31 Mei 2025.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diperhatikan</a:t>
            </a:r>
            <a:r>
              <a:rPr lang="en-US" dirty="0"/>
              <a:t> </a:t>
            </a:r>
            <a:r>
              <a:rPr lang="en-US" dirty="0" err="1"/>
              <a:t>bahwa</a:t>
            </a:r>
            <a:r>
              <a:rPr lang="en-US" dirty="0"/>
              <a:t> </a:t>
            </a:r>
            <a:r>
              <a:rPr lang="en-US" dirty="0" err="1"/>
              <a:t>selama</a:t>
            </a:r>
            <a:r>
              <a:rPr lang="en-US" dirty="0"/>
              <a:t> </a:t>
            </a:r>
            <a:r>
              <a:rPr lang="en-US" dirty="0" err="1"/>
              <a:t>periode</a:t>
            </a:r>
            <a:r>
              <a:rPr lang="en-US" dirty="0"/>
              <a:t> 30 </a:t>
            </a:r>
            <a:r>
              <a:rPr lang="en-US" dirty="0" err="1"/>
              <a:t>menit</a:t>
            </a:r>
            <a:r>
              <a:rPr lang="en-US" dirty="0"/>
              <a:t> </a:t>
            </a:r>
            <a:r>
              <a:rPr lang="en-US" dirty="0" err="1"/>
              <a:t>pengujian</a:t>
            </a:r>
            <a:r>
              <a:rPr lang="en-US" dirty="0"/>
              <a:t>, sensor </a:t>
            </a:r>
            <a:r>
              <a:rPr lang="en-US" dirty="0" err="1"/>
              <a:t>curah</a:t>
            </a:r>
            <a:r>
              <a:rPr lang="en-US" dirty="0"/>
              <a:t> </a:t>
            </a:r>
            <a:r>
              <a:rPr lang="en-US" dirty="0" err="1"/>
              <a:t>hujan</a:t>
            </a:r>
            <a:r>
              <a:rPr lang="en-US" dirty="0"/>
              <a:t> </a:t>
            </a:r>
            <a:r>
              <a:rPr lang="en-US" dirty="0" err="1"/>
              <a:t>mencatat</a:t>
            </a:r>
            <a:r>
              <a:rPr lang="en-US" dirty="0"/>
              <a:t> </a:t>
            </a:r>
            <a:r>
              <a:rPr lang="en-US" dirty="0" err="1"/>
              <a:t>maksimal</a:t>
            </a:r>
            <a:r>
              <a:rPr lang="en-US" dirty="0"/>
              <a:t> </a:t>
            </a:r>
            <a:r>
              <a:rPr lang="en-US" dirty="0" err="1"/>
              <a:t>sebesar</a:t>
            </a:r>
            <a:r>
              <a:rPr lang="en-US" dirty="0"/>
              <a:t> 8 kali tipping </a:t>
            </a:r>
            <a:r>
              <a:rPr lang="en-US" dirty="0" err="1"/>
              <a:t>permenit</a:t>
            </a:r>
            <a:r>
              <a:rPr lang="en-US" dirty="0"/>
              <a:t> – yang </a:t>
            </a:r>
            <a:r>
              <a:rPr lang="en-US" dirty="0" err="1"/>
              <a:t>berdasarkan</a:t>
            </a:r>
            <a:r>
              <a:rPr lang="en-US" dirty="0"/>
              <a:t> datasheet yang </a:t>
            </a:r>
            <a:r>
              <a:rPr lang="en-US" dirty="0" err="1"/>
              <a:t>diberikan</a:t>
            </a:r>
            <a:r>
              <a:rPr lang="en-US" dirty="0"/>
              <a:t> </a:t>
            </a:r>
            <a:r>
              <a:rPr lang="en-US" dirty="0" err="1"/>
              <a:t>produsen</a:t>
            </a:r>
            <a:r>
              <a:rPr lang="en-US" dirty="0"/>
              <a:t> sensor </a:t>
            </a:r>
            <a:r>
              <a:rPr lang="en-US" dirty="0" err="1"/>
              <a:t>tersebut</a:t>
            </a:r>
            <a:r>
              <a:rPr lang="en-US" dirty="0"/>
              <a:t>, </a:t>
            </a:r>
            <a:r>
              <a:rPr lang="en-US" dirty="0" err="1"/>
              <a:t>setara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4mm </a:t>
            </a:r>
            <a:r>
              <a:rPr lang="en-US" dirty="0" err="1"/>
              <a:t>curah</a:t>
            </a:r>
            <a:r>
              <a:rPr lang="en-US" dirty="0"/>
              <a:t> </a:t>
            </a:r>
            <a:r>
              <a:rPr lang="en-US" dirty="0" err="1"/>
              <a:t>hujan</a:t>
            </a:r>
            <a:r>
              <a:rPr lang="en-US" dirty="0"/>
              <a:t>.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AA5E9-3B26-4858-91B5-570D106ED6C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27126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AA5E9-3B26-4858-91B5-570D106ED6C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00680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Selain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, </a:t>
            </a:r>
            <a:r>
              <a:rPr lang="en-US" dirty="0" err="1"/>
              <a:t>berikut</a:t>
            </a:r>
            <a:r>
              <a:rPr lang="en-US" dirty="0"/>
              <a:t> juga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pengukuran</a:t>
            </a:r>
            <a:r>
              <a:rPr lang="en-US" dirty="0"/>
              <a:t> </a:t>
            </a:r>
            <a:r>
              <a:rPr lang="en-US" dirty="0" err="1"/>
              <a:t>kualitas</a:t>
            </a:r>
            <a:r>
              <a:rPr lang="en-US" dirty="0"/>
              <a:t> </a:t>
            </a:r>
            <a:r>
              <a:rPr lang="en-US" dirty="0" err="1"/>
              <a:t>transmisi</a:t>
            </a:r>
            <a:r>
              <a:rPr lang="en-US" dirty="0"/>
              <a:t> LoRa pada </a:t>
            </a:r>
            <a:r>
              <a:rPr lang="en-US" dirty="0" err="1"/>
              <a:t>kondisi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Gedung,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pohon</a:t>
            </a:r>
            <a:r>
              <a:rPr lang="en-US" dirty="0"/>
              <a:t> dan </a:t>
            </a:r>
            <a:r>
              <a:rPr lang="en-US" dirty="0" err="1"/>
              <a:t>tanah</a:t>
            </a:r>
            <a:r>
              <a:rPr lang="en-US" dirty="0"/>
              <a:t> </a:t>
            </a:r>
            <a:r>
              <a:rPr lang="en-US" dirty="0" err="1"/>
              <a:t>lapang</a:t>
            </a:r>
            <a:r>
              <a:rPr lang="en-US" dirty="0"/>
              <a:t>.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diperhatikan</a:t>
            </a:r>
            <a:r>
              <a:rPr lang="en-US" dirty="0"/>
              <a:t> </a:t>
            </a:r>
            <a:r>
              <a:rPr lang="en-US" dirty="0" err="1"/>
              <a:t>bahwa</a:t>
            </a:r>
            <a:r>
              <a:rPr lang="en-US" dirty="0"/>
              <a:t> </a:t>
            </a:r>
            <a:r>
              <a:rPr lang="en-US" dirty="0" err="1"/>
              <a:t>kondisi</a:t>
            </a:r>
            <a:r>
              <a:rPr lang="en-US" dirty="0"/>
              <a:t> paling ideal </a:t>
            </a:r>
            <a:r>
              <a:rPr lang="en-US" dirty="0" err="1"/>
              <a:t>dimana</a:t>
            </a:r>
            <a:r>
              <a:rPr lang="en-US" dirty="0"/>
              <a:t> </a:t>
            </a:r>
            <a:r>
              <a:rPr lang="en-US" dirty="0" err="1"/>
              <a:t>kualitas</a:t>
            </a:r>
            <a:r>
              <a:rPr lang="en-US" dirty="0"/>
              <a:t> </a:t>
            </a:r>
            <a:r>
              <a:rPr lang="en-US" dirty="0" err="1"/>
              <a:t>transmisi</a:t>
            </a:r>
            <a:r>
              <a:rPr lang="en-US" dirty="0"/>
              <a:t> LoRa paling </a:t>
            </a:r>
            <a:r>
              <a:rPr lang="en-US" dirty="0" err="1"/>
              <a:t>baik</a:t>
            </a:r>
            <a:r>
              <a:rPr lang="en-US" dirty="0"/>
              <a:t> </a:t>
            </a:r>
            <a:r>
              <a:rPr lang="en-US" dirty="0" err="1"/>
              <a:t>terdapat</a:t>
            </a:r>
            <a:r>
              <a:rPr lang="en-US" dirty="0"/>
              <a:t> pada </a:t>
            </a:r>
            <a:r>
              <a:rPr lang="en-US" dirty="0" err="1"/>
              <a:t>lingkungan</a:t>
            </a:r>
            <a:r>
              <a:rPr lang="en-US" dirty="0"/>
              <a:t> </a:t>
            </a:r>
            <a:r>
              <a:rPr lang="en-US" dirty="0" err="1"/>
              <a:t>tanah</a:t>
            </a:r>
            <a:r>
              <a:rPr lang="en-US" dirty="0"/>
              <a:t> </a:t>
            </a:r>
            <a:r>
              <a:rPr lang="en-US" dirty="0" err="1"/>
              <a:t>lapang</a:t>
            </a:r>
            <a:r>
              <a:rPr lang="en-US" dirty="0"/>
              <a:t>. </a:t>
            </a:r>
            <a:r>
              <a:rPr lang="en-US" dirty="0" err="1"/>
              <a:t>Namun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kondisi</a:t>
            </a:r>
            <a:r>
              <a:rPr lang="en-US" dirty="0"/>
              <a:t> yang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representatif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dimana</a:t>
            </a:r>
            <a:r>
              <a:rPr lang="en-US" dirty="0"/>
              <a:t> sensor node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ditempatkan</a:t>
            </a:r>
            <a:r>
              <a:rPr lang="en-US" dirty="0"/>
              <a:t> – </a:t>
            </a:r>
            <a:r>
              <a:rPr lang="en-US" dirty="0" err="1"/>
              <a:t>yaitu</a:t>
            </a:r>
            <a:r>
              <a:rPr lang="en-US" dirty="0"/>
              <a:t> pad </a:t>
            </a:r>
            <a:r>
              <a:rPr lang="en-US" dirty="0" err="1"/>
              <a:t>akondisi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gedung</a:t>
            </a:r>
            <a:r>
              <a:rPr lang="en-US" dirty="0"/>
              <a:t>, sensor node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ditempatkan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jarak</a:t>
            </a:r>
            <a:r>
              <a:rPr lang="en-US" dirty="0"/>
              <a:t> 150 m </a:t>
            </a:r>
            <a:r>
              <a:rPr lang="en-US" dirty="0" err="1"/>
              <a:t>dari</a:t>
            </a:r>
            <a:r>
              <a:rPr lang="en-US" dirty="0"/>
              <a:t> monitoring station.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AA5E9-3B26-4858-91B5-570D106ED6C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86374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Dari </a:t>
            </a:r>
            <a:r>
              <a:rPr lang="en-US" dirty="0" err="1"/>
              <a:t>permodelan</a:t>
            </a:r>
            <a:r>
              <a:rPr lang="en-US" dirty="0"/>
              <a:t> </a:t>
            </a:r>
            <a:r>
              <a:rPr lang="en-US" dirty="0" err="1"/>
              <a:t>algoritma</a:t>
            </a:r>
            <a:r>
              <a:rPr lang="en-US" dirty="0"/>
              <a:t> Linear Regression dan Decision Tree yang </a:t>
            </a:r>
            <a:r>
              <a:rPr lang="en-US" dirty="0" err="1"/>
              <a:t>dilakukan</a:t>
            </a:r>
            <a:r>
              <a:rPr lang="en-US" dirty="0"/>
              <a:t>, </a:t>
            </a:r>
            <a:r>
              <a:rPr lang="en-US" dirty="0" err="1"/>
              <a:t>didapatkan</a:t>
            </a:r>
            <a:r>
              <a:rPr lang="en-US" dirty="0"/>
              <a:t> </a:t>
            </a:r>
            <a:r>
              <a:rPr lang="en-US" dirty="0" err="1"/>
              <a:t>nilai-nilai</a:t>
            </a:r>
            <a:r>
              <a:rPr lang="en-US" dirty="0"/>
              <a:t> feature importance </a:t>
            </a:r>
            <a:r>
              <a:rPr lang="en-US" dirty="0" err="1"/>
              <a:t>sebagaimana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.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diperhatikan</a:t>
            </a:r>
            <a:r>
              <a:rPr lang="en-US" dirty="0"/>
              <a:t> </a:t>
            </a:r>
            <a:r>
              <a:rPr lang="en-US" dirty="0" err="1"/>
              <a:t>bahwa</a:t>
            </a:r>
            <a:r>
              <a:rPr lang="en-US" dirty="0"/>
              <a:t> pada </a:t>
            </a:r>
            <a:r>
              <a:rPr lang="en-US" dirty="0" err="1"/>
              <a:t>Kecamatan</a:t>
            </a:r>
            <a:r>
              <a:rPr lang="en-US" dirty="0"/>
              <a:t> </a:t>
            </a:r>
            <a:r>
              <a:rPr lang="en-US" dirty="0" err="1"/>
              <a:t>Dayeuhkolot</a:t>
            </a:r>
            <a:r>
              <a:rPr lang="en-US" dirty="0"/>
              <a:t> </a:t>
            </a:r>
            <a:r>
              <a:rPr lang="en-US" dirty="0" err="1"/>
              <a:t>selain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curah</a:t>
            </a:r>
            <a:r>
              <a:rPr lang="en-US" dirty="0"/>
              <a:t> </a:t>
            </a:r>
            <a:r>
              <a:rPr lang="en-US" dirty="0" err="1"/>
              <a:t>hujan</a:t>
            </a:r>
            <a:r>
              <a:rPr lang="en-US" dirty="0"/>
              <a:t> pada </a:t>
            </a:r>
            <a:r>
              <a:rPr lang="en-US" dirty="0" err="1"/>
              <a:t>daerah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, </a:t>
            </a:r>
            <a:r>
              <a:rPr lang="en-US" dirty="0" err="1"/>
              <a:t>potensi</a:t>
            </a:r>
            <a:r>
              <a:rPr lang="en-US" dirty="0"/>
              <a:t> </a:t>
            </a:r>
            <a:r>
              <a:rPr lang="en-US" dirty="0" err="1"/>
              <a:t>banjir</a:t>
            </a:r>
            <a:r>
              <a:rPr lang="en-US" dirty="0"/>
              <a:t> di </a:t>
            </a:r>
            <a:r>
              <a:rPr lang="en-US" dirty="0" err="1"/>
              <a:t>Kecamatan</a:t>
            </a:r>
            <a:r>
              <a:rPr lang="en-US" dirty="0"/>
              <a:t> </a:t>
            </a:r>
            <a:r>
              <a:rPr lang="en-US" dirty="0" err="1"/>
              <a:t>Dayeuhkolot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dipengaruh</a:t>
            </a:r>
            <a:r>
              <a:rPr lang="en-US" dirty="0"/>
              <a:t> </a:t>
            </a:r>
            <a:r>
              <a:rPr lang="en-US" dirty="0" err="1"/>
              <a:t>hujan</a:t>
            </a:r>
            <a:r>
              <a:rPr lang="en-US" dirty="0"/>
              <a:t> di Dago dan </a:t>
            </a:r>
            <a:r>
              <a:rPr lang="en-US" dirty="0" err="1"/>
              <a:t>Lembang</a:t>
            </a:r>
            <a:r>
              <a:rPr lang="en-US" dirty="0"/>
              <a:t>. </a:t>
            </a:r>
            <a:r>
              <a:rPr lang="en-US" dirty="0" err="1"/>
              <a:t>Bila</a:t>
            </a:r>
            <a:r>
              <a:rPr lang="en-US" dirty="0"/>
              <a:t> </a:t>
            </a:r>
            <a:r>
              <a:rPr lang="en-US" dirty="0" err="1"/>
              <a:t>kembali</a:t>
            </a:r>
            <a:r>
              <a:rPr lang="en-US" dirty="0"/>
              <a:t> </a:t>
            </a:r>
            <a:r>
              <a:rPr lang="en-US" dirty="0" err="1"/>
              <a:t>mengacu</a:t>
            </a:r>
            <a:r>
              <a:rPr lang="en-US" dirty="0"/>
              <a:t> pada </a:t>
            </a:r>
            <a:r>
              <a:rPr lang="en-US" dirty="0" err="1"/>
              <a:t>denah</a:t>
            </a:r>
            <a:r>
              <a:rPr lang="en-US" dirty="0"/>
              <a:t> </a:t>
            </a:r>
            <a:r>
              <a:rPr lang="en-US" dirty="0" err="1"/>
              <a:t>aliran</a:t>
            </a:r>
            <a:r>
              <a:rPr lang="en-US" dirty="0"/>
              <a:t> Sungai </a:t>
            </a:r>
            <a:r>
              <a:rPr lang="en-US" dirty="0" err="1"/>
              <a:t>Citarum</a:t>
            </a:r>
            <a:r>
              <a:rPr lang="en-US" dirty="0"/>
              <a:t>, </a:t>
            </a:r>
            <a:r>
              <a:rPr lang="en-US" dirty="0" err="1"/>
              <a:t>Kecamatan</a:t>
            </a:r>
            <a:r>
              <a:rPr lang="en-US" dirty="0"/>
              <a:t> </a:t>
            </a:r>
            <a:r>
              <a:rPr lang="en-US" dirty="0" err="1"/>
              <a:t>Dayeuhkolot</a:t>
            </a:r>
            <a:r>
              <a:rPr lang="en-US" dirty="0"/>
              <a:t> </a:t>
            </a:r>
            <a:r>
              <a:rPr lang="en-US" dirty="0" err="1"/>
              <a:t>berada</a:t>
            </a:r>
            <a:r>
              <a:rPr lang="en-US" dirty="0"/>
              <a:t> </a:t>
            </a:r>
            <a:r>
              <a:rPr lang="en-US" dirty="0" err="1"/>
              <a:t>setelah</a:t>
            </a:r>
            <a:r>
              <a:rPr lang="en-US" dirty="0"/>
              <a:t> </a:t>
            </a:r>
            <a:r>
              <a:rPr lang="en-US" dirty="0" err="1"/>
              <a:t>pertemuan</a:t>
            </a:r>
            <a:r>
              <a:rPr lang="en-US" dirty="0"/>
              <a:t> Sungai </a:t>
            </a:r>
            <a:r>
              <a:rPr lang="en-US" dirty="0" err="1"/>
              <a:t>Cikapunung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Sugai</a:t>
            </a:r>
            <a:r>
              <a:rPr lang="en-US" dirty="0"/>
              <a:t> </a:t>
            </a:r>
            <a:r>
              <a:rPr lang="en-US" dirty="0" err="1"/>
              <a:t>Citarum</a:t>
            </a:r>
            <a:r>
              <a:rPr lang="en-US" dirty="0"/>
              <a:t>.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hujan</a:t>
            </a:r>
            <a:r>
              <a:rPr lang="en-US" dirty="0"/>
              <a:t> di Dago dan </a:t>
            </a:r>
            <a:r>
              <a:rPr lang="en-US" dirty="0" err="1"/>
              <a:t>Lembang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terbawa</a:t>
            </a:r>
            <a:r>
              <a:rPr lang="en-US" dirty="0"/>
              <a:t> Sungai </a:t>
            </a:r>
            <a:r>
              <a:rPr lang="en-US" dirty="0" err="1"/>
              <a:t>Cikapundung</a:t>
            </a:r>
            <a:r>
              <a:rPr lang="en-US" dirty="0"/>
              <a:t> dan </a:t>
            </a:r>
            <a:r>
              <a:rPr lang="en-US" dirty="0" err="1"/>
              <a:t>mempengaruhi</a:t>
            </a:r>
            <a:r>
              <a:rPr lang="en-US" dirty="0"/>
              <a:t> </a:t>
            </a:r>
            <a:r>
              <a:rPr lang="en-US" dirty="0" err="1"/>
              <a:t>potensi</a:t>
            </a:r>
            <a:r>
              <a:rPr lang="en-US" dirty="0"/>
              <a:t> </a:t>
            </a:r>
            <a:r>
              <a:rPr lang="en-US" dirty="0" err="1"/>
              <a:t>banjir</a:t>
            </a:r>
            <a:r>
              <a:rPr lang="en-US" dirty="0"/>
              <a:t> di </a:t>
            </a:r>
            <a:r>
              <a:rPr lang="en-US" dirty="0" err="1"/>
              <a:t>Kecamatan</a:t>
            </a:r>
            <a:r>
              <a:rPr lang="en-US" dirty="0"/>
              <a:t> </a:t>
            </a:r>
            <a:r>
              <a:rPr lang="en-US" dirty="0" err="1"/>
              <a:t>Dayeuhkolot</a:t>
            </a:r>
            <a:r>
              <a:rPr lang="en-US" dirty="0"/>
              <a:t>.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AA5E9-3B26-4858-91B5-570D106ED6C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29783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AA5E9-3B26-4858-91B5-570D106ED6C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30827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Berikut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denah</a:t>
            </a:r>
            <a:r>
              <a:rPr lang="en-US" dirty="0"/>
              <a:t> Sungai </a:t>
            </a:r>
            <a:r>
              <a:rPr lang="en-US" dirty="0" err="1"/>
              <a:t>Citarum</a:t>
            </a:r>
            <a:r>
              <a:rPr lang="en-US" dirty="0"/>
              <a:t> </a:t>
            </a:r>
            <a:r>
              <a:rPr lang="en-US" dirty="0" err="1"/>
              <a:t>beserta</a:t>
            </a:r>
            <a:r>
              <a:rPr lang="en-US" dirty="0"/>
              <a:t> </a:t>
            </a:r>
            <a:r>
              <a:rPr lang="en-US" dirty="0" err="1"/>
              <a:t>anak-anak</a:t>
            </a:r>
            <a:r>
              <a:rPr lang="en-US" dirty="0"/>
              <a:t> </a:t>
            </a:r>
            <a:r>
              <a:rPr lang="en-US" dirty="0" err="1"/>
              <a:t>sungainya</a:t>
            </a:r>
            <a:r>
              <a:rPr lang="en-US" dirty="0"/>
              <a:t> dan </a:t>
            </a:r>
            <a:r>
              <a:rPr lang="en-US" dirty="0" err="1"/>
              <a:t>fasilitas-fasilitas</a:t>
            </a:r>
            <a:r>
              <a:rPr lang="en-US" dirty="0"/>
              <a:t> </a:t>
            </a:r>
            <a:r>
              <a:rPr lang="en-US" dirty="0" err="1"/>
              <a:t>pengukuran</a:t>
            </a:r>
            <a:r>
              <a:rPr lang="en-US" dirty="0"/>
              <a:t> </a:t>
            </a:r>
            <a:r>
              <a:rPr lang="en-US" dirty="0" err="1"/>
              <a:t>ketinggian</a:t>
            </a:r>
            <a:r>
              <a:rPr lang="en-US" dirty="0"/>
              <a:t> </a:t>
            </a:r>
            <a:r>
              <a:rPr lang="en-US" dirty="0" err="1"/>
              <a:t>permukaan</a:t>
            </a:r>
            <a:r>
              <a:rPr lang="en-US" dirty="0"/>
              <a:t> </a:t>
            </a:r>
            <a:r>
              <a:rPr lang="en-US" dirty="0" err="1"/>
              <a:t>sungai</a:t>
            </a:r>
            <a:r>
              <a:rPr lang="en-US" dirty="0"/>
              <a:t> </a:t>
            </a:r>
            <a:r>
              <a:rPr lang="en-US" dirty="0" err="1"/>
              <a:t>sepanjang</a:t>
            </a:r>
            <a:r>
              <a:rPr lang="en-US" dirty="0"/>
              <a:t> </a:t>
            </a:r>
            <a:r>
              <a:rPr lang="en-US" dirty="0" err="1"/>
              <a:t>sungai-sungai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AA5E9-3B26-4858-91B5-570D106ED6C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09743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yang </a:t>
            </a:r>
            <a:r>
              <a:rPr lang="en-US" dirty="0" err="1"/>
              <a:t>diperoleh</a:t>
            </a:r>
            <a:r>
              <a:rPr lang="en-US" dirty="0"/>
              <a:t>,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disimpulkan</a:t>
            </a:r>
            <a:r>
              <a:rPr lang="en-US" dirty="0"/>
              <a:t> </a:t>
            </a:r>
            <a:r>
              <a:rPr lang="en-US" dirty="0" err="1"/>
              <a:t>mengenai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pengukuran</a:t>
            </a:r>
            <a:r>
              <a:rPr lang="en-US" dirty="0"/>
              <a:t> </a:t>
            </a:r>
            <a:r>
              <a:rPr lang="en-US" dirty="0" err="1"/>
              <a:t>curah</a:t>
            </a:r>
            <a:r>
              <a:rPr lang="en-US" dirty="0"/>
              <a:t> </a:t>
            </a:r>
            <a:r>
              <a:rPr lang="en-US" dirty="0" err="1"/>
              <a:t>hujan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peringatan</a:t>
            </a:r>
            <a:r>
              <a:rPr lang="en-US" dirty="0"/>
              <a:t> </a:t>
            </a:r>
            <a:r>
              <a:rPr lang="en-US" dirty="0" err="1"/>
              <a:t>dini</a:t>
            </a:r>
            <a:r>
              <a:rPr lang="en-US" dirty="0"/>
              <a:t> </a:t>
            </a:r>
            <a:r>
              <a:rPr lang="en-US" dirty="0" err="1"/>
              <a:t>banjir</a:t>
            </a:r>
            <a:r>
              <a:rPr lang="en-US" dirty="0"/>
              <a:t> </a:t>
            </a:r>
            <a:r>
              <a:rPr lang="en-US" dirty="0" err="1"/>
              <a:t>sebagaimana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.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AA5E9-3B26-4858-91B5-570D106ED6C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17091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Daftar </a:t>
            </a:r>
            <a:r>
              <a:rPr lang="en-US" dirty="0" err="1"/>
              <a:t>isi</a:t>
            </a:r>
            <a:r>
              <a:rPr lang="en-US" dirty="0"/>
              <a:t> </a:t>
            </a:r>
            <a:r>
              <a:rPr lang="en-US" dirty="0" err="1"/>
              <a:t>masih</a:t>
            </a:r>
            <a:r>
              <a:rPr lang="en-US" dirty="0"/>
              <a:t> error</a:t>
            </a:r>
          </a:p>
          <a:p>
            <a:r>
              <a:rPr lang="en-US" dirty="0" err="1"/>
              <a:t>Paragraf</a:t>
            </a:r>
            <a:r>
              <a:rPr lang="en-US" dirty="0"/>
              <a:t> rata </a:t>
            </a:r>
            <a:r>
              <a:rPr lang="en-US" dirty="0" err="1"/>
              <a:t>kanan-kiri</a:t>
            </a:r>
            <a:endParaRPr lang="en-US" dirty="0"/>
          </a:p>
          <a:p>
            <a:r>
              <a:rPr lang="en-US" dirty="0"/>
              <a:t>Typo</a:t>
            </a:r>
          </a:p>
          <a:p>
            <a:r>
              <a:rPr lang="en-US" dirty="0"/>
              <a:t>Bahasa </a:t>
            </a:r>
            <a:r>
              <a:rPr lang="en-US" dirty="0" err="1"/>
              <a:t>inggris</a:t>
            </a:r>
            <a:r>
              <a:rPr lang="en-US" dirty="0"/>
              <a:t> </a:t>
            </a:r>
            <a:r>
              <a:rPr lang="en-US" dirty="0" err="1"/>
              <a:t>cetak</a:t>
            </a:r>
            <a:r>
              <a:rPr lang="en-US" dirty="0"/>
              <a:t> miring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AA5E9-3B26-4858-91B5-570D106ED6C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97078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AA5E9-3B26-4858-91B5-570D106ED6C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45301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AA5E9-3B26-4858-91B5-570D106ED6C5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65343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AA5E9-3B26-4858-91B5-570D106ED6C5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63354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AA5E9-3B26-4858-91B5-570D106ED6C5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74775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AA5E9-3B26-4858-91B5-570D106ED6C5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9092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Daftar </a:t>
            </a:r>
            <a:r>
              <a:rPr lang="en-US" dirty="0" err="1"/>
              <a:t>isi</a:t>
            </a:r>
            <a:r>
              <a:rPr lang="en-US" dirty="0"/>
              <a:t> </a:t>
            </a:r>
            <a:r>
              <a:rPr lang="en-US" dirty="0" err="1"/>
              <a:t>masih</a:t>
            </a:r>
            <a:r>
              <a:rPr lang="en-US" dirty="0"/>
              <a:t> error</a:t>
            </a:r>
          </a:p>
          <a:p>
            <a:r>
              <a:rPr lang="en-US" dirty="0" err="1"/>
              <a:t>Paragraf</a:t>
            </a:r>
            <a:r>
              <a:rPr lang="en-US" dirty="0"/>
              <a:t> rata </a:t>
            </a:r>
            <a:r>
              <a:rPr lang="en-US" dirty="0" err="1"/>
              <a:t>kanan-kiri</a:t>
            </a:r>
            <a:endParaRPr lang="en-US" dirty="0"/>
          </a:p>
          <a:p>
            <a:r>
              <a:rPr lang="en-US" dirty="0"/>
              <a:t>Typo</a:t>
            </a:r>
          </a:p>
          <a:p>
            <a:r>
              <a:rPr lang="en-US" dirty="0"/>
              <a:t>Bahasa </a:t>
            </a:r>
            <a:r>
              <a:rPr lang="en-US" dirty="0" err="1"/>
              <a:t>inggris</a:t>
            </a:r>
            <a:r>
              <a:rPr lang="en-US" dirty="0"/>
              <a:t> </a:t>
            </a:r>
            <a:r>
              <a:rPr lang="en-US" dirty="0" err="1"/>
              <a:t>cetak</a:t>
            </a:r>
            <a:r>
              <a:rPr lang="en-US" dirty="0"/>
              <a:t> miring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AA5E9-3B26-4858-91B5-570D106ED6C5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2177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F4932-DBCB-4785-8C30-90A8357E9AD6}" type="datetime1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0C76-61B8-4F75-968B-505003DAB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447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E61DB-8EF6-4575-BB90-618999DF4663}" type="datetime1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0C76-61B8-4F75-968B-505003DAB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569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85AA7-1B78-4C8F-BACB-D70912233F34}" type="datetime1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0C76-61B8-4F75-968B-505003DAB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996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57220-BA3D-47A3-80EC-BBF67E04EE83}" type="datetime1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0C76-61B8-4F75-968B-505003DAB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305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8262B-32E1-43D5-AB93-FF5ABD76349B}" type="datetime1">
              <a:rPr lang="en-US" smtClean="0"/>
              <a:t>9/2/2025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0C76-61B8-4F75-968B-505003DAB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468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37158-37BD-4459-8DB4-70723D1E0ECB}" type="datetime1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0C76-61B8-4F75-968B-505003DAB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600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61378-696A-46B4-B2F6-24489891F6DD}" type="datetime1">
              <a:rPr lang="en-US" smtClean="0"/>
              <a:t>9/2/2025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0C76-61B8-4F75-968B-505003DAB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829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4A94-62D3-452A-85BC-B1DE8FA68C3B}" type="datetime1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0C76-61B8-4F75-968B-505003DAB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50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66DB6-A9D0-4264-9CFD-996B4C16137F}" type="datetime1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0C76-61B8-4F75-968B-505003DAB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811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42DFC-47EF-450D-A77C-D3A6F9521E55}" type="datetime1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0C76-61B8-4F75-968B-505003DAB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356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D29E1-0C2B-49A3-99B6-119FF18DA8BD}" type="datetime1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0C76-61B8-4F75-968B-505003DAB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652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BBF97B-E381-4FE4-A1DF-FF955DA8C82E}" type="datetime1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FF0C76-61B8-4F75-968B-505003DAB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95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E227D2-1C40-CC08-18C6-62E04C948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335640"/>
          </a:xfrm>
        </p:spPr>
        <p:txBody>
          <a:bodyPr anchor="b">
            <a:normAutofit/>
          </a:bodyPr>
          <a:lstStyle/>
          <a:p>
            <a:pPr algn="l"/>
            <a:r>
              <a:rPr lang="en-US" sz="3600" b="1" dirty="0">
                <a:solidFill>
                  <a:srgbClr val="FFFFFF"/>
                </a:solidFill>
              </a:rPr>
              <a:t>PERANCANGAN SISTEM PEMANTAUAN CURAH HUJAN SEBAGAI PERINGATAN BANJIR BERBASIS INTERNET OF THINGS (IOT)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7E0BEE2-9ADC-2B51-75AC-F99BA6CC6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0C76-61B8-4F75-968B-505003DAB565}" type="slidenum">
              <a:rPr lang="en-US" smtClean="0"/>
              <a:t>1</a:t>
            </a:fld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14E50D9-8A77-4B66-BEED-3B33F6AF21CD}"/>
              </a:ext>
            </a:extLst>
          </p:cNvPr>
          <p:cNvSpPr/>
          <p:nvPr/>
        </p:nvSpPr>
        <p:spPr>
          <a:xfrm>
            <a:off x="7934015" y="109497"/>
            <a:ext cx="979129" cy="97912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8" name="Picture 27" descr="A blue and white logo&#10;&#10;Description automatically generated">
            <a:extLst>
              <a:ext uri="{FF2B5EF4-FFF2-40B4-BE49-F238E27FC236}">
                <a16:creationId xmlns:a16="http://schemas.microsoft.com/office/drawing/2014/main" id="{414D194C-E030-121F-0044-0989FD5AF3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080" y="154082"/>
            <a:ext cx="889000" cy="889000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D857EB1D-4727-6CCE-AC68-DF31653D7493}"/>
              </a:ext>
            </a:extLst>
          </p:cNvPr>
          <p:cNvSpPr txBox="1">
            <a:spLocks/>
          </p:cNvSpPr>
          <p:nvPr/>
        </p:nvSpPr>
        <p:spPr>
          <a:xfrm>
            <a:off x="1194402" y="3070746"/>
            <a:ext cx="7096835" cy="7613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 err="1">
                <a:solidFill>
                  <a:schemeClr val="bg1"/>
                </a:solidFill>
              </a:rPr>
              <a:t>Penelitian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sebagai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rangkaian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tugas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akhir</a:t>
            </a:r>
            <a:endParaRPr lang="en-US" sz="2000" dirty="0">
              <a:solidFill>
                <a:schemeClr val="bg1"/>
              </a:solidFill>
            </a:endParaRPr>
          </a:p>
          <a:p>
            <a:pPr algn="l"/>
            <a:r>
              <a:rPr lang="en-US" sz="2000" dirty="0">
                <a:solidFill>
                  <a:schemeClr val="bg1"/>
                </a:solidFill>
              </a:rPr>
              <a:t>SAMUEL OBADIAH - 10221076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ACDB2C4-CC98-4567-F865-DC29926B20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9304828"/>
              </p:ext>
            </p:extLst>
          </p:nvPr>
        </p:nvGraphicFramePr>
        <p:xfrm>
          <a:off x="994011" y="4704819"/>
          <a:ext cx="7155974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987">
                  <a:extLst>
                    <a:ext uri="{9D8B030D-6E8A-4147-A177-3AD203B41FA5}">
                      <a16:colId xmlns:a16="http://schemas.microsoft.com/office/drawing/2014/main" val="2519027685"/>
                    </a:ext>
                  </a:extLst>
                </a:gridCol>
                <a:gridCol w="3577987">
                  <a:extLst>
                    <a:ext uri="{9D8B030D-6E8A-4147-A177-3AD203B41FA5}">
                      <a16:colId xmlns:a16="http://schemas.microsoft.com/office/drawing/2014/main" val="11652070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DOSEN PEMBIMBING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DOSEN PENGUJI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9412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Prof. Dr. Ing. Mitra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</a:rPr>
                        <a:t>Djamal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Dr. Nina Siti Aminah,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</a:rPr>
                        <a:t>S.Si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.,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</a:rPr>
                        <a:t>M.Si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Dr. Maria Evita,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</a:rPr>
                        <a:t>S.Si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.,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</a:rPr>
                        <a:t>M.Si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Pipit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</a:rPr>
                        <a:t>Fitriani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</a:rPr>
                        <a:t>S.Si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, Ph.D.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85943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5858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8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9144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140040" y="-1133192"/>
            <a:ext cx="6858001" cy="9124385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1072" y="0"/>
            <a:ext cx="4572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3"/>
            <a:ext cx="9137153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784" y="4049"/>
            <a:ext cx="7662432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9249BE-CAEB-0732-A1C1-B9CDCD2B7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0019" y="1030406"/>
            <a:ext cx="6110785" cy="3081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200" b="1" dirty="0">
                <a:solidFill>
                  <a:srgbClr val="FFFFFF"/>
                </a:solidFill>
              </a:rPr>
              <a:t>PENDAHULUAN</a:t>
            </a:r>
            <a:endParaRPr lang="en-US" sz="42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286234-1F0D-6A6F-51C1-410FFE602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78240" y="6455664"/>
            <a:ext cx="33604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4CFF0C76-61B8-4F75-968B-505003DAB565}" type="slidenum">
              <a:rPr lang="en-US" sz="1000">
                <a:solidFill>
                  <a:srgbClr val="FFFFFF"/>
                </a:solidFill>
              </a:rPr>
              <a:pPr defTabSz="914400">
                <a:spcAft>
                  <a:spcPts val="600"/>
                </a:spcAft>
              </a:pPr>
              <a:t>2</a:t>
            </a:fld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F259056-BBA9-4E1D-BCF4-30174E911DE4}"/>
              </a:ext>
            </a:extLst>
          </p:cNvPr>
          <p:cNvSpPr/>
          <p:nvPr/>
        </p:nvSpPr>
        <p:spPr>
          <a:xfrm>
            <a:off x="7934015" y="109497"/>
            <a:ext cx="979129" cy="97912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5" name="Picture 14" descr="A blue and white logo&#10;&#10;Description automatically generated">
            <a:extLst>
              <a:ext uri="{FF2B5EF4-FFF2-40B4-BE49-F238E27FC236}">
                <a16:creationId xmlns:a16="http://schemas.microsoft.com/office/drawing/2014/main" id="{204EC67A-75BD-42A5-AF52-A4FC636A80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080" y="154082"/>
            <a:ext cx="889000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498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 descr="A river running through a forest&#10;&#10;Description automatically generated">
            <a:extLst>
              <a:ext uri="{FF2B5EF4-FFF2-40B4-BE49-F238E27FC236}">
                <a16:creationId xmlns:a16="http://schemas.microsoft.com/office/drawing/2014/main" id="{27B59508-F765-BC66-E54E-BF65935C88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98" y="3740527"/>
            <a:ext cx="4571997" cy="256880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8FFE39-AD62-D2AA-6E0A-DD631041E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rgbClr val="FFFFFF"/>
                </a:solidFill>
              </a:rPr>
              <a:t>Pendahuluan</a:t>
            </a:r>
            <a:endParaRPr lang="en-US" sz="3200" b="1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36B52-A1F6-213F-6A35-9BE16050F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1639061"/>
            <a:ext cx="7293023" cy="2059839"/>
          </a:xfrm>
        </p:spPr>
        <p:txBody>
          <a:bodyPr anchor="ctr">
            <a:normAutofit/>
          </a:bodyPr>
          <a:lstStyle/>
          <a:p>
            <a:r>
              <a:rPr lang="en-US" sz="1700" dirty="0" err="1"/>
              <a:t>Banjir</a:t>
            </a:r>
            <a:r>
              <a:rPr lang="en-US" sz="1700" dirty="0"/>
              <a:t> </a:t>
            </a:r>
            <a:r>
              <a:rPr lang="en-US" sz="1700" dirty="0" err="1"/>
              <a:t>merupakan</a:t>
            </a:r>
            <a:r>
              <a:rPr lang="en-US" sz="1700" dirty="0"/>
              <a:t> </a:t>
            </a:r>
            <a:r>
              <a:rPr lang="en-US" sz="1700" dirty="0" err="1"/>
              <a:t>bencana</a:t>
            </a:r>
            <a:r>
              <a:rPr lang="en-US" sz="1700" dirty="0"/>
              <a:t> </a:t>
            </a:r>
            <a:r>
              <a:rPr lang="en-US" sz="1700" dirty="0" err="1"/>
              <a:t>alam</a:t>
            </a:r>
            <a:r>
              <a:rPr lang="en-US" sz="1700" dirty="0"/>
              <a:t> yang </a:t>
            </a:r>
            <a:r>
              <a:rPr lang="en-US" sz="1700" dirty="0" err="1"/>
              <a:t>dapat</a:t>
            </a:r>
            <a:r>
              <a:rPr lang="en-US" sz="1700" dirty="0"/>
              <a:t> </a:t>
            </a:r>
            <a:r>
              <a:rPr lang="en-US" sz="1700" dirty="0" err="1"/>
              <a:t>menyebabkan</a:t>
            </a:r>
            <a:r>
              <a:rPr lang="en-US" sz="1700" dirty="0"/>
              <a:t> korban </a:t>
            </a:r>
            <a:r>
              <a:rPr lang="en-US" sz="1700" dirty="0" err="1"/>
              <a:t>jiwa</a:t>
            </a:r>
            <a:r>
              <a:rPr lang="en-US" sz="1700" dirty="0"/>
              <a:t> dan </a:t>
            </a:r>
            <a:r>
              <a:rPr lang="en-US" sz="1700" dirty="0" err="1"/>
              <a:t>kerusakan</a:t>
            </a:r>
            <a:r>
              <a:rPr lang="en-US" sz="1700" dirty="0"/>
              <a:t> </a:t>
            </a:r>
            <a:r>
              <a:rPr lang="en-US" sz="1700" dirty="0" err="1"/>
              <a:t>pemukiman</a:t>
            </a:r>
            <a:r>
              <a:rPr lang="en-US" sz="1700" dirty="0"/>
              <a:t>.</a:t>
            </a:r>
          </a:p>
          <a:p>
            <a:r>
              <a:rPr lang="en-US" sz="1700" dirty="0"/>
              <a:t>Area </a:t>
            </a:r>
            <a:r>
              <a:rPr lang="en-US" sz="1700" dirty="0" err="1"/>
              <a:t>sekitar</a:t>
            </a:r>
            <a:r>
              <a:rPr lang="en-US" sz="1700" dirty="0"/>
              <a:t> </a:t>
            </a:r>
            <a:r>
              <a:rPr lang="en-US" sz="1700" dirty="0" err="1"/>
              <a:t>aliran</a:t>
            </a:r>
            <a:r>
              <a:rPr lang="en-US" sz="1700" dirty="0"/>
              <a:t> </a:t>
            </a:r>
            <a:r>
              <a:rPr lang="en-US" sz="1700" dirty="0" err="1"/>
              <a:t>sungai</a:t>
            </a:r>
            <a:r>
              <a:rPr lang="en-US" sz="1700" dirty="0"/>
              <a:t> </a:t>
            </a:r>
            <a:r>
              <a:rPr lang="en-US" sz="1700" dirty="0" err="1"/>
              <a:t>Citarum</a:t>
            </a:r>
            <a:r>
              <a:rPr lang="en-US" sz="1700" dirty="0"/>
              <a:t> </a:t>
            </a:r>
            <a:r>
              <a:rPr lang="en-US" sz="1700" dirty="0" err="1"/>
              <a:t>ditemukan</a:t>
            </a:r>
            <a:r>
              <a:rPr lang="en-US" sz="1700" dirty="0"/>
              <a:t> </a:t>
            </a:r>
            <a:r>
              <a:rPr lang="en-US" sz="1700" dirty="0" err="1"/>
              <a:t>memiliki</a:t>
            </a:r>
            <a:r>
              <a:rPr lang="en-US" sz="1700" dirty="0"/>
              <a:t> </a:t>
            </a:r>
            <a:r>
              <a:rPr lang="en-US" sz="1700" dirty="0" err="1"/>
              <a:t>kerentanan</a:t>
            </a:r>
            <a:r>
              <a:rPr lang="en-US" sz="1700" dirty="0"/>
              <a:t> </a:t>
            </a:r>
            <a:r>
              <a:rPr lang="en-US" sz="1700" dirty="0" err="1"/>
              <a:t>terhadap</a:t>
            </a:r>
            <a:r>
              <a:rPr lang="en-US" sz="1700" dirty="0"/>
              <a:t> </a:t>
            </a:r>
            <a:r>
              <a:rPr lang="en-US" sz="1700" dirty="0" err="1"/>
              <a:t>banjir</a:t>
            </a:r>
            <a:r>
              <a:rPr lang="en-US" sz="1700" dirty="0"/>
              <a:t> </a:t>
            </a:r>
            <a:r>
              <a:rPr lang="en-US" sz="1700" dirty="0" err="1"/>
              <a:t>dari</a:t>
            </a:r>
            <a:r>
              <a:rPr lang="en-US" sz="1700" dirty="0"/>
              <a:t> </a:t>
            </a:r>
            <a:r>
              <a:rPr lang="en-US" sz="1700" dirty="0" err="1"/>
              <a:t>luapan</a:t>
            </a:r>
            <a:r>
              <a:rPr lang="en-US" sz="1700" dirty="0"/>
              <a:t> </a:t>
            </a:r>
            <a:r>
              <a:rPr lang="en-US" sz="1700" dirty="0" err="1"/>
              <a:t>sungai</a:t>
            </a:r>
            <a:r>
              <a:rPr lang="en-US" sz="1700" dirty="0"/>
              <a:t>.</a:t>
            </a:r>
          </a:p>
          <a:p>
            <a:r>
              <a:rPr lang="en-US" sz="1700" dirty="0" err="1"/>
              <a:t>Pemantauan</a:t>
            </a:r>
            <a:r>
              <a:rPr lang="en-US" sz="1700" dirty="0"/>
              <a:t> </a:t>
            </a:r>
            <a:r>
              <a:rPr lang="en-US" sz="1700" dirty="0" err="1"/>
              <a:t>ketinggian</a:t>
            </a:r>
            <a:r>
              <a:rPr lang="en-US" sz="1700" dirty="0"/>
              <a:t> </a:t>
            </a:r>
            <a:r>
              <a:rPr lang="en-US" sz="1700" dirty="0" err="1"/>
              <a:t>permukaan</a:t>
            </a:r>
            <a:r>
              <a:rPr lang="en-US" sz="1700" dirty="0"/>
              <a:t> </a:t>
            </a:r>
            <a:r>
              <a:rPr lang="en-US" sz="1700" dirty="0" err="1"/>
              <a:t>sungai</a:t>
            </a:r>
            <a:r>
              <a:rPr lang="en-US" sz="1700" dirty="0"/>
              <a:t> dan </a:t>
            </a:r>
            <a:r>
              <a:rPr lang="en-US" sz="1700" dirty="0" err="1"/>
              <a:t>curah</a:t>
            </a:r>
            <a:r>
              <a:rPr lang="en-US" sz="1700" dirty="0"/>
              <a:t> </a:t>
            </a:r>
            <a:r>
              <a:rPr lang="en-US" sz="1700" dirty="0" err="1"/>
              <a:t>hujan</a:t>
            </a:r>
            <a:r>
              <a:rPr lang="en-US" sz="1700" dirty="0"/>
              <a:t> </a:t>
            </a:r>
            <a:r>
              <a:rPr lang="en-US" sz="1700" dirty="0" err="1"/>
              <a:t>berperan</a:t>
            </a:r>
            <a:r>
              <a:rPr lang="en-US" sz="1700" dirty="0"/>
              <a:t> </a:t>
            </a:r>
            <a:r>
              <a:rPr lang="en-US" sz="1700" dirty="0" err="1"/>
              <a:t>penting</a:t>
            </a:r>
            <a:r>
              <a:rPr lang="en-US" sz="1700" dirty="0"/>
              <a:t> </a:t>
            </a:r>
            <a:r>
              <a:rPr lang="en-US" sz="1700" dirty="0" err="1"/>
              <a:t>dalam</a:t>
            </a:r>
            <a:r>
              <a:rPr lang="en-US" sz="1700" dirty="0"/>
              <a:t> </a:t>
            </a:r>
            <a:r>
              <a:rPr lang="en-US" sz="1700" dirty="0" err="1"/>
              <a:t>membangun</a:t>
            </a:r>
            <a:r>
              <a:rPr lang="en-US" sz="1700" dirty="0"/>
              <a:t> </a:t>
            </a:r>
            <a:r>
              <a:rPr lang="en-US" sz="1700" dirty="0" err="1"/>
              <a:t>sistem</a:t>
            </a:r>
            <a:r>
              <a:rPr lang="en-US" sz="1700" dirty="0"/>
              <a:t> </a:t>
            </a:r>
            <a:r>
              <a:rPr lang="en-US" sz="1700" dirty="0" err="1"/>
              <a:t>peringatan</a:t>
            </a:r>
            <a:r>
              <a:rPr lang="en-US" sz="1700" dirty="0"/>
              <a:t> </a:t>
            </a:r>
            <a:r>
              <a:rPr lang="en-US" sz="1700" dirty="0" err="1"/>
              <a:t>guna</a:t>
            </a:r>
            <a:r>
              <a:rPr lang="en-US" sz="1700" dirty="0"/>
              <a:t> </a:t>
            </a:r>
            <a:r>
              <a:rPr lang="en-US" sz="1700" dirty="0" err="1"/>
              <a:t>meningkatkan</a:t>
            </a:r>
            <a:r>
              <a:rPr lang="en-US" sz="1700" dirty="0"/>
              <a:t> </a:t>
            </a:r>
            <a:r>
              <a:rPr lang="en-US" sz="1700" dirty="0" err="1"/>
              <a:t>ketahanan</a:t>
            </a:r>
            <a:r>
              <a:rPr lang="en-US" sz="1700" dirty="0"/>
              <a:t> </a:t>
            </a:r>
            <a:r>
              <a:rPr lang="en-US" sz="1700" dirty="0" err="1"/>
              <a:t>masyarakat</a:t>
            </a:r>
            <a:r>
              <a:rPr lang="en-US" sz="1700" dirty="0"/>
              <a:t> </a:t>
            </a:r>
            <a:r>
              <a:rPr lang="en-US" sz="1700" dirty="0" err="1"/>
              <a:t>tersebut</a:t>
            </a:r>
            <a:r>
              <a:rPr lang="en-US" sz="1700" dirty="0"/>
              <a:t> </a:t>
            </a:r>
            <a:r>
              <a:rPr lang="en-US" sz="1700" dirty="0" err="1"/>
              <a:t>terhadap</a:t>
            </a:r>
            <a:r>
              <a:rPr lang="en-US" sz="1700" dirty="0"/>
              <a:t> </a:t>
            </a:r>
            <a:r>
              <a:rPr lang="en-US" sz="1700" dirty="0" err="1"/>
              <a:t>bencana</a:t>
            </a:r>
            <a:r>
              <a:rPr lang="en-US" sz="1700" dirty="0"/>
              <a:t> </a:t>
            </a:r>
            <a:r>
              <a:rPr lang="en-US" sz="1700" dirty="0" err="1"/>
              <a:t>banjir</a:t>
            </a:r>
            <a:r>
              <a:rPr lang="en-US" sz="1700" dirty="0"/>
              <a:t>.</a:t>
            </a:r>
          </a:p>
        </p:txBody>
      </p:sp>
      <p:pic>
        <p:nvPicPr>
          <p:cNvPr id="20" name="Picture 19" descr="A flooded street and buildings&#10;&#10;Description automatically generated">
            <a:extLst>
              <a:ext uri="{FF2B5EF4-FFF2-40B4-BE49-F238E27FC236}">
                <a16:creationId xmlns:a16="http://schemas.microsoft.com/office/drawing/2014/main" id="{F9534197-DA67-D59F-BFB2-A37BC4947B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40529"/>
            <a:ext cx="4583138" cy="2568803"/>
          </a:xfrm>
          <a:prstGeom prst="rect">
            <a:avLst/>
          </a:prstGeom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DA99B75-D8D1-055D-790B-046EBE7EC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0C76-61B8-4F75-968B-505003DAB565}" type="slidenum">
              <a:rPr lang="en-US" smtClean="0"/>
              <a:t>3</a:t>
            </a:fld>
            <a:endParaRPr lang="en-US"/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AB6EB34A-FECE-3B9F-4588-D66BA3AC44AB}"/>
              </a:ext>
            </a:extLst>
          </p:cNvPr>
          <p:cNvSpPr txBox="1">
            <a:spLocks/>
          </p:cNvSpPr>
          <p:nvPr/>
        </p:nvSpPr>
        <p:spPr>
          <a:xfrm>
            <a:off x="-12430" y="6323665"/>
            <a:ext cx="7436812" cy="58027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/>
              <a:t>Gambar 1. </a:t>
            </a:r>
            <a:r>
              <a:rPr lang="en-US" sz="1200" b="1" dirty="0"/>
              <a:t>(left)</a:t>
            </a:r>
            <a:r>
              <a:rPr lang="en-US" sz="1200" dirty="0"/>
              <a:t> </a:t>
            </a:r>
            <a:r>
              <a:rPr lang="en-US" sz="1200" dirty="0" err="1"/>
              <a:t>Banjir</a:t>
            </a:r>
            <a:r>
              <a:rPr lang="en-US" sz="1200" dirty="0"/>
              <a:t> </a:t>
            </a:r>
            <a:r>
              <a:rPr lang="en-US" sz="1200" dirty="0" err="1"/>
              <a:t>Dayeuhkolot</a:t>
            </a:r>
            <a:r>
              <a:rPr lang="en-US" sz="1200" dirty="0"/>
              <a:t>  https://jabar.suara.com/read/2019/12/18/105721/banjir-besar-jalan-di-baleendah-bandung-terputus. </a:t>
            </a:r>
            <a:r>
              <a:rPr lang="en-US" sz="1200" b="1" dirty="0"/>
              <a:t>(right) </a:t>
            </a:r>
            <a:r>
              <a:rPr lang="en-US" sz="1200" dirty="0"/>
              <a:t>Sungai </a:t>
            </a:r>
            <a:r>
              <a:rPr lang="en-US" sz="1200" dirty="0" err="1"/>
              <a:t>Citarum</a:t>
            </a:r>
            <a:r>
              <a:rPr lang="en-US" sz="1200" dirty="0"/>
              <a:t> https://tirto.id/sejarah-pengelolaan-sungai-citarum-semrawutnya-program-pemerintah-dhnt.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E873EA0-E69E-4F13-869A-3A8A7D4419A8}"/>
              </a:ext>
            </a:extLst>
          </p:cNvPr>
          <p:cNvSpPr/>
          <p:nvPr/>
        </p:nvSpPr>
        <p:spPr>
          <a:xfrm>
            <a:off x="7934015" y="109497"/>
            <a:ext cx="979129" cy="97912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9" name="Picture 18" descr="A blue and white logo&#10;&#10;Description automatically generated">
            <a:extLst>
              <a:ext uri="{FF2B5EF4-FFF2-40B4-BE49-F238E27FC236}">
                <a16:creationId xmlns:a16="http://schemas.microsoft.com/office/drawing/2014/main" id="{90174173-6FD6-45FB-AB94-61ED24B46E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080" y="154082"/>
            <a:ext cx="889000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592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6857BE-D1AC-8057-36C8-4AA1AE94E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rgbClr val="FFFFFF"/>
                </a:solidFill>
              </a:rPr>
              <a:t>Pendahuluan</a:t>
            </a:r>
            <a:endParaRPr lang="en-US" sz="3200" b="1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0A0FC-2B78-246F-C33D-FEDF03C62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dirty="0" err="1"/>
              <a:t>Sehingga</a:t>
            </a:r>
            <a:r>
              <a:rPr lang="en-US" sz="1700" dirty="0"/>
              <a:t> </a:t>
            </a:r>
            <a:r>
              <a:rPr lang="en-US" sz="1700" dirty="0" err="1"/>
              <a:t>tujuan</a:t>
            </a:r>
            <a:r>
              <a:rPr lang="en-US" sz="1700" dirty="0"/>
              <a:t> </a:t>
            </a:r>
            <a:r>
              <a:rPr lang="en-US" sz="1700" dirty="0" err="1"/>
              <a:t>dari</a:t>
            </a:r>
            <a:r>
              <a:rPr lang="en-US" sz="1700" dirty="0"/>
              <a:t> </a:t>
            </a:r>
            <a:r>
              <a:rPr lang="en-US" sz="1700" dirty="0" err="1"/>
              <a:t>penelitian</a:t>
            </a:r>
            <a:r>
              <a:rPr lang="en-US" sz="1700" dirty="0"/>
              <a:t> </a:t>
            </a:r>
            <a:r>
              <a:rPr lang="en-US" sz="1700" dirty="0" err="1"/>
              <a:t>ini</a:t>
            </a:r>
            <a:r>
              <a:rPr lang="en-US" sz="1700" dirty="0"/>
              <a:t> </a:t>
            </a:r>
            <a:r>
              <a:rPr lang="en-US" sz="1700" dirty="0" err="1"/>
              <a:t>adalah</a:t>
            </a:r>
            <a:r>
              <a:rPr lang="en-US" sz="1700" dirty="0"/>
              <a:t> </a:t>
            </a:r>
            <a:r>
              <a:rPr lang="en-US" sz="1700" dirty="0" err="1"/>
              <a:t>sebagai</a:t>
            </a:r>
            <a:r>
              <a:rPr lang="en-US" sz="1700" dirty="0"/>
              <a:t> </a:t>
            </a:r>
            <a:r>
              <a:rPr lang="en-US" sz="1700" dirty="0" err="1"/>
              <a:t>berikut</a:t>
            </a:r>
            <a:r>
              <a:rPr lang="en-US" sz="1700" dirty="0"/>
              <a:t>:</a:t>
            </a:r>
          </a:p>
          <a:p>
            <a:r>
              <a:rPr lang="en-US" sz="1700" dirty="0" err="1"/>
              <a:t>Merancang</a:t>
            </a:r>
            <a:r>
              <a:rPr lang="en-US" sz="1700" dirty="0"/>
              <a:t> dan </a:t>
            </a:r>
            <a:r>
              <a:rPr lang="en-US" sz="1700" dirty="0" err="1"/>
              <a:t>membangun</a:t>
            </a:r>
            <a:r>
              <a:rPr lang="en-US" sz="1700" dirty="0"/>
              <a:t> </a:t>
            </a:r>
            <a:r>
              <a:rPr lang="en-US" sz="1700" dirty="0" err="1"/>
              <a:t>sistem</a:t>
            </a:r>
            <a:r>
              <a:rPr lang="en-US" sz="1700" dirty="0"/>
              <a:t> </a:t>
            </a:r>
            <a:r>
              <a:rPr lang="en-US" sz="1700" dirty="0" err="1"/>
              <a:t>pengukuran</a:t>
            </a:r>
            <a:r>
              <a:rPr lang="en-US" sz="1700" dirty="0"/>
              <a:t> </a:t>
            </a:r>
            <a:r>
              <a:rPr lang="en-US" sz="1700" dirty="0" err="1"/>
              <a:t>curah</a:t>
            </a:r>
            <a:r>
              <a:rPr lang="en-US" sz="1700" dirty="0"/>
              <a:t> </a:t>
            </a:r>
            <a:r>
              <a:rPr lang="en-US" sz="1700" dirty="0" err="1"/>
              <a:t>hujan</a:t>
            </a:r>
            <a:r>
              <a:rPr lang="en-US" sz="1700" dirty="0"/>
              <a:t> di Sungai </a:t>
            </a:r>
            <a:r>
              <a:rPr lang="en-US" sz="1700" dirty="0" err="1"/>
              <a:t>Citarum</a:t>
            </a:r>
            <a:r>
              <a:rPr lang="en-US" sz="1700" dirty="0"/>
              <a:t>.</a:t>
            </a:r>
          </a:p>
          <a:p>
            <a:r>
              <a:rPr lang="en-US" sz="1700" dirty="0" err="1"/>
              <a:t>Merancang</a:t>
            </a:r>
            <a:r>
              <a:rPr lang="en-US" sz="1700" dirty="0"/>
              <a:t> </a:t>
            </a:r>
            <a:r>
              <a:rPr lang="en-US" sz="1700" dirty="0" err="1"/>
              <a:t>sistem</a:t>
            </a:r>
            <a:r>
              <a:rPr lang="en-US" sz="1700" dirty="0"/>
              <a:t> </a:t>
            </a:r>
            <a:r>
              <a:rPr lang="en-US" sz="1700" dirty="0" err="1"/>
              <a:t>komunikasi</a:t>
            </a:r>
            <a:r>
              <a:rPr lang="en-US" sz="1700" dirty="0"/>
              <a:t> data </a:t>
            </a:r>
            <a:r>
              <a:rPr lang="en-US" sz="1700" dirty="0" err="1"/>
              <a:t>pengukuran</a:t>
            </a:r>
            <a:r>
              <a:rPr lang="en-US" sz="1700" dirty="0"/>
              <a:t> </a:t>
            </a:r>
            <a:r>
              <a:rPr lang="en-US" sz="1700" dirty="0" err="1"/>
              <a:t>curah</a:t>
            </a:r>
            <a:r>
              <a:rPr lang="en-US" sz="1700" dirty="0"/>
              <a:t> </a:t>
            </a:r>
            <a:r>
              <a:rPr lang="en-US" sz="1700" dirty="0" err="1"/>
              <a:t>hujan</a:t>
            </a:r>
            <a:r>
              <a:rPr lang="en-US" sz="1700" dirty="0"/>
              <a:t> di Sungai </a:t>
            </a:r>
            <a:r>
              <a:rPr lang="en-US" sz="1700" dirty="0" err="1"/>
              <a:t>Citarum</a:t>
            </a:r>
            <a:endParaRPr lang="en-US" sz="1700" dirty="0"/>
          </a:p>
          <a:p>
            <a:r>
              <a:rPr lang="en-US" sz="1700" dirty="0" err="1"/>
              <a:t>Memodelkan</a:t>
            </a:r>
            <a:r>
              <a:rPr lang="en-US" sz="1700" dirty="0"/>
              <a:t> </a:t>
            </a:r>
            <a:r>
              <a:rPr lang="en-US" sz="1700" dirty="0" err="1"/>
              <a:t>keberpengaruhan</a:t>
            </a:r>
            <a:r>
              <a:rPr lang="en-US" sz="1700" dirty="0"/>
              <a:t> </a:t>
            </a:r>
            <a:r>
              <a:rPr lang="en-US" sz="1700" dirty="0" err="1"/>
              <a:t>curah</a:t>
            </a:r>
            <a:r>
              <a:rPr lang="en-US" sz="1700" dirty="0"/>
              <a:t> </a:t>
            </a:r>
            <a:r>
              <a:rPr lang="en-US" sz="1700" dirty="0" err="1"/>
              <a:t>hujan</a:t>
            </a:r>
            <a:r>
              <a:rPr lang="en-US" sz="1700" dirty="0"/>
              <a:t> </a:t>
            </a:r>
            <a:r>
              <a:rPr lang="en-US" sz="1700" dirty="0" err="1"/>
              <a:t>sepanjang</a:t>
            </a:r>
            <a:r>
              <a:rPr lang="en-US" sz="1700" dirty="0"/>
              <a:t> </a:t>
            </a:r>
            <a:r>
              <a:rPr lang="en-US" sz="1700" dirty="0" err="1"/>
              <a:t>sungai</a:t>
            </a:r>
            <a:r>
              <a:rPr lang="en-US" sz="1700" dirty="0"/>
              <a:t> </a:t>
            </a:r>
            <a:r>
              <a:rPr lang="en-US" sz="1700" dirty="0" err="1"/>
              <a:t>Citarum</a:t>
            </a:r>
            <a:r>
              <a:rPr lang="en-US" sz="1700" dirty="0"/>
              <a:t> </a:t>
            </a:r>
            <a:r>
              <a:rPr lang="en-US" sz="1700" dirty="0" err="1"/>
              <a:t>terhadap</a:t>
            </a:r>
            <a:r>
              <a:rPr lang="en-US" sz="1700" dirty="0"/>
              <a:t> </a:t>
            </a:r>
            <a:r>
              <a:rPr lang="en-US" sz="1700" dirty="0" err="1"/>
              <a:t>potensi</a:t>
            </a:r>
            <a:r>
              <a:rPr lang="en-US" sz="1700" dirty="0"/>
              <a:t> </a:t>
            </a:r>
            <a:r>
              <a:rPr lang="en-US" sz="1700" dirty="0" err="1"/>
              <a:t>banjir</a:t>
            </a:r>
            <a:r>
              <a:rPr lang="en-US" sz="1700" dirty="0"/>
              <a:t> </a:t>
            </a:r>
            <a:r>
              <a:rPr lang="en-US" sz="1700" dirty="0" err="1"/>
              <a:t>akubat</a:t>
            </a:r>
            <a:r>
              <a:rPr lang="en-US" sz="1700" dirty="0"/>
              <a:t> </a:t>
            </a:r>
            <a:r>
              <a:rPr lang="en-US" sz="1700" dirty="0" err="1"/>
              <a:t>luapan</a:t>
            </a:r>
            <a:r>
              <a:rPr lang="en-US" sz="1700" dirty="0"/>
              <a:t> </a:t>
            </a:r>
            <a:r>
              <a:rPr lang="en-US" sz="1700" dirty="0" err="1"/>
              <a:t>sungai</a:t>
            </a:r>
            <a:r>
              <a:rPr lang="en-US" sz="1700" dirty="0"/>
              <a:t> di </a:t>
            </a:r>
            <a:r>
              <a:rPr lang="en-US" sz="1700" dirty="0" err="1"/>
              <a:t>kecamatan</a:t>
            </a:r>
            <a:r>
              <a:rPr lang="en-US" sz="1700" dirty="0"/>
              <a:t> </a:t>
            </a:r>
            <a:r>
              <a:rPr lang="en-US" sz="1700" dirty="0" err="1"/>
              <a:t>Dayeuhkolot</a:t>
            </a:r>
            <a:r>
              <a:rPr lang="en-US" sz="1700" dirty="0"/>
              <a:t>.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2EC748B2-7AB2-3764-CECE-A263BCE50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0C76-61B8-4F75-968B-505003DAB565}" type="slidenum">
              <a:rPr lang="en-US" smtClean="0"/>
              <a:t>4</a:t>
            </a:fld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5A4F41E-18C3-473F-B960-43983F985E09}"/>
              </a:ext>
            </a:extLst>
          </p:cNvPr>
          <p:cNvSpPr/>
          <p:nvPr/>
        </p:nvSpPr>
        <p:spPr>
          <a:xfrm>
            <a:off x="7934015" y="109497"/>
            <a:ext cx="979129" cy="97912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4" name="Picture 13" descr="A blue and white logo&#10;&#10;Description automatically generated">
            <a:extLst>
              <a:ext uri="{FF2B5EF4-FFF2-40B4-BE49-F238E27FC236}">
                <a16:creationId xmlns:a16="http://schemas.microsoft.com/office/drawing/2014/main" id="{4A7F70C8-3E89-46BE-9E46-E978BC1073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080" y="154082"/>
            <a:ext cx="889000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362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8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9144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140040" y="-1133192"/>
            <a:ext cx="6858001" cy="9124385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1072" y="0"/>
            <a:ext cx="4572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3"/>
            <a:ext cx="9137153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784" y="4049"/>
            <a:ext cx="7662432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9249BE-CAEB-0732-A1C1-B9CDCD2B7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0019" y="1030406"/>
            <a:ext cx="6110785" cy="3081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200" b="1" dirty="0">
                <a:solidFill>
                  <a:srgbClr val="FFFFFF"/>
                </a:solidFill>
              </a:rPr>
              <a:t>DASAR TEORI</a:t>
            </a:r>
            <a:endParaRPr lang="en-US" sz="42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286234-1F0D-6A6F-51C1-410FFE602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78240" y="6455664"/>
            <a:ext cx="33604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4CFF0C76-61B8-4F75-968B-505003DAB565}" type="slidenum">
              <a:rPr lang="en-US" sz="1000">
                <a:solidFill>
                  <a:srgbClr val="FFFFFF"/>
                </a:solidFill>
              </a:rPr>
              <a:pPr defTabSz="914400">
                <a:spcAft>
                  <a:spcPts val="600"/>
                </a:spcAft>
              </a:pPr>
              <a:t>5</a:t>
            </a:fld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F259056-BBA9-4E1D-BCF4-30174E911DE4}"/>
              </a:ext>
            </a:extLst>
          </p:cNvPr>
          <p:cNvSpPr/>
          <p:nvPr/>
        </p:nvSpPr>
        <p:spPr>
          <a:xfrm>
            <a:off x="7934015" y="109497"/>
            <a:ext cx="979129" cy="97912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5" name="Picture 14" descr="A blue and white logo&#10;&#10;Description automatically generated">
            <a:extLst>
              <a:ext uri="{FF2B5EF4-FFF2-40B4-BE49-F238E27FC236}">
                <a16:creationId xmlns:a16="http://schemas.microsoft.com/office/drawing/2014/main" id="{204EC67A-75BD-42A5-AF52-A4FC636A80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080" y="154082"/>
            <a:ext cx="889000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385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61FE00-89BE-DC8D-E0F9-BF23F955E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 b="1" dirty="0">
                <a:solidFill>
                  <a:srgbClr val="FFFFFF"/>
                </a:solidFill>
              </a:rPr>
              <a:t>Internet of Things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6B6EFC-9EB6-D7B7-094D-3A2D07110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pPr lvl="0"/>
            <a:r>
              <a:rPr lang="en-US" sz="1700" dirty="0" err="1"/>
              <a:t>Sistem</a:t>
            </a:r>
            <a:r>
              <a:rPr lang="en-US" sz="1700" dirty="0"/>
              <a:t> </a:t>
            </a:r>
            <a:r>
              <a:rPr lang="en-US" sz="1700" dirty="0" err="1"/>
              <a:t>peringatan</a:t>
            </a:r>
            <a:r>
              <a:rPr lang="en-US" sz="1700" dirty="0"/>
              <a:t> </a:t>
            </a:r>
            <a:r>
              <a:rPr lang="en-US" sz="1700" dirty="0" err="1"/>
              <a:t>banjir</a:t>
            </a:r>
            <a:r>
              <a:rPr lang="en-US" sz="1700" dirty="0"/>
              <a:t> yang </a:t>
            </a:r>
            <a:r>
              <a:rPr lang="en-US" sz="1700" dirty="0" err="1"/>
              <a:t>dibangun</a:t>
            </a:r>
            <a:r>
              <a:rPr lang="en-US" sz="1700" dirty="0"/>
              <a:t> </a:t>
            </a:r>
            <a:r>
              <a:rPr lang="en-US" sz="1700" dirty="0" err="1"/>
              <a:t>memanfaatkan</a:t>
            </a:r>
            <a:r>
              <a:rPr lang="en-US" sz="1700" dirty="0"/>
              <a:t> Internet of Things (IoT).</a:t>
            </a:r>
          </a:p>
          <a:p>
            <a:pPr lvl="0"/>
            <a:r>
              <a:rPr lang="en-US" sz="1700" dirty="0"/>
              <a:t>IoT </a:t>
            </a:r>
            <a:r>
              <a:rPr lang="en-US" sz="1700" dirty="0" err="1"/>
              <a:t>merupakan</a:t>
            </a:r>
            <a:r>
              <a:rPr lang="en-US" sz="1700" dirty="0"/>
              <a:t> </a:t>
            </a:r>
            <a:r>
              <a:rPr lang="en-US" sz="1700" dirty="0" err="1"/>
              <a:t>sistem</a:t>
            </a:r>
            <a:r>
              <a:rPr lang="en-US" sz="1700" dirty="0"/>
              <a:t> yang </a:t>
            </a:r>
            <a:r>
              <a:rPr lang="en-US" sz="1700" dirty="0" err="1"/>
              <a:t>memetakan</a:t>
            </a:r>
            <a:r>
              <a:rPr lang="en-US" sz="1700" dirty="0"/>
              <a:t> </a:t>
            </a:r>
            <a:r>
              <a:rPr lang="en-US" sz="1700" dirty="0" err="1"/>
              <a:t>perangkat</a:t>
            </a:r>
            <a:r>
              <a:rPr lang="en-US" sz="1700" dirty="0"/>
              <a:t> di dunia </a:t>
            </a:r>
            <a:r>
              <a:rPr lang="en-US" sz="1700" dirty="0" err="1"/>
              <a:t>nyata</a:t>
            </a:r>
            <a:r>
              <a:rPr lang="en-US" sz="1700" dirty="0"/>
              <a:t> pada dunia maya.</a:t>
            </a:r>
          </a:p>
          <a:p>
            <a:pPr lvl="0"/>
            <a:r>
              <a:rPr lang="en-US" sz="1700" dirty="0"/>
              <a:t>IoT </a:t>
            </a:r>
            <a:r>
              <a:rPr lang="en-US" sz="1700" dirty="0" err="1"/>
              <a:t>mempermudah</a:t>
            </a:r>
            <a:r>
              <a:rPr lang="en-US" sz="1700" dirty="0"/>
              <a:t> </a:t>
            </a:r>
            <a:r>
              <a:rPr lang="en-US" sz="1700" dirty="0" err="1"/>
              <a:t>pengelolaan</a:t>
            </a:r>
            <a:r>
              <a:rPr lang="en-US" sz="1700" dirty="0"/>
              <a:t> </a:t>
            </a:r>
            <a:r>
              <a:rPr lang="en-US" sz="1700" dirty="0" err="1"/>
              <a:t>beragam</a:t>
            </a:r>
            <a:r>
              <a:rPr lang="en-US" sz="1700" dirty="0"/>
              <a:t> data </a:t>
            </a:r>
            <a:r>
              <a:rPr lang="en-US" sz="1700" dirty="0" err="1"/>
              <a:t>dari</a:t>
            </a:r>
            <a:r>
              <a:rPr lang="en-US" sz="1700" dirty="0"/>
              <a:t> </a:t>
            </a:r>
            <a:r>
              <a:rPr lang="en-US" sz="1700" dirty="0" err="1"/>
              <a:t>berbagai</a:t>
            </a:r>
            <a:r>
              <a:rPr lang="en-US" sz="1700" dirty="0"/>
              <a:t> </a:t>
            </a:r>
            <a:r>
              <a:rPr lang="en-US" sz="1700" dirty="0" err="1"/>
              <a:t>perangkat</a:t>
            </a:r>
            <a:r>
              <a:rPr lang="en-US" sz="1700" dirty="0"/>
              <a:t> yang </a:t>
            </a:r>
            <a:r>
              <a:rPr lang="en-US" sz="1700" dirty="0" err="1"/>
              <a:t>memanfaatkan</a:t>
            </a:r>
            <a:r>
              <a:rPr lang="en-US" sz="1700" dirty="0"/>
              <a:t> </a:t>
            </a:r>
            <a:r>
              <a:rPr lang="en-US" sz="1700" dirty="0" err="1"/>
              <a:t>berbagai</a:t>
            </a:r>
            <a:r>
              <a:rPr lang="en-US" sz="1700" dirty="0"/>
              <a:t> </a:t>
            </a:r>
            <a:r>
              <a:rPr lang="en-US" sz="1700" dirty="0" err="1"/>
              <a:t>protokol</a:t>
            </a:r>
            <a:r>
              <a:rPr lang="en-US" sz="1700" dirty="0"/>
              <a:t> </a:t>
            </a:r>
            <a:r>
              <a:rPr lang="en-US" sz="1700" dirty="0" err="1"/>
              <a:t>komunikasi</a:t>
            </a:r>
            <a:r>
              <a:rPr lang="en-US" sz="1700" dirty="0"/>
              <a:t>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FA5999-4A90-BF2B-ECC2-730EFDBF0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0C76-61B8-4F75-968B-505003DAB565}" type="slidenum">
              <a:rPr lang="en-US" smtClean="0"/>
              <a:t>6</a:t>
            </a:fld>
            <a:endParaRPr lang="en-US"/>
          </a:p>
        </p:txBody>
      </p:sp>
      <p:pic>
        <p:nvPicPr>
          <p:cNvPr id="13" name="Picture 12" descr="A blue and white logo&#10;&#10;Description automatically generated">
            <a:extLst>
              <a:ext uri="{FF2B5EF4-FFF2-40B4-BE49-F238E27FC236}">
                <a16:creationId xmlns:a16="http://schemas.microsoft.com/office/drawing/2014/main" id="{D0148218-FD7A-4670-A95B-5DD32F47F7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080" y="154082"/>
            <a:ext cx="889000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951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9229FA-DDF5-3C24-5CC9-AE9228C9C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38CA0D7B-FD3F-04A2-1CF2-B028B010B5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525571-0F85-8892-A779-021F286346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41E0F4-1709-1A3D-FA23-95A2884A52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197F8B-08D7-6E21-6C0B-128628107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BB1BAE3-5323-FDA3-354E-BE84BDDD0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FB8155-BE79-3F23-81DC-84A03575E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rgbClr val="FFFFFF"/>
                </a:solidFill>
              </a:rPr>
              <a:t>Pengukuran</a:t>
            </a:r>
            <a:r>
              <a:rPr lang="en-US" sz="3200" b="1" dirty="0">
                <a:solidFill>
                  <a:srgbClr val="FFFFFF"/>
                </a:solidFill>
              </a:rPr>
              <a:t> Curah </a:t>
            </a:r>
            <a:r>
              <a:rPr lang="en-US" sz="3200" b="1" dirty="0" err="1">
                <a:solidFill>
                  <a:srgbClr val="FFFFFF"/>
                </a:solidFill>
              </a:rPr>
              <a:t>Hujan</a:t>
            </a:r>
            <a:endParaRPr lang="en-US" sz="3200" b="1" dirty="0">
              <a:solidFill>
                <a:srgbClr val="FFFFFF"/>
              </a:solidFill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4240BED-B11F-C618-4ADC-8BE947F47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0C76-61B8-4F75-968B-505003DAB565}" type="slidenum">
              <a:rPr lang="en-US" smtClean="0"/>
              <a:t>7</a:t>
            </a:fld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E4D755C-948D-4502-BDF9-BC3784A0EC23}"/>
              </a:ext>
            </a:extLst>
          </p:cNvPr>
          <p:cNvSpPr/>
          <p:nvPr/>
        </p:nvSpPr>
        <p:spPr>
          <a:xfrm>
            <a:off x="7934015" y="109497"/>
            <a:ext cx="979129" cy="97912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4" name="Picture 13" descr="A blue and white logo&#10;&#10;Description automatically generated">
            <a:extLst>
              <a:ext uri="{FF2B5EF4-FFF2-40B4-BE49-F238E27FC236}">
                <a16:creationId xmlns:a16="http://schemas.microsoft.com/office/drawing/2014/main" id="{A8870101-36F4-4B6D-86C6-CCEE5D517C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080" y="154082"/>
            <a:ext cx="889000" cy="889000"/>
          </a:xfrm>
          <a:prstGeom prst="rect">
            <a:avLst/>
          </a:prstGeom>
        </p:spPr>
      </p:pic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9AE0261-D39D-4BA3-8E7B-9E5673264CBD}"/>
              </a:ext>
            </a:extLst>
          </p:cNvPr>
          <p:cNvSpPr txBox="1">
            <a:spLocks/>
          </p:cNvSpPr>
          <p:nvPr/>
        </p:nvSpPr>
        <p:spPr>
          <a:xfrm>
            <a:off x="3796172" y="5439489"/>
            <a:ext cx="4998403" cy="684605"/>
          </a:xfrm>
          <a:prstGeom prst="rect">
            <a:avLst/>
          </a:prstGeom>
        </p:spPr>
        <p:txBody>
          <a:bodyPr vert="horz" lIns="68580" tIns="34290" rIns="68580" bIns="34290" rtlCol="0" anchor="b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sv-SE" sz="1500" dirty="0"/>
              <a:t>Gambar 2. Diagram sensor curah hujan RK400-07 (RIKASENSOR. (2015). RK400-07 Tipping Bucket Rainfall Sensor. In L. Hunan Rika Electronic Tech Co. (Ed.). Changsha City, Hunan Province, China).</a:t>
            </a:r>
          </a:p>
        </p:txBody>
      </p:sp>
      <p:pic>
        <p:nvPicPr>
          <p:cNvPr id="17" name="Picture 16" descr="Diagram of a machine with text&#10;&#10;Description automatically generated">
            <a:extLst>
              <a:ext uri="{FF2B5EF4-FFF2-40B4-BE49-F238E27FC236}">
                <a16:creationId xmlns:a16="http://schemas.microsoft.com/office/drawing/2014/main" id="{DF08CEA0-33FA-4FD2-A556-5E3BABC38F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326" y="2247036"/>
            <a:ext cx="5565249" cy="312713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5D590-ACE1-0068-F2FE-9B14A638A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512" y="2158718"/>
            <a:ext cx="3259299" cy="353995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dirty="0" err="1"/>
              <a:t>Pengukuran</a:t>
            </a:r>
            <a:r>
              <a:rPr lang="en-US" sz="1700" dirty="0"/>
              <a:t> </a:t>
            </a:r>
            <a:r>
              <a:rPr lang="en-US" sz="1700" dirty="0" err="1"/>
              <a:t>curah</a:t>
            </a:r>
            <a:r>
              <a:rPr lang="en-US" sz="1700" dirty="0"/>
              <a:t> </a:t>
            </a:r>
            <a:r>
              <a:rPr lang="en-US" sz="1700" dirty="0" err="1"/>
              <a:t>hujan</a:t>
            </a:r>
            <a:r>
              <a:rPr lang="en-US" sz="1700" dirty="0"/>
              <a:t> </a:t>
            </a:r>
            <a:r>
              <a:rPr lang="en-US" sz="1700" dirty="0" err="1"/>
              <a:t>dilakukan</a:t>
            </a:r>
            <a:r>
              <a:rPr lang="en-US" sz="1700" dirty="0"/>
              <a:t> </a:t>
            </a:r>
            <a:r>
              <a:rPr lang="en-US" sz="1700" dirty="0" err="1"/>
              <a:t>mengunakan</a:t>
            </a:r>
            <a:r>
              <a:rPr lang="en-US" sz="1700" dirty="0"/>
              <a:t> sensor </a:t>
            </a:r>
            <a:r>
              <a:rPr lang="en-US" sz="1700" dirty="0" err="1"/>
              <a:t>curah</a:t>
            </a:r>
            <a:r>
              <a:rPr lang="en-US" sz="1700" dirty="0"/>
              <a:t> </a:t>
            </a:r>
            <a:r>
              <a:rPr lang="en-US" sz="1700" dirty="0" err="1"/>
              <a:t>hujan</a:t>
            </a:r>
            <a:r>
              <a:rPr lang="en-US" sz="1700" dirty="0"/>
              <a:t> RK400-07.</a:t>
            </a:r>
          </a:p>
          <a:p>
            <a:pPr marL="0" indent="0">
              <a:buNone/>
            </a:pPr>
            <a:r>
              <a:rPr lang="en-US" sz="1700" dirty="0"/>
              <a:t>Sensor </a:t>
            </a:r>
            <a:r>
              <a:rPr lang="en-US" sz="1700" dirty="0" err="1"/>
              <a:t>mencatat</a:t>
            </a:r>
            <a:r>
              <a:rPr lang="en-US" sz="1700" dirty="0"/>
              <a:t> </a:t>
            </a:r>
            <a:r>
              <a:rPr lang="en-US" sz="1700" dirty="0" err="1"/>
              <a:t>sebuah</a:t>
            </a:r>
            <a:r>
              <a:rPr lang="en-US" sz="1700" dirty="0"/>
              <a:t> tipping </a:t>
            </a:r>
            <a:r>
              <a:rPr lang="en-US" sz="1700" dirty="0" err="1"/>
              <a:t>setelah</a:t>
            </a:r>
            <a:r>
              <a:rPr lang="en-US" sz="1700" dirty="0"/>
              <a:t> sensor </a:t>
            </a:r>
            <a:r>
              <a:rPr lang="en-US" sz="1700" dirty="0" err="1"/>
              <a:t>mengumpulkan</a:t>
            </a:r>
            <a:r>
              <a:rPr lang="en-US" sz="1700" dirty="0"/>
              <a:t> </a:t>
            </a:r>
            <a:r>
              <a:rPr lang="en-US" sz="1700" dirty="0" err="1"/>
              <a:t>sejumlah</a:t>
            </a:r>
            <a:r>
              <a:rPr lang="en-US" sz="1700" dirty="0"/>
              <a:t> air </a:t>
            </a:r>
            <a:r>
              <a:rPr lang="en-US" sz="1700" dirty="0" err="1"/>
              <a:t>hujan</a:t>
            </a:r>
            <a:r>
              <a:rPr lang="en-US" sz="1700" dirty="0"/>
              <a:t> yang </a:t>
            </a:r>
            <a:r>
              <a:rPr lang="en-US" sz="1700" dirty="0" err="1"/>
              <a:t>terkalibrasi</a:t>
            </a:r>
            <a:r>
              <a:rPr lang="en-US" sz="1700" dirty="0"/>
              <a:t>.</a:t>
            </a:r>
          </a:p>
          <a:p>
            <a:pPr marL="0" indent="0">
              <a:buNone/>
            </a:pPr>
            <a:r>
              <a:rPr lang="en-US" sz="1700" dirty="0" err="1"/>
              <a:t>Mekanisme</a:t>
            </a:r>
            <a:r>
              <a:rPr lang="en-US" sz="1700" dirty="0"/>
              <a:t> tipping </a:t>
            </a:r>
            <a:r>
              <a:rPr lang="en-US" sz="1700" dirty="0" err="1"/>
              <a:t>dari</a:t>
            </a:r>
            <a:r>
              <a:rPr lang="en-US" sz="1700" dirty="0"/>
              <a:t> sensor </a:t>
            </a:r>
            <a:r>
              <a:rPr lang="en-US" sz="1700" dirty="0" err="1"/>
              <a:t>mengaktifkan</a:t>
            </a:r>
            <a:r>
              <a:rPr lang="en-US" sz="1700" dirty="0"/>
              <a:t> reed switch yang </a:t>
            </a:r>
            <a:r>
              <a:rPr lang="en-US" sz="1700" dirty="0" err="1"/>
              <a:t>dicatat</a:t>
            </a:r>
            <a:r>
              <a:rPr lang="en-US" sz="1700" dirty="0"/>
              <a:t> oleh </a:t>
            </a:r>
            <a:r>
              <a:rPr lang="en-US" sz="1700" dirty="0" err="1"/>
              <a:t>mikrokontroller</a:t>
            </a:r>
            <a:r>
              <a:rPr lang="en-US" sz="1700" dirty="0"/>
              <a:t> </a:t>
            </a:r>
            <a:r>
              <a:rPr lang="en-US" sz="1700" dirty="0" err="1"/>
              <a:t>sebagai</a:t>
            </a:r>
            <a:r>
              <a:rPr lang="en-US" sz="1700" dirty="0"/>
              <a:t> </a:t>
            </a:r>
            <a:r>
              <a:rPr lang="en-US" sz="1700" dirty="0" err="1"/>
              <a:t>sebuah</a:t>
            </a:r>
            <a:r>
              <a:rPr lang="en-US" sz="1700" dirty="0"/>
              <a:t> </a:t>
            </a:r>
            <a:r>
              <a:rPr lang="en-US" sz="1700" dirty="0" err="1"/>
              <a:t>sinyal</a:t>
            </a:r>
            <a:r>
              <a:rPr lang="en-US" sz="1700" dirty="0"/>
              <a:t> </a:t>
            </a:r>
            <a:r>
              <a:rPr lang="en-US" sz="1700" dirty="0" err="1"/>
              <a:t>pulsa</a:t>
            </a:r>
            <a:r>
              <a:rPr lang="en-US" sz="17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9658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542DF5-84EE-2E32-0CA0-C79BF0280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32919C8-1602-FA40-57AE-9D433591E4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A86EC7-FE50-3B9C-D5E8-DB63129E70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BC8AE6-8227-707F-BC11-F2290C24E4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7B654F-4E0B-924C-17DA-1BCC6D9B7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8679535-2EFC-7526-7BDE-C57CFA2751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D8D99E-52AA-8695-1A44-1C58FB65C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6215979" cy="1033669"/>
          </a:xfrm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rgbClr val="FFFFFF"/>
                </a:solidFill>
              </a:rPr>
              <a:t>Mikrokontroller</a:t>
            </a:r>
            <a:r>
              <a:rPr lang="en-US" sz="3200" b="1" dirty="0">
                <a:solidFill>
                  <a:srgbClr val="FFFFFF"/>
                </a:solidFill>
              </a:rPr>
              <a:t> ESP32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C000A-D880-987D-548F-218395B0F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1781794"/>
            <a:ext cx="7293023" cy="1283985"/>
          </a:xfrm>
        </p:spPr>
        <p:txBody>
          <a:bodyPr anchor="ctr">
            <a:normAutofit/>
          </a:bodyPr>
          <a:lstStyle/>
          <a:p>
            <a:r>
              <a:rPr lang="en-US" sz="1700" dirty="0"/>
              <a:t>ESP32 </a:t>
            </a:r>
            <a:r>
              <a:rPr lang="en-US" sz="1700" dirty="0" err="1"/>
              <a:t>merupakan</a:t>
            </a:r>
            <a:r>
              <a:rPr lang="en-US" sz="1700" dirty="0"/>
              <a:t> </a:t>
            </a:r>
            <a:r>
              <a:rPr lang="en-US" sz="1700" dirty="0" err="1"/>
              <a:t>mikrokontroller</a:t>
            </a:r>
            <a:r>
              <a:rPr lang="en-US" sz="1700" dirty="0"/>
              <a:t> </a:t>
            </a:r>
            <a:r>
              <a:rPr lang="en-US" sz="1700" dirty="0" err="1"/>
              <a:t>dengan</a:t>
            </a:r>
            <a:r>
              <a:rPr lang="en-US" sz="1700" dirty="0"/>
              <a:t> Wi-Fi.</a:t>
            </a:r>
          </a:p>
          <a:p>
            <a:r>
              <a:rPr lang="en-US" sz="1700" dirty="0" err="1"/>
              <a:t>Digunakan</a:t>
            </a:r>
            <a:r>
              <a:rPr lang="en-US" sz="1700" dirty="0"/>
              <a:t> </a:t>
            </a:r>
            <a:r>
              <a:rPr lang="en-US" sz="1700" dirty="0" err="1"/>
              <a:t>untuk</a:t>
            </a:r>
            <a:r>
              <a:rPr lang="en-US" sz="1700" dirty="0"/>
              <a:t> </a:t>
            </a:r>
            <a:r>
              <a:rPr lang="en-US" sz="1700" dirty="0" err="1"/>
              <a:t>mengelola</a:t>
            </a:r>
            <a:r>
              <a:rPr lang="en-US" sz="1700" dirty="0"/>
              <a:t> data </a:t>
            </a:r>
            <a:r>
              <a:rPr lang="en-US" sz="1700" dirty="0" err="1"/>
              <a:t>dari</a:t>
            </a:r>
            <a:r>
              <a:rPr lang="en-US" sz="1700" dirty="0"/>
              <a:t> sensor-sensor pada </a:t>
            </a:r>
            <a:r>
              <a:rPr lang="en-US" sz="1700" i="1" dirty="0"/>
              <a:t>sensor node</a:t>
            </a:r>
            <a:r>
              <a:rPr lang="en-US" sz="1700" dirty="0"/>
              <a:t> </a:t>
            </a:r>
            <a:r>
              <a:rPr lang="en-US" sz="1700" dirty="0" err="1"/>
              <a:t>untuk</a:t>
            </a:r>
            <a:r>
              <a:rPr lang="en-US" sz="1700" dirty="0"/>
              <a:t> </a:t>
            </a:r>
            <a:r>
              <a:rPr lang="en-US" sz="1700" dirty="0" err="1"/>
              <a:t>ditransmisikan</a:t>
            </a:r>
            <a:r>
              <a:rPr lang="en-US" sz="1700" dirty="0"/>
              <a:t>.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3EA2070-FE3E-ECD7-47C1-5794D70D8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0C76-61B8-4F75-968B-505003DAB565}" type="slidenum">
              <a:rPr lang="en-US" smtClean="0"/>
              <a:t>8</a:t>
            </a:fld>
            <a:endParaRPr lang="en-US"/>
          </a:p>
        </p:txBody>
      </p:sp>
      <p:pic>
        <p:nvPicPr>
          <p:cNvPr id="8" name="Picture 7" descr="A black and silver electronic device&#10;&#10;Description automatically generated">
            <a:extLst>
              <a:ext uri="{FF2B5EF4-FFF2-40B4-BE49-F238E27FC236}">
                <a16:creationId xmlns:a16="http://schemas.microsoft.com/office/drawing/2014/main" id="{87287287-6A62-2507-0AAC-1F1755C0F6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8280" y="3065779"/>
            <a:ext cx="2927436" cy="2751790"/>
          </a:xfrm>
          <a:prstGeom prst="rect">
            <a:avLst/>
          </a:prstGeom>
        </p:spPr>
      </p:pic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41C4CED-EEBC-7509-814D-E97F6CE8F58C}"/>
              </a:ext>
            </a:extLst>
          </p:cNvPr>
          <p:cNvSpPr txBox="1">
            <a:spLocks/>
          </p:cNvSpPr>
          <p:nvPr/>
        </p:nvSpPr>
        <p:spPr>
          <a:xfrm>
            <a:off x="1367695" y="5964788"/>
            <a:ext cx="6408606" cy="598674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sv-SE" sz="1500" dirty="0"/>
              <a:t>Gambar 3. Mikrokontroller ESP32 (https://m.media-amazon.com/images/I/612eALAbpgL._AC_UF1000,1000_QL80_.jpg).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09DE969-E9F4-410B-9851-A377B2DFAB53}"/>
              </a:ext>
            </a:extLst>
          </p:cNvPr>
          <p:cNvSpPr/>
          <p:nvPr/>
        </p:nvSpPr>
        <p:spPr>
          <a:xfrm>
            <a:off x="7934015" y="109497"/>
            <a:ext cx="979129" cy="97912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6" name="Picture 15" descr="A blue and white logo&#10;&#10;Description automatically generated">
            <a:extLst>
              <a:ext uri="{FF2B5EF4-FFF2-40B4-BE49-F238E27FC236}">
                <a16:creationId xmlns:a16="http://schemas.microsoft.com/office/drawing/2014/main" id="{265AB012-3FC3-4AED-BEE5-B6F182E0E5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080" y="154082"/>
            <a:ext cx="889000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215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6B287E-0512-69C8-6A83-9548635B6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9B3DEF-6D21-3E1D-13B6-53100F904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rgbClr val="FFFFFF"/>
                </a:solidFill>
              </a:rPr>
              <a:t>Teknologi</a:t>
            </a:r>
            <a:r>
              <a:rPr lang="en-US" sz="3200" b="1" dirty="0">
                <a:solidFill>
                  <a:srgbClr val="FFFFFF"/>
                </a:solidFill>
              </a:rPr>
              <a:t> LoRa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CA7A4047-146A-AEE8-8CEA-23144410C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0C76-61B8-4F75-968B-505003DAB565}" type="slidenum">
              <a:rPr lang="en-US" smtClean="0"/>
              <a:t>9</a:t>
            </a:fld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13FDD61-3E6A-0377-E804-6F13BCE322EB}"/>
              </a:ext>
            </a:extLst>
          </p:cNvPr>
          <p:cNvSpPr txBox="1">
            <a:spLocks/>
          </p:cNvSpPr>
          <p:nvPr/>
        </p:nvSpPr>
        <p:spPr>
          <a:xfrm>
            <a:off x="1028699" y="1692955"/>
            <a:ext cx="7293023" cy="19092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/>
              <a:t>Long Range (LoRa) </a:t>
            </a:r>
            <a:r>
              <a:rPr lang="en-US" sz="1700" dirty="0" err="1"/>
              <a:t>merupakan</a:t>
            </a:r>
            <a:r>
              <a:rPr lang="en-US" sz="1700" dirty="0"/>
              <a:t> </a:t>
            </a:r>
            <a:r>
              <a:rPr lang="en-US" sz="1700" dirty="0" err="1"/>
              <a:t>teknologi</a:t>
            </a:r>
            <a:r>
              <a:rPr lang="en-US" sz="1700" dirty="0"/>
              <a:t> </a:t>
            </a:r>
            <a:r>
              <a:rPr lang="en-US" sz="1700" dirty="0" err="1"/>
              <a:t>komunikasi</a:t>
            </a:r>
            <a:r>
              <a:rPr lang="en-US" sz="1700" dirty="0"/>
              <a:t> </a:t>
            </a:r>
            <a:r>
              <a:rPr lang="en-US" sz="1700" dirty="0" err="1"/>
              <a:t>jarak</a:t>
            </a:r>
            <a:r>
              <a:rPr lang="en-US" sz="1700" dirty="0"/>
              <a:t> </a:t>
            </a:r>
            <a:r>
              <a:rPr lang="en-US" sz="1700" dirty="0" err="1"/>
              <a:t>jauh</a:t>
            </a:r>
            <a:r>
              <a:rPr lang="en-US" sz="1700" dirty="0"/>
              <a:t> yang </a:t>
            </a:r>
            <a:r>
              <a:rPr lang="en-US" sz="1700" dirty="0" err="1"/>
              <a:t>dikembangkan</a:t>
            </a:r>
            <a:r>
              <a:rPr lang="en-US" sz="1700" dirty="0"/>
              <a:t> oleh Semtech.</a:t>
            </a:r>
          </a:p>
          <a:p>
            <a:r>
              <a:rPr lang="en-US" sz="1700" dirty="0" err="1"/>
              <a:t>Digunakan</a:t>
            </a:r>
            <a:r>
              <a:rPr lang="en-US" sz="1700" dirty="0"/>
              <a:t> LoRa </a:t>
            </a:r>
            <a:r>
              <a:rPr lang="en-US" sz="1700" dirty="0" err="1"/>
              <a:t>untuk</a:t>
            </a:r>
            <a:r>
              <a:rPr lang="en-US" sz="1700" dirty="0"/>
              <a:t> </a:t>
            </a:r>
            <a:r>
              <a:rPr lang="en-US" sz="1700" dirty="0" err="1"/>
              <a:t>mentransmisikan</a:t>
            </a:r>
            <a:r>
              <a:rPr lang="en-US" sz="1700" dirty="0"/>
              <a:t> </a:t>
            </a:r>
            <a:r>
              <a:rPr lang="en-US" sz="1700" dirty="0" err="1"/>
              <a:t>dara</a:t>
            </a:r>
            <a:r>
              <a:rPr lang="en-US" sz="1700" dirty="0"/>
              <a:t> </a:t>
            </a:r>
            <a:r>
              <a:rPr lang="en-US" sz="1700" dirty="0" err="1"/>
              <a:t>dari</a:t>
            </a:r>
            <a:r>
              <a:rPr lang="en-US" sz="1700" dirty="0"/>
              <a:t> sensor node </a:t>
            </a:r>
            <a:r>
              <a:rPr lang="en-US" sz="1700" dirty="0" err="1"/>
              <a:t>ke</a:t>
            </a:r>
            <a:r>
              <a:rPr lang="en-US" sz="1700" dirty="0"/>
              <a:t> monitoring station.</a:t>
            </a:r>
          </a:p>
          <a:p>
            <a:r>
              <a:rPr lang="en-US" sz="1700" dirty="0" err="1"/>
              <a:t>Kualitas</a:t>
            </a:r>
            <a:r>
              <a:rPr lang="en-US" sz="1700" dirty="0"/>
              <a:t> </a:t>
            </a:r>
            <a:r>
              <a:rPr lang="en-US" sz="1700" dirty="0" err="1"/>
              <a:t>dari</a:t>
            </a:r>
            <a:r>
              <a:rPr lang="en-US" sz="1700" dirty="0"/>
              <a:t> </a:t>
            </a:r>
            <a:r>
              <a:rPr lang="en-US" sz="1700" dirty="0" err="1"/>
              <a:t>sinyal</a:t>
            </a:r>
            <a:r>
              <a:rPr lang="en-US" sz="1700" dirty="0"/>
              <a:t> yang </a:t>
            </a:r>
            <a:r>
              <a:rPr lang="en-US" sz="1700" dirty="0" err="1"/>
              <a:t>ditransmisikan</a:t>
            </a:r>
            <a:r>
              <a:rPr lang="en-US" sz="1700" dirty="0"/>
              <a:t> LoRa </a:t>
            </a:r>
            <a:r>
              <a:rPr lang="en-US" sz="1700" dirty="0" err="1"/>
              <a:t>ditunjukkan</a:t>
            </a:r>
            <a:r>
              <a:rPr lang="en-US" sz="1700" dirty="0"/>
              <a:t> </a:t>
            </a:r>
            <a:r>
              <a:rPr lang="en-US" sz="1700" dirty="0" err="1"/>
              <a:t>dari</a:t>
            </a:r>
            <a:r>
              <a:rPr lang="en-US" sz="1700" dirty="0"/>
              <a:t> </a:t>
            </a:r>
            <a:r>
              <a:rPr lang="en-US" sz="1700" dirty="0" err="1"/>
              <a:t>nilai</a:t>
            </a:r>
            <a:r>
              <a:rPr lang="en-US" sz="1700" dirty="0"/>
              <a:t> RSSI-</a:t>
            </a:r>
            <a:r>
              <a:rPr lang="en-US" sz="1700" dirty="0" err="1"/>
              <a:t>nya</a:t>
            </a:r>
            <a:r>
              <a:rPr lang="en-US" sz="1700" dirty="0"/>
              <a:t>.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8C1E8F01-081A-C67B-0D40-C1E7F58481B6}"/>
              </a:ext>
            </a:extLst>
          </p:cNvPr>
          <p:cNvSpPr txBox="1">
            <a:spLocks/>
          </p:cNvSpPr>
          <p:nvPr/>
        </p:nvSpPr>
        <p:spPr>
          <a:xfrm>
            <a:off x="1367695" y="5694821"/>
            <a:ext cx="6408606" cy="907640"/>
          </a:xfrm>
          <a:prstGeom prst="rect">
            <a:avLst/>
          </a:prstGeom>
        </p:spPr>
        <p:txBody>
          <a:bodyPr vert="horz" lIns="68580" tIns="34290" rIns="68580" bIns="34290" rtlCol="0" anchor="b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sv-SE" sz="1500" dirty="0"/>
              <a:t>Tabel 1. LoRa transmission quality based on its RSSI value (Sallyna, D., Usman, U. K., &amp; Murti, M. A. (2020). Perencanaan Jaringan Long Range (Lora) Pada Frekuensi 920 Mhz-923 Mhz Di Kota Bandung Long Range (Lora) Network Planning With Frequency 920 Mhz-923 Mhz In Bandung City. e-Proceeding of Engineering, 7(1), 933-940. ).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CF73566-F4FB-C537-2315-FBE817348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8327910"/>
              </p:ext>
            </p:extLst>
          </p:nvPr>
        </p:nvGraphicFramePr>
        <p:xfrm>
          <a:off x="812108" y="3690071"/>
          <a:ext cx="7509614" cy="1909230"/>
        </p:xfrm>
        <a:graphic>
          <a:graphicData uri="http://schemas.openxmlformats.org/drawingml/2006/table">
            <a:tbl>
              <a:tblPr firstRow="1" firstCol="1" bandRow="1"/>
              <a:tblGrid>
                <a:gridCol w="1569806">
                  <a:extLst>
                    <a:ext uri="{9D8B030D-6E8A-4147-A177-3AD203B41FA5}">
                      <a16:colId xmlns:a16="http://schemas.microsoft.com/office/drawing/2014/main" val="2091555236"/>
                    </a:ext>
                  </a:extLst>
                </a:gridCol>
                <a:gridCol w="5939808">
                  <a:extLst>
                    <a:ext uri="{9D8B030D-6E8A-4147-A177-3AD203B41FA5}">
                      <a16:colId xmlns:a16="http://schemas.microsoft.com/office/drawing/2014/main" val="2439761878"/>
                    </a:ext>
                  </a:extLst>
                </a:gridCol>
              </a:tblGrid>
              <a:tr h="3182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RSSI (dBm)</a:t>
                      </a:r>
                      <a:endParaRPr lang="en-ID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ID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662236"/>
                  </a:ext>
                </a:extLst>
              </a:tr>
              <a:tr h="3182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-30 s/d -60</a:t>
                      </a:r>
                      <a:endParaRPr lang="en-ID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de-DE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Very Strong. Receiver and transmitter are very close.</a:t>
                      </a:r>
                      <a:endParaRPr lang="en-ID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8996406"/>
                  </a:ext>
                </a:extLst>
              </a:tr>
              <a:tr h="3182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-60 s/d -90</a:t>
                      </a:r>
                      <a:endParaRPr lang="en-ID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Very good.</a:t>
                      </a:r>
                      <a:endParaRPr lang="en-ID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2975849"/>
                  </a:ext>
                </a:extLst>
              </a:tr>
              <a:tr h="3182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-90 s/d -105</a:t>
                      </a:r>
                      <a:endParaRPr lang="en-ID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Good. But some data are not received</a:t>
                      </a:r>
                      <a:endParaRPr lang="en-ID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0700076"/>
                  </a:ext>
                </a:extLst>
              </a:tr>
              <a:tr h="3182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-105 s/d -115</a:t>
                      </a:r>
                      <a:endParaRPr lang="en-ID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Poor. Signal sometimes drops-out.</a:t>
                      </a:r>
                      <a:endParaRPr lang="en-ID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3090453"/>
                  </a:ext>
                </a:extLst>
              </a:tr>
              <a:tr h="3182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-115 s/d -120</a:t>
                      </a:r>
                      <a:endParaRPr lang="en-ID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Very poor. Received signal is weak and often drops-out.</a:t>
                      </a:r>
                      <a:endParaRPr lang="en-ID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9117041"/>
                  </a:ext>
                </a:extLst>
              </a:tr>
            </a:tbl>
          </a:graphicData>
        </a:graphic>
      </p:graphicFrame>
      <p:sp>
        <p:nvSpPr>
          <p:cNvPr id="14" name="Oval 13">
            <a:extLst>
              <a:ext uri="{FF2B5EF4-FFF2-40B4-BE49-F238E27FC236}">
                <a16:creationId xmlns:a16="http://schemas.microsoft.com/office/drawing/2014/main" id="{10856200-0DB1-4E48-A0FB-949BA671EBCF}"/>
              </a:ext>
            </a:extLst>
          </p:cNvPr>
          <p:cNvSpPr/>
          <p:nvPr/>
        </p:nvSpPr>
        <p:spPr>
          <a:xfrm>
            <a:off x="7934015" y="109497"/>
            <a:ext cx="979129" cy="97912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9" name="Picture 18" descr="A blue and white logo&#10;&#10;Description automatically generated">
            <a:extLst>
              <a:ext uri="{FF2B5EF4-FFF2-40B4-BE49-F238E27FC236}">
                <a16:creationId xmlns:a16="http://schemas.microsoft.com/office/drawing/2014/main" id="{4E614F88-BB8C-41A3-A1F1-3F94F5BFAD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080" y="154082"/>
            <a:ext cx="889000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3267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F7FF3C-9ACA-C2BD-8CEB-3D3CA83F6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Message Queueing Telemetry Transport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8B66D-F8BE-8759-7A4B-4C6EDF198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1684482"/>
            <a:ext cx="7293023" cy="1727330"/>
          </a:xfrm>
        </p:spPr>
        <p:txBody>
          <a:bodyPr anchor="ctr">
            <a:normAutofit/>
          </a:bodyPr>
          <a:lstStyle/>
          <a:p>
            <a:r>
              <a:rPr lang="en-US" sz="1700" dirty="0"/>
              <a:t>Message Queueing Telemetry Transport (MQTT) </a:t>
            </a:r>
            <a:r>
              <a:rPr lang="en-US" sz="1700" dirty="0" err="1"/>
              <a:t>umum</a:t>
            </a:r>
            <a:r>
              <a:rPr lang="en-US" sz="1700" dirty="0"/>
              <a:t> </a:t>
            </a:r>
            <a:r>
              <a:rPr lang="en-US" sz="1700" dirty="0" err="1"/>
              <a:t>digunakan</a:t>
            </a:r>
            <a:r>
              <a:rPr lang="en-US" sz="1700" dirty="0"/>
              <a:t> </a:t>
            </a:r>
            <a:r>
              <a:rPr lang="en-US" sz="1700" dirty="0" err="1"/>
              <a:t>untuk</a:t>
            </a:r>
            <a:r>
              <a:rPr lang="en-US" sz="1700" dirty="0"/>
              <a:t> </a:t>
            </a:r>
            <a:r>
              <a:rPr lang="en-US" sz="1700" dirty="0" err="1"/>
              <a:t>mentransmisikan</a:t>
            </a:r>
            <a:r>
              <a:rPr lang="en-US" sz="1700" dirty="0"/>
              <a:t> data pada </a:t>
            </a:r>
            <a:r>
              <a:rPr lang="en-US" sz="1700" dirty="0" err="1"/>
              <a:t>jarak</a:t>
            </a:r>
            <a:r>
              <a:rPr lang="en-US" sz="1700" dirty="0"/>
              <a:t> </a:t>
            </a:r>
            <a:r>
              <a:rPr lang="en-US" sz="1700" dirty="0" err="1"/>
              <a:t>pendek</a:t>
            </a:r>
            <a:r>
              <a:rPr lang="en-US" sz="1700" dirty="0"/>
              <a:t>.</a:t>
            </a:r>
          </a:p>
          <a:p>
            <a:r>
              <a:rPr lang="en-US" sz="1700" dirty="0"/>
              <a:t>MQTT </a:t>
            </a:r>
            <a:r>
              <a:rPr lang="en-US" sz="1700" dirty="0" err="1"/>
              <a:t>dapat</a:t>
            </a:r>
            <a:r>
              <a:rPr lang="en-US" sz="1700" dirty="0"/>
              <a:t> </a:t>
            </a:r>
            <a:r>
              <a:rPr lang="en-US" sz="1700" dirty="0" err="1"/>
              <a:t>diakses</a:t>
            </a:r>
            <a:r>
              <a:rPr lang="en-US" sz="1700" dirty="0"/>
              <a:t> </a:t>
            </a:r>
            <a:r>
              <a:rPr lang="en-US" sz="1700" dirty="0" err="1"/>
              <a:t>dengan</a:t>
            </a:r>
            <a:r>
              <a:rPr lang="en-US" sz="1700" dirty="0"/>
              <a:t> </a:t>
            </a:r>
            <a:r>
              <a:rPr lang="en-US" sz="1700" dirty="0" err="1"/>
              <a:t>perangkat</a:t>
            </a:r>
            <a:r>
              <a:rPr lang="en-US" sz="1700" dirty="0"/>
              <a:t> </a:t>
            </a:r>
            <a:r>
              <a:rPr lang="en-US" sz="1700" dirty="0" err="1"/>
              <a:t>dengan</a:t>
            </a:r>
            <a:r>
              <a:rPr lang="en-US" sz="1700" dirty="0"/>
              <a:t> </a:t>
            </a:r>
            <a:r>
              <a:rPr lang="en-US" sz="1700" dirty="0" err="1"/>
              <a:t>konektivitas</a:t>
            </a:r>
            <a:r>
              <a:rPr lang="en-US" sz="1700" dirty="0"/>
              <a:t> internet.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38A2F3-B9D7-4EED-329F-70EA66D20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0C76-61B8-4F75-968B-505003DAB565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 descr="A diagram of a computer hardware&#10;&#10;Description automatically generated">
            <a:extLst>
              <a:ext uri="{FF2B5EF4-FFF2-40B4-BE49-F238E27FC236}">
                <a16:creationId xmlns:a16="http://schemas.microsoft.com/office/drawing/2014/main" id="{05575E8E-797C-9357-6937-98C870071B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986"/>
          <a:stretch/>
        </p:blipFill>
        <p:spPr>
          <a:xfrm>
            <a:off x="2646259" y="3411812"/>
            <a:ext cx="4057735" cy="2529987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F92D8EE-CAEE-2A2D-0FE9-079B9E6DCF8B}"/>
              </a:ext>
            </a:extLst>
          </p:cNvPr>
          <p:cNvSpPr txBox="1">
            <a:spLocks/>
          </p:cNvSpPr>
          <p:nvPr/>
        </p:nvSpPr>
        <p:spPr>
          <a:xfrm>
            <a:off x="1367695" y="6054713"/>
            <a:ext cx="6408606" cy="482702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sv-SE" sz="1500" dirty="0"/>
              <a:t>Gambar 4. MQTT publish-subscribe pattern (Hillar, G. C. (2017). MQTT Essentials-A lightweight IoT protocol. Packt Publishing Ltd.)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0C1C0D-3D5C-494E-BFAE-97E2939A8E40}"/>
              </a:ext>
            </a:extLst>
          </p:cNvPr>
          <p:cNvSpPr/>
          <p:nvPr/>
        </p:nvSpPr>
        <p:spPr>
          <a:xfrm>
            <a:off x="7934015" y="109497"/>
            <a:ext cx="979129" cy="97912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6" name="Picture 15" descr="A blue and white logo&#10;&#10;Description automatically generated">
            <a:extLst>
              <a:ext uri="{FF2B5EF4-FFF2-40B4-BE49-F238E27FC236}">
                <a16:creationId xmlns:a16="http://schemas.microsoft.com/office/drawing/2014/main" id="{A9509736-5542-4390-A106-2B5B97197D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080" y="154082"/>
            <a:ext cx="889000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038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8506B5-6D40-D364-F513-90E573C34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F843A1-D2FC-E9B8-93B6-C69C8961E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294538"/>
            <a:ext cx="6674464" cy="1033669"/>
          </a:xfrm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rgbClr val="FFFFFF"/>
                </a:solidFill>
              </a:rPr>
              <a:t>Algoritma</a:t>
            </a:r>
            <a:r>
              <a:rPr lang="en-US" sz="3200" b="1" dirty="0">
                <a:solidFill>
                  <a:srgbClr val="FFFFFF"/>
                </a:solidFill>
              </a:rPr>
              <a:t> Decision Tree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5BFFB54-C101-BEB1-F876-81F56280C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0C76-61B8-4F75-968B-505003DAB565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98B84E-6D9B-46D0-B22D-1C293F51EC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7271" y="2548983"/>
            <a:ext cx="6195893" cy="3937485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ECA0DE7-A960-B150-5644-259136EDB959}"/>
              </a:ext>
            </a:extLst>
          </p:cNvPr>
          <p:cNvSpPr txBox="1">
            <a:spLocks/>
          </p:cNvSpPr>
          <p:nvPr/>
        </p:nvSpPr>
        <p:spPr>
          <a:xfrm>
            <a:off x="1028699" y="1614504"/>
            <a:ext cx="7293023" cy="1234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/>
              <a:t>Pada </a:t>
            </a:r>
            <a:r>
              <a:rPr lang="en-US" sz="1700" dirty="0" err="1"/>
              <a:t>algoritma</a:t>
            </a:r>
            <a:r>
              <a:rPr lang="en-US" sz="1700" dirty="0"/>
              <a:t> Decision Tree, </a:t>
            </a:r>
            <a:r>
              <a:rPr lang="en-US" sz="1700" dirty="0" err="1"/>
              <a:t>sekumpulan</a:t>
            </a:r>
            <a:r>
              <a:rPr lang="en-US" sz="1700" dirty="0"/>
              <a:t> </a:t>
            </a:r>
            <a:r>
              <a:rPr lang="en-US" sz="1700" dirty="0" err="1"/>
              <a:t>pertanyaan</a:t>
            </a:r>
            <a:r>
              <a:rPr lang="en-US" sz="1700" dirty="0"/>
              <a:t> </a:t>
            </a:r>
            <a:r>
              <a:rPr lang="en-US" sz="1700" dirty="0" err="1"/>
              <a:t>disusun</a:t>
            </a:r>
            <a:r>
              <a:rPr lang="en-US" sz="1700" dirty="0"/>
              <a:t> </a:t>
            </a:r>
            <a:r>
              <a:rPr lang="en-US" sz="1700" dirty="0" err="1"/>
              <a:t>untuk</a:t>
            </a:r>
            <a:r>
              <a:rPr lang="en-US" sz="1700" dirty="0"/>
              <a:t> </a:t>
            </a:r>
            <a:r>
              <a:rPr lang="en-US" sz="1700" dirty="0" err="1"/>
              <a:t>memberi</a:t>
            </a:r>
            <a:r>
              <a:rPr lang="en-US" sz="1700" dirty="0"/>
              <a:t> label </a:t>
            </a:r>
            <a:r>
              <a:rPr lang="en-US" sz="1700" dirty="0" err="1"/>
              <a:t>berdasarkan</a:t>
            </a:r>
            <a:r>
              <a:rPr lang="en-US" sz="1700" dirty="0"/>
              <a:t> </a:t>
            </a:r>
            <a:r>
              <a:rPr lang="en-US" sz="1700" dirty="0" err="1"/>
              <a:t>nilai</a:t>
            </a:r>
            <a:r>
              <a:rPr lang="en-US" sz="1700" dirty="0"/>
              <a:t> </a:t>
            </a:r>
            <a:r>
              <a:rPr lang="en-US" sz="1700" dirty="0" err="1"/>
              <a:t>sekumpulan</a:t>
            </a:r>
            <a:r>
              <a:rPr lang="en-US" sz="1700" dirty="0"/>
              <a:t> </a:t>
            </a:r>
            <a:r>
              <a:rPr lang="en-US" sz="1700" dirty="0" err="1"/>
              <a:t>fitur</a:t>
            </a:r>
            <a:r>
              <a:rPr lang="en-US" sz="1700" dirty="0"/>
              <a:t> yang </a:t>
            </a:r>
            <a:r>
              <a:rPr lang="en-US" sz="1700" dirty="0" err="1"/>
              <a:t>diberikan</a:t>
            </a:r>
            <a:r>
              <a:rPr lang="en-US" sz="1700" dirty="0"/>
              <a:t>.</a:t>
            </a:r>
          </a:p>
          <a:p>
            <a:pPr marL="0" indent="0">
              <a:buNone/>
            </a:pPr>
            <a:r>
              <a:rPr lang="en-US" sz="1700" dirty="0"/>
              <a:t>Kumpulan </a:t>
            </a:r>
            <a:r>
              <a:rPr lang="en-US" sz="1700" dirty="0" err="1"/>
              <a:t>pertanyaan</a:t>
            </a:r>
            <a:r>
              <a:rPr lang="en-US" sz="1700" dirty="0"/>
              <a:t> </a:t>
            </a:r>
            <a:r>
              <a:rPr lang="en-US" sz="1700" dirty="0" err="1"/>
              <a:t>tersebut</a:t>
            </a:r>
            <a:r>
              <a:rPr lang="en-US" sz="1700" dirty="0"/>
              <a:t> </a:t>
            </a:r>
            <a:r>
              <a:rPr lang="en-US" sz="1700" dirty="0" err="1"/>
              <a:t>disusun</a:t>
            </a:r>
            <a:r>
              <a:rPr lang="en-US" sz="1700" dirty="0"/>
              <a:t> </a:t>
            </a:r>
            <a:r>
              <a:rPr lang="en-US" sz="1700" dirty="0" err="1"/>
              <a:t>secara</a:t>
            </a:r>
            <a:r>
              <a:rPr lang="en-US" sz="1700" dirty="0"/>
              <a:t> </a:t>
            </a:r>
            <a:r>
              <a:rPr lang="en-US" sz="1700" dirty="0" err="1"/>
              <a:t>beruntun</a:t>
            </a:r>
            <a:r>
              <a:rPr lang="en-US" sz="1700" dirty="0"/>
              <a:t> </a:t>
            </a:r>
            <a:r>
              <a:rPr lang="en-US" sz="1700" dirty="0" err="1"/>
              <a:t>sehingga</a:t>
            </a:r>
            <a:r>
              <a:rPr lang="en-US" sz="1700" dirty="0"/>
              <a:t> </a:t>
            </a:r>
            <a:r>
              <a:rPr lang="en-US" sz="1700" dirty="0" err="1"/>
              <a:t>membentuk</a:t>
            </a:r>
            <a:r>
              <a:rPr lang="en-US" sz="1700" dirty="0"/>
              <a:t> </a:t>
            </a:r>
            <a:r>
              <a:rPr lang="en-US" sz="1700" dirty="0" err="1"/>
              <a:t>sebuah</a:t>
            </a:r>
            <a:r>
              <a:rPr lang="en-US" sz="1700" dirty="0"/>
              <a:t> </a:t>
            </a:r>
            <a:r>
              <a:rPr lang="en-US" sz="1700" dirty="0" err="1"/>
              <a:t>pohon</a:t>
            </a:r>
            <a:r>
              <a:rPr lang="en-US" sz="1700" dirty="0"/>
              <a:t>.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8687CCA2-0872-9CBA-5722-D3F6C57D5DB4}"/>
              </a:ext>
            </a:extLst>
          </p:cNvPr>
          <p:cNvSpPr txBox="1">
            <a:spLocks/>
          </p:cNvSpPr>
          <p:nvPr/>
        </p:nvSpPr>
        <p:spPr>
          <a:xfrm>
            <a:off x="1367695" y="6349660"/>
            <a:ext cx="6408606" cy="291434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sv-SE" sz="1500" dirty="0"/>
              <a:t>Gambar 5. Struktur Decision Tree.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55C664B-F79B-4CC1-A245-3B14FB06BFF7}"/>
              </a:ext>
            </a:extLst>
          </p:cNvPr>
          <p:cNvSpPr/>
          <p:nvPr/>
        </p:nvSpPr>
        <p:spPr>
          <a:xfrm>
            <a:off x="7934015" y="109497"/>
            <a:ext cx="979129" cy="97912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6" name="Picture 15" descr="A blue and white logo&#10;&#10;Description automatically generated">
            <a:extLst>
              <a:ext uri="{FF2B5EF4-FFF2-40B4-BE49-F238E27FC236}">
                <a16:creationId xmlns:a16="http://schemas.microsoft.com/office/drawing/2014/main" id="{41EB7EC8-2A46-491C-9031-0E852E7CEA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080" y="154082"/>
            <a:ext cx="889000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397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8506B5-6D40-D364-F513-90E573C34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F843A1-D2FC-E9B8-93B6-C69C8961E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294538"/>
            <a:ext cx="6674464" cy="1033669"/>
          </a:xfrm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rgbClr val="FFFFFF"/>
                </a:solidFill>
              </a:rPr>
              <a:t>Algoritma</a:t>
            </a:r>
            <a:r>
              <a:rPr lang="en-US" sz="3200" b="1" dirty="0">
                <a:solidFill>
                  <a:srgbClr val="FFFFFF"/>
                </a:solidFill>
              </a:rPr>
              <a:t> Linear Regression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5BFFB54-C101-BEB1-F876-81F56280C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0C76-61B8-4F75-968B-505003DAB565}" type="slidenum">
              <a:rPr lang="en-US" smtClean="0"/>
              <a:t>12</a:t>
            </a:fld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55C664B-F79B-4CC1-A245-3B14FB06BFF7}"/>
              </a:ext>
            </a:extLst>
          </p:cNvPr>
          <p:cNvSpPr/>
          <p:nvPr/>
        </p:nvSpPr>
        <p:spPr>
          <a:xfrm>
            <a:off x="7934015" y="109497"/>
            <a:ext cx="979129" cy="97912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6" name="Picture 15" descr="A blue and white logo&#10;&#10;Description automatically generated">
            <a:extLst>
              <a:ext uri="{FF2B5EF4-FFF2-40B4-BE49-F238E27FC236}">
                <a16:creationId xmlns:a16="http://schemas.microsoft.com/office/drawing/2014/main" id="{41EB7EC8-2A46-491C-9031-0E852E7CEA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080" y="154082"/>
            <a:ext cx="889000" cy="889000"/>
          </a:xfrm>
          <a:prstGeom prst="rect">
            <a:avLst/>
          </a:prstGeom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A3B4A01-C92B-46D6-9DE6-E395495F0107}"/>
              </a:ext>
            </a:extLst>
          </p:cNvPr>
          <p:cNvSpPr txBox="1">
            <a:spLocks/>
          </p:cNvSpPr>
          <p:nvPr/>
        </p:nvSpPr>
        <p:spPr>
          <a:xfrm>
            <a:off x="1028699" y="1614503"/>
            <a:ext cx="7293023" cy="46053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 err="1"/>
              <a:t>Algoritma</a:t>
            </a:r>
            <a:r>
              <a:rPr lang="en-US" sz="1700" dirty="0"/>
              <a:t> Linear Regression </a:t>
            </a:r>
            <a:r>
              <a:rPr lang="en-US" sz="1700" dirty="0" err="1"/>
              <a:t>memodelkan</a:t>
            </a:r>
            <a:r>
              <a:rPr lang="en-US" sz="1700" dirty="0"/>
              <a:t> target </a:t>
            </a:r>
            <a:r>
              <a:rPr lang="en-US" sz="1700" dirty="0" err="1"/>
              <a:t>prediksi</a:t>
            </a:r>
            <a:r>
              <a:rPr lang="en-US" sz="1700" dirty="0"/>
              <a:t> (label) </a:t>
            </a:r>
            <a:r>
              <a:rPr lang="en-US" sz="1700" dirty="0" err="1"/>
              <a:t>sebagai</a:t>
            </a:r>
            <a:r>
              <a:rPr lang="en-US" sz="1700" dirty="0"/>
              <a:t> </a:t>
            </a:r>
            <a:r>
              <a:rPr lang="en-US" sz="1700" dirty="0" err="1"/>
              <a:t>kombinasi</a:t>
            </a:r>
            <a:r>
              <a:rPr lang="en-US" sz="1700" dirty="0"/>
              <a:t> linear </a:t>
            </a:r>
            <a:r>
              <a:rPr lang="en-US" sz="1700" dirty="0" err="1"/>
              <a:t>dari</a:t>
            </a:r>
            <a:r>
              <a:rPr lang="en-US" sz="1700" dirty="0"/>
              <a:t> </a:t>
            </a:r>
            <a:r>
              <a:rPr lang="en-US" sz="1700" dirty="0" err="1"/>
              <a:t>sejumah</a:t>
            </a:r>
            <a:r>
              <a:rPr lang="en-US" sz="1700" dirty="0"/>
              <a:t> </a:t>
            </a:r>
            <a:r>
              <a:rPr lang="en-US" sz="1700" dirty="0" err="1"/>
              <a:t>vektor</a:t>
            </a:r>
            <a:r>
              <a:rPr lang="en-US" sz="1700" dirty="0"/>
              <a:t> </a:t>
            </a:r>
            <a:r>
              <a:rPr lang="en-US" sz="1700" i="1" dirty="0"/>
              <a:t>input</a:t>
            </a:r>
            <a:r>
              <a:rPr lang="en-US" sz="1700" dirty="0"/>
              <a:t> (</a:t>
            </a:r>
            <a:r>
              <a:rPr lang="en-US" sz="1700" dirty="0" err="1"/>
              <a:t>fitur</a:t>
            </a:r>
            <a:r>
              <a:rPr lang="en-US" sz="1700" dirty="0"/>
              <a:t>), </a:t>
            </a:r>
            <a:r>
              <a:rPr lang="en-US" sz="1700" dirty="0" err="1"/>
              <a:t>sebagaiamana</a:t>
            </a:r>
            <a:r>
              <a:rPr lang="en-US" sz="1700" dirty="0"/>
              <a:t> pada </a:t>
            </a:r>
            <a:r>
              <a:rPr lang="en-US" sz="1700" dirty="0" err="1"/>
              <a:t>persamaan</a:t>
            </a:r>
            <a:r>
              <a:rPr lang="en-US" sz="1700" dirty="0"/>
              <a:t> </a:t>
            </a:r>
            <a:r>
              <a:rPr lang="en-US" sz="1700" dirty="0" err="1"/>
              <a:t>berikut</a:t>
            </a:r>
            <a:r>
              <a:rPr lang="en-US" sz="1700" dirty="0"/>
              <a:t>: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b="1" dirty="0" err="1"/>
              <a:t>Keterangan</a:t>
            </a:r>
            <a:r>
              <a:rPr lang="en-US" sz="1700" b="1" dirty="0"/>
              <a:t>:</a:t>
            </a:r>
          </a:p>
          <a:p>
            <a:pPr marL="0" indent="0">
              <a:buNone/>
            </a:pPr>
            <a:r>
              <a:rPr lang="en-US" sz="1700" dirty="0"/>
              <a:t>x = </a:t>
            </a:r>
            <a:r>
              <a:rPr lang="en-US" sz="1700" dirty="0" err="1"/>
              <a:t>fitur</a:t>
            </a:r>
            <a:endParaRPr lang="en-US" sz="1700" dirty="0"/>
          </a:p>
          <a:p>
            <a:pPr marL="0" indent="0">
              <a:buNone/>
            </a:pPr>
            <a:r>
              <a:rPr lang="en-US" sz="1700" dirty="0"/>
              <a:t>m = </a:t>
            </a:r>
            <a:r>
              <a:rPr lang="en-US" sz="1700" dirty="0" err="1"/>
              <a:t>koefisien</a:t>
            </a:r>
            <a:r>
              <a:rPr lang="en-US" sz="1700" dirty="0"/>
              <a:t> </a:t>
            </a:r>
            <a:r>
              <a:rPr lang="en-US" sz="1700" dirty="0" err="1"/>
              <a:t>setiap</a:t>
            </a:r>
            <a:r>
              <a:rPr lang="en-US" sz="1700" dirty="0"/>
              <a:t> </a:t>
            </a:r>
            <a:r>
              <a:rPr lang="en-US" sz="1700" dirty="0" err="1"/>
              <a:t>fitur</a:t>
            </a:r>
            <a:endParaRPr lang="en-US" sz="1700" dirty="0"/>
          </a:p>
          <a:p>
            <a:pPr marL="0" indent="0">
              <a:buNone/>
            </a:pPr>
            <a:r>
              <a:rPr lang="en-US" sz="1700" dirty="0"/>
              <a:t>C = </a:t>
            </a:r>
            <a:r>
              <a:rPr lang="en-US" sz="1700" dirty="0" err="1"/>
              <a:t>konstanta</a:t>
            </a:r>
            <a:endParaRPr lang="en-US" sz="1700" dirty="0"/>
          </a:p>
          <a:p>
            <a:pPr marL="0" indent="0">
              <a:buNone/>
            </a:pPr>
            <a:r>
              <a:rPr lang="en-US" sz="1700" dirty="0"/>
              <a:t>y = label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10B712-2377-4E56-891A-C129784EF91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6748"/>
          <a:stretch/>
        </p:blipFill>
        <p:spPr>
          <a:xfrm>
            <a:off x="499825" y="3142262"/>
            <a:ext cx="8144346" cy="551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4212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8506B5-6D40-D364-F513-90E573C34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F843A1-D2FC-E9B8-93B6-C69C8961E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294538"/>
            <a:ext cx="6674464" cy="1033669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FFFF"/>
                </a:solidFill>
              </a:rPr>
              <a:t>Feature Importance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5BFFB54-C101-BEB1-F876-81F56280C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0C76-61B8-4F75-968B-505003DAB565}" type="slidenum">
              <a:rPr lang="en-US" smtClean="0"/>
              <a:t>13</a:t>
            </a:fld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ECA0DE7-A960-B150-5644-259136EDB959}"/>
              </a:ext>
            </a:extLst>
          </p:cNvPr>
          <p:cNvSpPr txBox="1">
            <a:spLocks/>
          </p:cNvSpPr>
          <p:nvPr/>
        </p:nvSpPr>
        <p:spPr>
          <a:xfrm>
            <a:off x="1028699" y="1614503"/>
            <a:ext cx="7293023" cy="46053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 err="1"/>
              <a:t>Setiap</a:t>
            </a:r>
            <a:r>
              <a:rPr lang="en-US" sz="1700" dirty="0"/>
              <a:t> </a:t>
            </a:r>
            <a:r>
              <a:rPr lang="en-US" sz="1700" dirty="0" err="1"/>
              <a:t>fitur</a:t>
            </a:r>
            <a:r>
              <a:rPr lang="en-US" sz="1700" dirty="0"/>
              <a:t> pada model yang </a:t>
            </a:r>
            <a:r>
              <a:rPr lang="en-US" sz="1700" dirty="0" err="1"/>
              <a:t>digunakan</a:t>
            </a:r>
            <a:r>
              <a:rPr lang="en-US" sz="1700" dirty="0"/>
              <a:t> </a:t>
            </a:r>
            <a:r>
              <a:rPr lang="en-US" sz="1700" dirty="0" err="1"/>
              <a:t>untuk</a:t>
            </a:r>
            <a:r>
              <a:rPr lang="en-US" sz="1700" dirty="0"/>
              <a:t> </a:t>
            </a:r>
            <a:r>
              <a:rPr lang="en-US" sz="1700" dirty="0" err="1"/>
              <a:t>mendapatkan</a:t>
            </a:r>
            <a:r>
              <a:rPr lang="en-US" sz="1700" dirty="0"/>
              <a:t> </a:t>
            </a:r>
            <a:r>
              <a:rPr lang="en-US" sz="1700" dirty="0" err="1"/>
              <a:t>hasil</a:t>
            </a:r>
            <a:r>
              <a:rPr lang="en-US" sz="1700" dirty="0"/>
              <a:t> label </a:t>
            </a:r>
            <a:r>
              <a:rPr lang="en-US" sz="1700" dirty="0" err="1"/>
              <a:t>memiliki</a:t>
            </a:r>
            <a:r>
              <a:rPr lang="en-US" sz="1700" dirty="0"/>
              <a:t> </a:t>
            </a:r>
            <a:r>
              <a:rPr lang="en-US" sz="1700" dirty="0" err="1"/>
              <a:t>pengaruh</a:t>
            </a:r>
            <a:r>
              <a:rPr lang="en-US" sz="1700" dirty="0"/>
              <a:t> yang </a:t>
            </a:r>
            <a:r>
              <a:rPr lang="en-US" sz="1700" dirty="0" err="1"/>
              <a:t>tidak</a:t>
            </a:r>
            <a:r>
              <a:rPr lang="en-US" sz="1700" dirty="0"/>
              <a:t> </a:t>
            </a:r>
            <a:r>
              <a:rPr lang="en-US" sz="1700" dirty="0" err="1"/>
              <a:t>sama</a:t>
            </a:r>
            <a:r>
              <a:rPr lang="en-US" sz="1700" dirty="0"/>
              <a:t>.</a:t>
            </a:r>
          </a:p>
          <a:p>
            <a:pPr marL="0" indent="0">
              <a:buNone/>
            </a:pPr>
            <a:r>
              <a:rPr lang="en-US" sz="1700" dirty="0" err="1"/>
              <a:t>Keberpengaruhan</a:t>
            </a:r>
            <a:r>
              <a:rPr lang="en-US" sz="1700" dirty="0"/>
              <a:t> </a:t>
            </a:r>
            <a:r>
              <a:rPr lang="en-US" sz="1700" dirty="0" err="1"/>
              <a:t>dari</a:t>
            </a:r>
            <a:r>
              <a:rPr lang="en-US" sz="1700" dirty="0"/>
              <a:t> </a:t>
            </a:r>
            <a:r>
              <a:rPr lang="en-US" sz="1700" dirty="0" err="1"/>
              <a:t>setiap</a:t>
            </a:r>
            <a:r>
              <a:rPr lang="en-US" sz="1700" dirty="0"/>
              <a:t> </a:t>
            </a:r>
            <a:r>
              <a:rPr lang="en-US" sz="1700" dirty="0" err="1"/>
              <a:t>fitur</a:t>
            </a:r>
            <a:r>
              <a:rPr lang="en-US" sz="1700" dirty="0"/>
              <a:t> </a:t>
            </a:r>
            <a:r>
              <a:rPr lang="en-US" sz="1700" dirty="0" err="1"/>
              <a:t>tersebut</a:t>
            </a:r>
            <a:r>
              <a:rPr lang="en-US" sz="1700" dirty="0"/>
              <a:t> </a:t>
            </a:r>
            <a:r>
              <a:rPr lang="en-US" sz="1700" dirty="0" err="1"/>
              <a:t>ditunjukkan</a:t>
            </a:r>
            <a:r>
              <a:rPr lang="en-US" sz="1700" dirty="0"/>
              <a:t> oleh parameter Feature Importance.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55C664B-F79B-4CC1-A245-3B14FB06BFF7}"/>
              </a:ext>
            </a:extLst>
          </p:cNvPr>
          <p:cNvSpPr/>
          <p:nvPr/>
        </p:nvSpPr>
        <p:spPr>
          <a:xfrm>
            <a:off x="7934015" y="109497"/>
            <a:ext cx="979129" cy="97912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6" name="Picture 15" descr="A blue and white logo&#10;&#10;Description automatically generated">
            <a:extLst>
              <a:ext uri="{FF2B5EF4-FFF2-40B4-BE49-F238E27FC236}">
                <a16:creationId xmlns:a16="http://schemas.microsoft.com/office/drawing/2014/main" id="{41EB7EC8-2A46-491C-9031-0E852E7CEA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080" y="154082"/>
            <a:ext cx="889000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7554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8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9144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140040" y="-1133192"/>
            <a:ext cx="6858001" cy="9124385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1072" y="0"/>
            <a:ext cx="4572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3"/>
            <a:ext cx="9137153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784" y="4049"/>
            <a:ext cx="7662432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9249BE-CAEB-0732-A1C1-B9CDCD2B7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0019" y="1030406"/>
            <a:ext cx="6110785" cy="3081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2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METODE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286234-1F0D-6A6F-51C1-410FFE602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78240" y="6455664"/>
            <a:ext cx="33604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4CFF0C76-61B8-4F75-968B-505003DAB565}" type="slidenum">
              <a:rPr lang="en-US" sz="1000">
                <a:solidFill>
                  <a:srgbClr val="FFFFFF"/>
                </a:solidFill>
              </a:rPr>
              <a:pPr defTabSz="914400">
                <a:spcAft>
                  <a:spcPts val="600"/>
                </a:spcAft>
              </a:pPr>
              <a:t>14</a:t>
            </a:fld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F259056-BBA9-4E1D-BCF4-30174E911DE4}"/>
              </a:ext>
            </a:extLst>
          </p:cNvPr>
          <p:cNvSpPr/>
          <p:nvPr/>
        </p:nvSpPr>
        <p:spPr>
          <a:xfrm>
            <a:off x="7934015" y="109497"/>
            <a:ext cx="979129" cy="97912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5" name="Picture 14" descr="A blue and white logo&#10;&#10;Description automatically generated">
            <a:extLst>
              <a:ext uri="{FF2B5EF4-FFF2-40B4-BE49-F238E27FC236}">
                <a16:creationId xmlns:a16="http://schemas.microsoft.com/office/drawing/2014/main" id="{204EC67A-75BD-42A5-AF52-A4FC636A80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080" y="154082"/>
            <a:ext cx="889000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8222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F26D17-21DF-CD42-5FF4-57C845F3E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D7F14B-D109-2D97-6864-71B6B2477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b="1" dirty="0" err="1">
                <a:solidFill>
                  <a:srgbClr val="FFFFFF"/>
                </a:solidFill>
              </a:rPr>
              <a:t>Arsitektur</a:t>
            </a:r>
            <a:r>
              <a:rPr lang="en-US" sz="2800" b="1" dirty="0">
                <a:solidFill>
                  <a:srgbClr val="FFFFFF"/>
                </a:solidFill>
              </a:rPr>
              <a:t> </a:t>
            </a:r>
            <a:r>
              <a:rPr lang="en-US" sz="2800" b="1" dirty="0" err="1">
                <a:solidFill>
                  <a:srgbClr val="FFFFFF"/>
                </a:solidFill>
              </a:rPr>
              <a:t>Sistem</a:t>
            </a:r>
            <a:r>
              <a:rPr lang="en-US" sz="2800" b="1" dirty="0">
                <a:solidFill>
                  <a:srgbClr val="FFFFFF"/>
                </a:solidFill>
              </a:rPr>
              <a:t> </a:t>
            </a:r>
            <a:r>
              <a:rPr lang="en-US" sz="2800" b="1" dirty="0" err="1">
                <a:solidFill>
                  <a:srgbClr val="FFFFFF"/>
                </a:solidFill>
              </a:rPr>
              <a:t>Peringatan</a:t>
            </a:r>
            <a:r>
              <a:rPr lang="en-US" sz="2800" b="1" dirty="0">
                <a:solidFill>
                  <a:srgbClr val="FFFFFF"/>
                </a:solidFill>
              </a:rPr>
              <a:t> Dini </a:t>
            </a:r>
            <a:r>
              <a:rPr lang="en-US" sz="2800" b="1" dirty="0" err="1">
                <a:solidFill>
                  <a:srgbClr val="FFFFFF"/>
                </a:solidFill>
              </a:rPr>
              <a:t>Banjir</a:t>
            </a:r>
            <a:endParaRPr lang="en-US" sz="28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5BBB30-F562-66D4-21D3-5099DC946A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76821" y="1756563"/>
            <a:ext cx="5419311" cy="3344872"/>
          </a:xfrm>
          <a:prstGeom prst="rect">
            <a:avLst/>
          </a:prstGeom>
        </p:spPr>
      </p:pic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57A80C58-C48A-C5B9-218C-9DFE34D27B8D}"/>
              </a:ext>
            </a:extLst>
          </p:cNvPr>
          <p:cNvSpPr txBox="1">
            <a:spLocks/>
          </p:cNvSpPr>
          <p:nvPr/>
        </p:nvSpPr>
        <p:spPr>
          <a:xfrm>
            <a:off x="3860643" y="5261977"/>
            <a:ext cx="4451668" cy="304227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dirty="0"/>
              <a:t>Gambar 6. </a:t>
            </a:r>
            <a:r>
              <a:rPr lang="en-US" sz="1500" dirty="0" err="1"/>
              <a:t>Arsitektur</a:t>
            </a:r>
            <a:r>
              <a:rPr lang="en-US" sz="1500" dirty="0"/>
              <a:t> </a:t>
            </a:r>
            <a:r>
              <a:rPr lang="en-US" sz="1500" dirty="0" err="1"/>
              <a:t>sistem</a:t>
            </a:r>
            <a:r>
              <a:rPr lang="en-US" sz="1500" dirty="0"/>
              <a:t> </a:t>
            </a:r>
            <a:r>
              <a:rPr lang="en-US" sz="1500" dirty="0" err="1"/>
              <a:t>peringatan</a:t>
            </a:r>
            <a:r>
              <a:rPr lang="en-US" sz="1500" dirty="0"/>
              <a:t> </a:t>
            </a:r>
            <a:r>
              <a:rPr lang="en-US" sz="1500" dirty="0" err="1"/>
              <a:t>dini</a:t>
            </a:r>
            <a:r>
              <a:rPr lang="en-US" sz="1500" dirty="0"/>
              <a:t> </a:t>
            </a:r>
            <a:r>
              <a:rPr lang="en-US" sz="1500" dirty="0" err="1"/>
              <a:t>banjir</a:t>
            </a:r>
            <a:r>
              <a:rPr lang="en-US" sz="1500" dirty="0"/>
              <a:t>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CCE700B-D0D8-DF1F-31B4-E47DB9F2B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0C76-61B8-4F75-968B-505003DAB565}" type="slidenum">
              <a:rPr lang="en-US" smtClean="0"/>
              <a:t>15</a:t>
            </a:fld>
            <a:endParaRPr lang="en-US"/>
          </a:p>
        </p:txBody>
      </p:sp>
      <p:pic>
        <p:nvPicPr>
          <p:cNvPr id="12" name="Picture 11" descr="A blue and white logo&#10;&#10;Description automatically generated">
            <a:extLst>
              <a:ext uri="{FF2B5EF4-FFF2-40B4-BE49-F238E27FC236}">
                <a16:creationId xmlns:a16="http://schemas.microsoft.com/office/drawing/2014/main" id="{06130CCF-3648-489B-885B-6D7AA70C6B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080" y="154082"/>
            <a:ext cx="889000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7763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2F2606-6577-BB35-DDC8-4123D55E2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61A66A-C786-6BDB-C8C6-64E92F2DE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Arsitektur</a:t>
            </a:r>
            <a:r>
              <a:rPr lang="en-US" sz="2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Sensor Node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523577-4E8D-ED2D-996C-2CBE75A4B1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36557" y="1770743"/>
            <a:ext cx="5699839" cy="3062514"/>
          </a:xfrm>
          <a:prstGeom prst="rect">
            <a:avLst/>
          </a:prstGeom>
        </p:spPr>
      </p:pic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FE2987B6-882A-5066-14E9-D9E2E46EB6AF}"/>
              </a:ext>
            </a:extLst>
          </p:cNvPr>
          <p:cNvSpPr txBox="1">
            <a:spLocks/>
          </p:cNvSpPr>
          <p:nvPr/>
        </p:nvSpPr>
        <p:spPr>
          <a:xfrm>
            <a:off x="3860643" y="4726399"/>
            <a:ext cx="4451668" cy="473806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dirty="0"/>
              <a:t>Gambar 7. </a:t>
            </a:r>
            <a:r>
              <a:rPr lang="en-US" sz="1500" dirty="0" err="1"/>
              <a:t>Arsitektur</a:t>
            </a:r>
            <a:r>
              <a:rPr lang="en-US" sz="1500" dirty="0"/>
              <a:t> </a:t>
            </a:r>
            <a:r>
              <a:rPr lang="en-US" sz="1500" i="1" dirty="0"/>
              <a:t>sensor node</a:t>
            </a:r>
            <a:r>
              <a:rPr lang="en-US" sz="1500" dirty="0"/>
              <a:t>.</a:t>
            </a: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D50F25C8-1826-4DFD-246F-AE185F271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0C76-61B8-4F75-968B-505003DAB565}" type="slidenum">
              <a:rPr lang="en-US" smtClean="0"/>
              <a:t>16</a:t>
            </a:fld>
            <a:endParaRPr lang="en-US"/>
          </a:p>
        </p:txBody>
      </p:sp>
      <p:pic>
        <p:nvPicPr>
          <p:cNvPr id="13" name="Picture 12" descr="A blue and white logo&#10;&#10;Description automatically generated">
            <a:extLst>
              <a:ext uri="{FF2B5EF4-FFF2-40B4-BE49-F238E27FC236}">
                <a16:creationId xmlns:a16="http://schemas.microsoft.com/office/drawing/2014/main" id="{C834A099-EC14-4071-B883-1358888D14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080" y="154082"/>
            <a:ext cx="889000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4199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8506B5-6D40-D364-F513-90E573C34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F843A1-D2FC-E9B8-93B6-C69C8961E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294538"/>
            <a:ext cx="6674464" cy="1033669"/>
          </a:xfrm>
        </p:spPr>
        <p:txBody>
          <a:bodyPr>
            <a:normAutofit/>
          </a:bodyPr>
          <a:lstStyle/>
          <a:p>
            <a:r>
              <a:rPr lang="en-US" sz="2800" b="1" dirty="0" err="1">
                <a:solidFill>
                  <a:srgbClr val="FFFFFF"/>
                </a:solidFill>
              </a:rPr>
              <a:t>Metode</a:t>
            </a:r>
            <a:r>
              <a:rPr lang="en-US" sz="2800" b="1" dirty="0">
                <a:solidFill>
                  <a:srgbClr val="FFFFFF"/>
                </a:solidFill>
              </a:rPr>
              <a:t> </a:t>
            </a:r>
            <a:r>
              <a:rPr lang="en-US" sz="2800" b="1" dirty="0" err="1">
                <a:solidFill>
                  <a:srgbClr val="FFFFFF"/>
                </a:solidFill>
              </a:rPr>
              <a:t>Pengujian</a:t>
            </a:r>
            <a:r>
              <a:rPr lang="en-US" sz="2800" b="1" dirty="0">
                <a:solidFill>
                  <a:srgbClr val="FFFFFF"/>
                </a:solidFill>
              </a:rPr>
              <a:t> Sensor Curah </a:t>
            </a:r>
            <a:r>
              <a:rPr lang="en-US" sz="2800" b="1" dirty="0" err="1">
                <a:solidFill>
                  <a:srgbClr val="FFFFFF"/>
                </a:solidFill>
              </a:rPr>
              <a:t>Hujan</a:t>
            </a:r>
            <a:endParaRPr lang="en-US" sz="2800" b="1" dirty="0">
              <a:solidFill>
                <a:srgbClr val="FFFFFF"/>
              </a:solidFill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5BFFB54-C101-BEB1-F876-81F56280C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0C76-61B8-4F75-968B-505003DAB565}" type="slidenum">
              <a:rPr lang="en-US" smtClean="0"/>
              <a:t>17</a:t>
            </a:fld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55C664B-F79B-4CC1-A245-3B14FB06BFF7}"/>
              </a:ext>
            </a:extLst>
          </p:cNvPr>
          <p:cNvSpPr/>
          <p:nvPr/>
        </p:nvSpPr>
        <p:spPr>
          <a:xfrm>
            <a:off x="7934015" y="109497"/>
            <a:ext cx="979129" cy="97912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6" name="Picture 15" descr="A blue and white logo&#10;&#10;Description automatically generated">
            <a:extLst>
              <a:ext uri="{FF2B5EF4-FFF2-40B4-BE49-F238E27FC236}">
                <a16:creationId xmlns:a16="http://schemas.microsoft.com/office/drawing/2014/main" id="{41EB7EC8-2A46-491C-9031-0E852E7CEA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080" y="154082"/>
            <a:ext cx="889000" cy="889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AA33B4-443E-4A7B-ACE1-60C9EB1250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78" y="1706929"/>
            <a:ext cx="7940040" cy="4450385"/>
          </a:xfrm>
          <a:prstGeom prst="rect">
            <a:avLst/>
          </a:prstGeom>
        </p:spPr>
      </p:pic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8744557-7D0E-4166-8BF4-05CE166740C1}"/>
              </a:ext>
            </a:extLst>
          </p:cNvPr>
          <p:cNvSpPr txBox="1">
            <a:spLocks/>
          </p:cNvSpPr>
          <p:nvPr/>
        </p:nvSpPr>
        <p:spPr>
          <a:xfrm>
            <a:off x="2518420" y="6019930"/>
            <a:ext cx="4451668" cy="473806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dirty="0"/>
              <a:t>Gambar 8. </a:t>
            </a:r>
            <a:r>
              <a:rPr lang="en-US" sz="1500" dirty="0" err="1"/>
              <a:t>Visualisasi</a:t>
            </a:r>
            <a:r>
              <a:rPr lang="en-US" sz="1500" dirty="0"/>
              <a:t> </a:t>
            </a:r>
            <a:r>
              <a:rPr lang="en-US" sz="1500" dirty="0" err="1"/>
              <a:t>arsitektur</a:t>
            </a:r>
            <a:r>
              <a:rPr lang="en-US" sz="1500" dirty="0"/>
              <a:t> </a:t>
            </a:r>
            <a:r>
              <a:rPr lang="en-US" sz="1500" i="1" dirty="0"/>
              <a:t>sensor node</a:t>
            </a:r>
            <a:r>
              <a:rPr lang="en-US" sz="15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76267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9229FA-DDF5-3C24-5CC9-AE9228C9C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38CA0D7B-FD3F-04A2-1CF2-B028B010B5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525571-0F85-8892-A779-021F286346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41E0F4-1709-1A3D-FA23-95A2884A52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197F8B-08D7-6E21-6C0B-128628107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BB1BAE3-5323-FDA3-354E-BE84BDDD0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FB8155-BE79-3F23-81DC-84A03575E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Metode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Pengujian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 Sensor Curah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Hujan</a:t>
            </a:r>
            <a:endParaRPr lang="en-US" sz="3200" b="1" dirty="0">
              <a:solidFill>
                <a:srgbClr val="FFFFFF"/>
              </a:solidFill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4240BED-B11F-C618-4ADC-8BE947F47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0C76-61B8-4F75-968B-505003DAB565}" type="slidenum">
              <a:rPr lang="en-US" smtClean="0"/>
              <a:t>18</a:t>
            </a:fld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E4D755C-948D-4502-BDF9-BC3784A0EC23}"/>
              </a:ext>
            </a:extLst>
          </p:cNvPr>
          <p:cNvSpPr/>
          <p:nvPr/>
        </p:nvSpPr>
        <p:spPr>
          <a:xfrm>
            <a:off x="7934015" y="109497"/>
            <a:ext cx="979129" cy="97912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4" name="Picture 13" descr="A blue and white logo&#10;&#10;Description automatically generated">
            <a:extLst>
              <a:ext uri="{FF2B5EF4-FFF2-40B4-BE49-F238E27FC236}">
                <a16:creationId xmlns:a16="http://schemas.microsoft.com/office/drawing/2014/main" id="{A8870101-36F4-4B6D-86C6-CCEE5D517C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080" y="154082"/>
            <a:ext cx="889000" cy="889000"/>
          </a:xfrm>
          <a:prstGeom prst="rect">
            <a:avLst/>
          </a:prstGeom>
        </p:spPr>
      </p:pic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9AE0261-D39D-4BA3-8E7B-9E5673264CBD}"/>
              </a:ext>
            </a:extLst>
          </p:cNvPr>
          <p:cNvSpPr txBox="1">
            <a:spLocks/>
          </p:cNvSpPr>
          <p:nvPr/>
        </p:nvSpPr>
        <p:spPr>
          <a:xfrm>
            <a:off x="3796172" y="5439490"/>
            <a:ext cx="4998403" cy="365126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sv-SE" sz="1500" dirty="0"/>
              <a:t>Gambar 9. Sistem pengujian sensor curah hujan RK400-07.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5D590-ACE1-0068-F2FE-9B14A638A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512" y="2158718"/>
            <a:ext cx="3259299" cy="353995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dirty="0"/>
              <a:t>Sensor </a:t>
            </a:r>
            <a:r>
              <a:rPr lang="en-US" sz="1700" dirty="0" err="1"/>
              <a:t>curah</a:t>
            </a:r>
            <a:r>
              <a:rPr lang="en-US" sz="1700" dirty="0"/>
              <a:t> </a:t>
            </a:r>
            <a:r>
              <a:rPr lang="en-US" sz="1700" dirty="0" err="1"/>
              <a:t>hujan</a:t>
            </a:r>
            <a:r>
              <a:rPr lang="en-US" sz="1700" dirty="0"/>
              <a:t> </a:t>
            </a:r>
            <a:r>
              <a:rPr lang="en-US" sz="1700" dirty="0" err="1"/>
              <a:t>diuji</a:t>
            </a:r>
            <a:r>
              <a:rPr lang="en-US" sz="1700" dirty="0"/>
              <a:t> </a:t>
            </a:r>
            <a:r>
              <a:rPr lang="en-US" sz="1700" dirty="0" err="1"/>
              <a:t>dengan</a:t>
            </a:r>
            <a:r>
              <a:rPr lang="en-US" sz="1700" dirty="0"/>
              <a:t> </a:t>
            </a:r>
            <a:r>
              <a:rPr lang="en-US" sz="1700" dirty="0" err="1"/>
              <a:t>melakukan</a:t>
            </a:r>
            <a:r>
              <a:rPr lang="en-US" sz="1700" dirty="0"/>
              <a:t> </a:t>
            </a:r>
            <a:r>
              <a:rPr lang="en-US" sz="1700" dirty="0" err="1"/>
              <a:t>pengukuran</a:t>
            </a:r>
            <a:r>
              <a:rPr lang="en-US" sz="1700" dirty="0"/>
              <a:t> </a:t>
            </a:r>
            <a:r>
              <a:rPr lang="en-US" sz="1700" dirty="0" err="1"/>
              <a:t>langsung</a:t>
            </a:r>
            <a:r>
              <a:rPr lang="en-US" sz="1700" dirty="0"/>
              <a:t> </a:t>
            </a:r>
            <a:r>
              <a:rPr lang="en-US" sz="1700" dirty="0" err="1"/>
              <a:t>hujan</a:t>
            </a:r>
            <a:r>
              <a:rPr lang="en-US" sz="1700" dirty="0"/>
              <a:t> pada </a:t>
            </a:r>
            <a:r>
              <a:rPr lang="en-US" sz="1700" dirty="0" err="1"/>
              <a:t>tanggal</a:t>
            </a:r>
            <a:r>
              <a:rPr lang="en-US" sz="1700" dirty="0"/>
              <a:t> 31 Mei 2025.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F41F17-903C-46F0-A613-DAC7183076C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991" b="29111"/>
          <a:stretch/>
        </p:blipFill>
        <p:spPr>
          <a:xfrm>
            <a:off x="4040337" y="1843777"/>
            <a:ext cx="4510071" cy="3595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0678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2F2606-6577-BB35-DDC8-4123D55E2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61A66A-C786-6BDB-C8C6-64E92F2DE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b="1" dirty="0" err="1">
                <a:solidFill>
                  <a:srgbClr val="FFFFFF"/>
                </a:solidFill>
              </a:rPr>
              <a:t>Metode</a:t>
            </a:r>
            <a:r>
              <a:rPr lang="en-US" sz="2800" b="1" dirty="0">
                <a:solidFill>
                  <a:srgbClr val="FFFFFF"/>
                </a:solidFill>
              </a:rPr>
              <a:t> </a:t>
            </a:r>
            <a:r>
              <a:rPr lang="en-US" sz="2800" b="1" dirty="0" err="1">
                <a:solidFill>
                  <a:srgbClr val="FFFFFF"/>
                </a:solidFill>
              </a:rPr>
              <a:t>Pengujian</a:t>
            </a:r>
            <a:r>
              <a:rPr lang="en-US" sz="2800" b="1" dirty="0">
                <a:solidFill>
                  <a:srgbClr val="FFFFFF"/>
                </a:solidFill>
              </a:rPr>
              <a:t> Sensor Curah </a:t>
            </a:r>
            <a:r>
              <a:rPr lang="en-US" sz="2800" b="1" dirty="0" err="1">
                <a:solidFill>
                  <a:srgbClr val="FFFFFF"/>
                </a:solidFill>
              </a:rPr>
              <a:t>Hujan</a:t>
            </a:r>
            <a:endParaRPr lang="en-US" sz="28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523577-4E8D-ED2D-996C-2CBE75A4B1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36557" y="1775257"/>
            <a:ext cx="5699839" cy="3053485"/>
          </a:xfrm>
          <a:prstGeom prst="rect">
            <a:avLst/>
          </a:prstGeom>
        </p:spPr>
      </p:pic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FE2987B6-882A-5066-14E9-D9E2E46EB6AF}"/>
              </a:ext>
            </a:extLst>
          </p:cNvPr>
          <p:cNvSpPr txBox="1">
            <a:spLocks/>
          </p:cNvSpPr>
          <p:nvPr/>
        </p:nvSpPr>
        <p:spPr>
          <a:xfrm>
            <a:off x="3860643" y="4881837"/>
            <a:ext cx="4451668" cy="473806"/>
          </a:xfrm>
          <a:prstGeom prst="rect">
            <a:avLst/>
          </a:prstGeom>
        </p:spPr>
        <p:txBody>
          <a:bodyPr vert="horz" lIns="68580" tIns="34290" rIns="68580" bIns="34290" rtlCol="0" anchor="b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dirty="0"/>
              <a:t>Gambar 10. </a:t>
            </a:r>
            <a:r>
              <a:rPr lang="en-US" sz="1500" dirty="0" err="1"/>
              <a:t>Arsitektur</a:t>
            </a:r>
            <a:r>
              <a:rPr lang="en-US" sz="1500" dirty="0"/>
              <a:t> </a:t>
            </a:r>
            <a:r>
              <a:rPr lang="en-US" sz="1500" dirty="0" err="1"/>
              <a:t>sistem</a:t>
            </a:r>
            <a:r>
              <a:rPr lang="en-US" sz="1500" dirty="0"/>
              <a:t> </a:t>
            </a:r>
            <a:r>
              <a:rPr lang="en-US" sz="1500" dirty="0" err="1"/>
              <a:t>pengujian</a:t>
            </a:r>
            <a:r>
              <a:rPr lang="en-US" sz="1500" dirty="0"/>
              <a:t> sensor </a:t>
            </a:r>
            <a:r>
              <a:rPr lang="en-US" sz="1500" dirty="0" err="1"/>
              <a:t>curah</a:t>
            </a:r>
            <a:r>
              <a:rPr lang="en-US" sz="1500" dirty="0"/>
              <a:t> </a:t>
            </a:r>
            <a:r>
              <a:rPr lang="en-US" sz="1500" dirty="0" err="1"/>
              <a:t>hujan</a:t>
            </a:r>
            <a:r>
              <a:rPr lang="en-US" sz="1500" dirty="0"/>
              <a:t>.</a:t>
            </a: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D50F25C8-1826-4DFD-246F-AE185F271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0C76-61B8-4F75-968B-505003DAB565}" type="slidenum">
              <a:rPr lang="en-US" smtClean="0"/>
              <a:t>19</a:t>
            </a:fld>
            <a:endParaRPr lang="en-US"/>
          </a:p>
        </p:txBody>
      </p:sp>
      <p:pic>
        <p:nvPicPr>
          <p:cNvPr id="13" name="Picture 12" descr="A blue and white logo&#10;&#10;Description automatically generated">
            <a:extLst>
              <a:ext uri="{FF2B5EF4-FFF2-40B4-BE49-F238E27FC236}">
                <a16:creationId xmlns:a16="http://schemas.microsoft.com/office/drawing/2014/main" id="{C834A099-EC14-4071-B883-1358888D14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080" y="154082"/>
            <a:ext cx="889000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597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41AD65-0E3E-7072-B3BD-E30BD9D77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59CE83-3F66-F3FC-EE04-67CBA6482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b="1" dirty="0" err="1">
                <a:solidFill>
                  <a:srgbClr val="FFFFFF"/>
                </a:solidFill>
              </a:rPr>
              <a:t>Metode</a:t>
            </a:r>
            <a:r>
              <a:rPr lang="en-US" sz="3200" b="1" dirty="0">
                <a:solidFill>
                  <a:srgbClr val="FFFFFF"/>
                </a:solidFill>
              </a:rPr>
              <a:t> </a:t>
            </a:r>
            <a:r>
              <a:rPr lang="en-US" sz="3200" b="1" dirty="0" err="1">
                <a:solidFill>
                  <a:srgbClr val="FFFFFF"/>
                </a:solidFill>
              </a:rPr>
              <a:t>Pengujian</a:t>
            </a:r>
            <a:r>
              <a:rPr lang="en-US" sz="3200" b="1" dirty="0">
                <a:solidFill>
                  <a:srgbClr val="FFFFFF"/>
                </a:solidFill>
              </a:rPr>
              <a:t> Sensor Curah </a:t>
            </a:r>
            <a:r>
              <a:rPr lang="en-US" sz="3200" b="1" dirty="0" err="1">
                <a:solidFill>
                  <a:srgbClr val="FFFFFF"/>
                </a:solidFill>
              </a:rPr>
              <a:t>Hujan</a:t>
            </a:r>
            <a:endParaRPr lang="en-US" sz="32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E9CBC3BE-F521-6E31-B8EC-75065CA1BD04}"/>
              </a:ext>
            </a:extLst>
          </p:cNvPr>
          <p:cNvSpPr txBox="1">
            <a:spLocks/>
          </p:cNvSpPr>
          <p:nvPr/>
        </p:nvSpPr>
        <p:spPr>
          <a:xfrm>
            <a:off x="3860643" y="6105993"/>
            <a:ext cx="4451668" cy="459950"/>
          </a:xfrm>
          <a:prstGeom prst="rect">
            <a:avLst/>
          </a:prstGeom>
        </p:spPr>
        <p:txBody>
          <a:bodyPr vert="horz" lIns="68580" tIns="34290" rIns="68580" bIns="34290" rtlCol="0" anchor="b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sv-SE" sz="1500" dirty="0"/>
              <a:t>Gambar 11. Flowchart pengujian sistem pengukuran curah hujan.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D7A32301-9F1A-3324-C9A2-52C5A147F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0C76-61B8-4F75-968B-505003DAB565}" type="slidenum">
              <a:rPr lang="en-US" smtClean="0"/>
              <a:t>20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309CEA-FC7A-4554-8BA1-158E9075D6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68415" y="272326"/>
            <a:ext cx="5836119" cy="5874431"/>
          </a:xfrm>
          <a:prstGeom prst="rect">
            <a:avLst/>
          </a:prstGeom>
        </p:spPr>
      </p:pic>
      <p:pic>
        <p:nvPicPr>
          <p:cNvPr id="12" name="Picture 11" descr="A blue and white logo&#10;&#10;Description automatically generated">
            <a:extLst>
              <a:ext uri="{FF2B5EF4-FFF2-40B4-BE49-F238E27FC236}">
                <a16:creationId xmlns:a16="http://schemas.microsoft.com/office/drawing/2014/main" id="{6A5BD9C0-32B5-477F-9A53-5D4439E517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080" y="154082"/>
            <a:ext cx="889000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0888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9229FA-DDF5-3C24-5CC9-AE9228C9C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38CA0D7B-FD3F-04A2-1CF2-B028B010B5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525571-0F85-8892-A779-021F286346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41E0F4-1709-1A3D-FA23-95A2884A52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197F8B-08D7-6E21-6C0B-128628107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BB1BAE3-5323-FDA3-354E-BE84BDDD0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FB8155-BE79-3F23-81DC-84A03575E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rgbClr val="FFFFFF"/>
                </a:solidFill>
              </a:rPr>
              <a:t>Metode</a:t>
            </a:r>
            <a:r>
              <a:rPr lang="en-US" sz="3200" b="1" dirty="0">
                <a:solidFill>
                  <a:srgbClr val="FFFFFF"/>
                </a:solidFill>
              </a:rPr>
              <a:t> </a:t>
            </a:r>
            <a:r>
              <a:rPr lang="en-US" sz="3200" b="1" dirty="0" err="1">
                <a:solidFill>
                  <a:srgbClr val="FFFFFF"/>
                </a:solidFill>
              </a:rPr>
              <a:t>Pengujian</a:t>
            </a:r>
            <a:r>
              <a:rPr lang="en-US" sz="3200" b="1" dirty="0">
                <a:solidFill>
                  <a:srgbClr val="FFFFFF"/>
                </a:solidFill>
              </a:rPr>
              <a:t> LoRa SX1276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5D590-ACE1-0068-F2FE-9B14A638A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dirty="0" err="1"/>
              <a:t>Kualitas</a:t>
            </a:r>
            <a:r>
              <a:rPr lang="en-US" sz="1700" dirty="0"/>
              <a:t> </a:t>
            </a:r>
            <a:r>
              <a:rPr lang="en-US" sz="1700" dirty="0" err="1"/>
              <a:t>sinyal</a:t>
            </a:r>
            <a:r>
              <a:rPr lang="en-US" sz="1700" dirty="0"/>
              <a:t> </a:t>
            </a:r>
            <a:r>
              <a:rPr lang="en-US" sz="1700" dirty="0" err="1"/>
              <a:t>modul</a:t>
            </a:r>
            <a:r>
              <a:rPr lang="en-US" sz="1700" dirty="0"/>
              <a:t> LoRa SX1276 LoRa </a:t>
            </a:r>
            <a:r>
              <a:rPr lang="en-US" sz="1700" dirty="0" err="1"/>
              <a:t>diuji</a:t>
            </a:r>
            <a:r>
              <a:rPr lang="en-US" sz="1700" dirty="0"/>
              <a:t> pada </a:t>
            </a:r>
            <a:r>
              <a:rPr lang="en-US" sz="1700" dirty="0" err="1"/>
              <a:t>lingkungan</a:t>
            </a:r>
            <a:r>
              <a:rPr lang="en-US" sz="1700" dirty="0"/>
              <a:t>:</a:t>
            </a:r>
          </a:p>
          <a:p>
            <a:r>
              <a:rPr lang="en-US" sz="1700" dirty="0"/>
              <a:t>Banyak </a:t>
            </a:r>
            <a:r>
              <a:rPr lang="en-US" sz="1700" dirty="0" err="1"/>
              <a:t>gedung</a:t>
            </a:r>
            <a:endParaRPr lang="en-US" sz="1700" dirty="0"/>
          </a:p>
          <a:p>
            <a:r>
              <a:rPr lang="en-US" sz="1700" dirty="0"/>
              <a:t>Banyak </a:t>
            </a:r>
            <a:r>
              <a:rPr lang="en-US" sz="1700" dirty="0" err="1"/>
              <a:t>pohon</a:t>
            </a:r>
            <a:endParaRPr lang="en-US" sz="1700" dirty="0"/>
          </a:p>
          <a:p>
            <a:r>
              <a:rPr lang="en-US" sz="1700" dirty="0"/>
              <a:t>Tanah </a:t>
            </a:r>
            <a:r>
              <a:rPr lang="en-US" sz="1700" dirty="0" err="1"/>
              <a:t>lapang</a:t>
            </a:r>
            <a:endParaRPr lang="en-US" sz="1700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4240BED-B11F-C618-4ADC-8BE947F47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0C76-61B8-4F75-968B-505003DAB565}" type="slidenum">
              <a:rPr lang="en-US" smtClean="0"/>
              <a:t>21</a:t>
            </a:fld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E4D755C-948D-4502-BDF9-BC3784A0EC23}"/>
              </a:ext>
            </a:extLst>
          </p:cNvPr>
          <p:cNvSpPr/>
          <p:nvPr/>
        </p:nvSpPr>
        <p:spPr>
          <a:xfrm>
            <a:off x="7934015" y="109497"/>
            <a:ext cx="979129" cy="97912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4" name="Picture 13" descr="A blue and white logo&#10;&#10;Description automatically generated">
            <a:extLst>
              <a:ext uri="{FF2B5EF4-FFF2-40B4-BE49-F238E27FC236}">
                <a16:creationId xmlns:a16="http://schemas.microsoft.com/office/drawing/2014/main" id="{A8870101-36F4-4B6D-86C6-CCEE5D517C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080" y="154082"/>
            <a:ext cx="889000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4205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E2E33-1246-55A7-C21F-39CA8CE95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4934F-85F4-3FCD-6700-A67281D2F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/>
              <a:t>Metode</a:t>
            </a:r>
            <a:r>
              <a:rPr lang="en-US" sz="3600" dirty="0"/>
              <a:t> </a:t>
            </a:r>
            <a:r>
              <a:rPr lang="en-US" sz="3600" dirty="0" err="1"/>
              <a:t>Pengujian</a:t>
            </a:r>
            <a:r>
              <a:rPr lang="en-US" sz="3600" dirty="0"/>
              <a:t> LoRa SX1276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4B3DD74-0344-A348-FB7A-BD82ADF7BB40}"/>
              </a:ext>
            </a:extLst>
          </p:cNvPr>
          <p:cNvSpPr txBox="1">
            <a:spLocks/>
          </p:cNvSpPr>
          <p:nvPr/>
        </p:nvSpPr>
        <p:spPr>
          <a:xfrm>
            <a:off x="623323" y="5166291"/>
            <a:ext cx="2435747" cy="58027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/>
              <a:t>Gambar 12. </a:t>
            </a:r>
            <a:r>
              <a:rPr lang="en-US" sz="1200" dirty="0" err="1"/>
              <a:t>Kondisi</a:t>
            </a:r>
            <a:r>
              <a:rPr lang="en-US" sz="1200" dirty="0"/>
              <a:t> </a:t>
            </a:r>
            <a:r>
              <a:rPr lang="en-US" sz="1200" dirty="0" err="1"/>
              <a:t>pengukuran</a:t>
            </a:r>
            <a:r>
              <a:rPr lang="en-US" sz="1200" dirty="0"/>
              <a:t> </a:t>
            </a:r>
            <a:r>
              <a:rPr lang="en-US" sz="1200" dirty="0" err="1"/>
              <a:t>jangkauan</a:t>
            </a:r>
            <a:r>
              <a:rPr lang="en-US" sz="1200" dirty="0"/>
              <a:t> LoRa pada </a:t>
            </a:r>
            <a:r>
              <a:rPr lang="en-US" sz="1200" dirty="0" err="1"/>
              <a:t>daerah</a:t>
            </a:r>
            <a:r>
              <a:rPr lang="en-US" sz="1200" dirty="0"/>
              <a:t> </a:t>
            </a:r>
            <a:r>
              <a:rPr lang="en-US" sz="1200" dirty="0" err="1"/>
              <a:t>banyak</a:t>
            </a:r>
            <a:r>
              <a:rPr lang="en-US" sz="1200" dirty="0"/>
              <a:t> </a:t>
            </a:r>
            <a:r>
              <a:rPr lang="en-US" sz="1200" dirty="0" err="1"/>
              <a:t>gedung</a:t>
            </a:r>
            <a:r>
              <a:rPr lang="en-US" sz="1200" dirty="0"/>
              <a:t>.</a:t>
            </a:r>
          </a:p>
        </p:txBody>
      </p:sp>
      <p:pic>
        <p:nvPicPr>
          <p:cNvPr id="5" name="Picture 4" descr="A road with trees and a building&#10;&#10;Description automatically generated">
            <a:extLst>
              <a:ext uri="{FF2B5EF4-FFF2-40B4-BE49-F238E27FC236}">
                <a16:creationId xmlns:a16="http://schemas.microsoft.com/office/drawing/2014/main" id="{ACB833BC-03A7-A084-6198-37A15B7C6C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1217"/>
          <a:stretch/>
        </p:blipFill>
        <p:spPr>
          <a:xfrm>
            <a:off x="628650" y="2116551"/>
            <a:ext cx="2435746" cy="2975548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BA6857E-9E8C-D971-86C9-54DE8013D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0C76-61B8-4F75-968B-505003DAB565}" type="slidenum">
              <a:rPr lang="en-US" smtClean="0"/>
              <a:t>22</a:t>
            </a:fld>
            <a:endParaRPr lang="en-US"/>
          </a:p>
        </p:txBody>
      </p:sp>
      <p:pic>
        <p:nvPicPr>
          <p:cNvPr id="9" name="Picture 8" descr="A blue and white logo&#10;&#10;Description automatically generated">
            <a:extLst>
              <a:ext uri="{FF2B5EF4-FFF2-40B4-BE49-F238E27FC236}">
                <a16:creationId xmlns:a16="http://schemas.microsoft.com/office/drawing/2014/main" id="{E33AD500-3A21-4035-A4AE-DCC16274F0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080" y="154082"/>
            <a:ext cx="889000" cy="889000"/>
          </a:xfrm>
          <a:prstGeom prst="rect">
            <a:avLst/>
          </a:prstGeom>
        </p:spPr>
      </p:pic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B3791DCA-1FD0-44A5-8D44-0F97E655BDCD}"/>
              </a:ext>
            </a:extLst>
          </p:cNvPr>
          <p:cNvSpPr txBox="1">
            <a:spLocks/>
          </p:cNvSpPr>
          <p:nvPr/>
        </p:nvSpPr>
        <p:spPr>
          <a:xfrm>
            <a:off x="3348800" y="5166291"/>
            <a:ext cx="2435747" cy="58027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/>
              <a:t>Gambar 13. </a:t>
            </a:r>
            <a:r>
              <a:rPr lang="en-US" sz="1200" dirty="0" err="1"/>
              <a:t>Kondisi</a:t>
            </a:r>
            <a:r>
              <a:rPr lang="en-US" sz="1200" dirty="0"/>
              <a:t> </a:t>
            </a:r>
            <a:r>
              <a:rPr lang="en-US" sz="1200" dirty="0" err="1"/>
              <a:t>pengukuran</a:t>
            </a:r>
            <a:r>
              <a:rPr lang="en-US" sz="1200" dirty="0"/>
              <a:t> </a:t>
            </a:r>
            <a:r>
              <a:rPr lang="en-US" sz="1200" dirty="0" err="1"/>
              <a:t>jangkauan</a:t>
            </a:r>
            <a:r>
              <a:rPr lang="en-US" sz="1200" dirty="0"/>
              <a:t> LoRa pada </a:t>
            </a:r>
            <a:r>
              <a:rPr lang="en-US" sz="1200" dirty="0" err="1"/>
              <a:t>daerah</a:t>
            </a:r>
            <a:r>
              <a:rPr lang="en-US" sz="1200" dirty="0"/>
              <a:t> </a:t>
            </a:r>
            <a:r>
              <a:rPr lang="en-US" sz="1200" dirty="0" err="1"/>
              <a:t>banyak</a:t>
            </a:r>
            <a:r>
              <a:rPr lang="en-US" sz="1200" dirty="0"/>
              <a:t> </a:t>
            </a:r>
            <a:r>
              <a:rPr lang="en-US" sz="1200" dirty="0" err="1"/>
              <a:t>pohon</a:t>
            </a:r>
            <a:r>
              <a:rPr lang="en-US" sz="1200" dirty="0"/>
              <a:t>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A98A535-9D57-481E-A7F2-3D3CBF5706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" b="57"/>
          <a:stretch/>
        </p:blipFill>
        <p:spPr>
          <a:xfrm>
            <a:off x="3354127" y="2116551"/>
            <a:ext cx="2435746" cy="2975548"/>
          </a:xfrm>
          <a:prstGeom prst="rect">
            <a:avLst/>
          </a:prstGeom>
        </p:spPr>
      </p:pic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74ACBE7C-F662-4A76-8D93-086787146704}"/>
              </a:ext>
            </a:extLst>
          </p:cNvPr>
          <p:cNvSpPr txBox="1">
            <a:spLocks/>
          </p:cNvSpPr>
          <p:nvPr/>
        </p:nvSpPr>
        <p:spPr>
          <a:xfrm>
            <a:off x="6068950" y="5166291"/>
            <a:ext cx="2435747" cy="58027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/>
              <a:t>Gambar 14. </a:t>
            </a:r>
            <a:r>
              <a:rPr lang="en-US" sz="1200" dirty="0" err="1"/>
              <a:t>Kondisi</a:t>
            </a:r>
            <a:r>
              <a:rPr lang="en-US" sz="1200" dirty="0"/>
              <a:t> </a:t>
            </a:r>
            <a:r>
              <a:rPr lang="en-US" sz="1200" dirty="0" err="1"/>
              <a:t>pengukuran</a:t>
            </a:r>
            <a:r>
              <a:rPr lang="en-US" sz="1200" dirty="0"/>
              <a:t> </a:t>
            </a:r>
            <a:r>
              <a:rPr lang="en-US" sz="1200" dirty="0" err="1"/>
              <a:t>jangkauan</a:t>
            </a:r>
            <a:r>
              <a:rPr lang="en-US" sz="1200" dirty="0"/>
              <a:t> LoRa pada </a:t>
            </a:r>
            <a:r>
              <a:rPr lang="en-US" sz="1200" dirty="0" err="1"/>
              <a:t>daerah</a:t>
            </a:r>
            <a:r>
              <a:rPr lang="en-US" sz="1200" dirty="0"/>
              <a:t> </a:t>
            </a:r>
            <a:r>
              <a:rPr lang="en-US" sz="1200" dirty="0" err="1"/>
              <a:t>tanah</a:t>
            </a:r>
            <a:r>
              <a:rPr lang="en-US" sz="1200" dirty="0"/>
              <a:t> </a:t>
            </a:r>
            <a:r>
              <a:rPr lang="en-US" sz="1200" dirty="0" err="1"/>
              <a:t>lapang</a:t>
            </a:r>
            <a:r>
              <a:rPr lang="en-US" sz="1200" dirty="0"/>
              <a:t>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E4DD6AF-9715-401A-AF70-705A145D36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" b="57"/>
          <a:stretch/>
        </p:blipFill>
        <p:spPr>
          <a:xfrm>
            <a:off x="6074277" y="2116551"/>
            <a:ext cx="2435746" cy="2975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6785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9229FA-DDF5-3C24-5CC9-AE9228C9C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38CA0D7B-FD3F-04A2-1CF2-B028B010B5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525571-0F85-8892-A779-021F286346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41E0F4-1709-1A3D-FA23-95A2884A52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197F8B-08D7-6E21-6C0B-128628107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BB1BAE3-5323-FDA3-354E-BE84BDDD0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FB8155-BE79-3F23-81DC-84A03575E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FFFF"/>
                </a:solidFill>
              </a:rPr>
              <a:t>Analisa </a:t>
            </a:r>
            <a:r>
              <a:rPr lang="en-US" sz="3200" b="1" dirty="0" err="1">
                <a:solidFill>
                  <a:srgbClr val="FFFFFF"/>
                </a:solidFill>
              </a:rPr>
              <a:t>Keberpengaruhan</a:t>
            </a:r>
            <a:endParaRPr lang="en-US" sz="3200" b="1" dirty="0">
              <a:solidFill>
                <a:srgbClr val="FFFFFF"/>
              </a:solidFill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4240BED-B11F-C618-4ADC-8BE947F47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0C76-61B8-4F75-968B-505003DAB565}" type="slidenum">
              <a:rPr lang="en-US" smtClean="0"/>
              <a:t>23</a:t>
            </a:fld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E4D755C-948D-4502-BDF9-BC3784A0EC23}"/>
              </a:ext>
            </a:extLst>
          </p:cNvPr>
          <p:cNvSpPr/>
          <p:nvPr/>
        </p:nvSpPr>
        <p:spPr>
          <a:xfrm>
            <a:off x="7934015" y="109497"/>
            <a:ext cx="979129" cy="97912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4" name="Picture 13" descr="A blue and white logo&#10;&#10;Description automatically generated">
            <a:extLst>
              <a:ext uri="{FF2B5EF4-FFF2-40B4-BE49-F238E27FC236}">
                <a16:creationId xmlns:a16="http://schemas.microsoft.com/office/drawing/2014/main" id="{A8870101-36F4-4B6D-86C6-CCEE5D517C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080" y="154082"/>
            <a:ext cx="889000" cy="889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810BCC-7890-4254-BFE6-2EB88B6F04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24225" y="1635326"/>
            <a:ext cx="4075262" cy="3992591"/>
          </a:xfrm>
          <a:prstGeom prst="rect">
            <a:avLst/>
          </a:prstGeom>
        </p:spPr>
      </p:pic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9AE0261-D39D-4BA3-8E7B-9E5673264CBD}"/>
              </a:ext>
            </a:extLst>
          </p:cNvPr>
          <p:cNvSpPr txBox="1">
            <a:spLocks/>
          </p:cNvSpPr>
          <p:nvPr/>
        </p:nvSpPr>
        <p:spPr>
          <a:xfrm>
            <a:off x="3801084" y="5615684"/>
            <a:ext cx="4998403" cy="848616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sv-SE" sz="1400" dirty="0"/>
              <a:t>Gambar 15. Peta hulu sungai Citarum (</a:t>
            </a:r>
            <a:r>
              <a:rPr lang="en-US" sz="1400" dirty="0" err="1"/>
              <a:t>Lubis</a:t>
            </a:r>
            <a:r>
              <a:rPr lang="en-US" sz="1400" dirty="0"/>
              <a:t>, R. L. (2017). Towards </a:t>
            </a:r>
            <a:r>
              <a:rPr lang="en-US" sz="1400" dirty="0" err="1"/>
              <a:t>Ecopreneurial</a:t>
            </a:r>
            <a:r>
              <a:rPr lang="en-US" sz="1400" dirty="0"/>
              <a:t> Society in Bandung City Indonesia: A Case Study from RW-05 </a:t>
            </a:r>
            <a:r>
              <a:rPr lang="en-US" sz="1400" dirty="0" err="1"/>
              <a:t>Cihampelas</a:t>
            </a:r>
            <a:r>
              <a:rPr lang="en-US" sz="1400" dirty="0"/>
              <a:t> Street. Academic Journal of Science, 7(3), 513-554.)</a:t>
            </a:r>
            <a:endParaRPr lang="sv-SE" sz="1400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A961FC3-94AA-47D7-9BB9-7C959EE0BE4C}"/>
              </a:ext>
            </a:extLst>
          </p:cNvPr>
          <p:cNvSpPr txBox="1">
            <a:spLocks/>
          </p:cNvSpPr>
          <p:nvPr/>
        </p:nvSpPr>
        <p:spPr>
          <a:xfrm>
            <a:off x="344512" y="2158718"/>
            <a:ext cx="3909988" cy="35399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 err="1"/>
              <a:t>Dilakukan</a:t>
            </a:r>
            <a:r>
              <a:rPr lang="en-US" sz="1700" dirty="0"/>
              <a:t> </a:t>
            </a:r>
            <a:r>
              <a:rPr lang="en-US" sz="1700" dirty="0" err="1"/>
              <a:t>permodelan</a:t>
            </a:r>
            <a:r>
              <a:rPr lang="en-US" sz="1700" dirty="0"/>
              <a:t> </a:t>
            </a:r>
            <a:r>
              <a:rPr lang="en-US" sz="1700" dirty="0" err="1"/>
              <a:t>terhadap</a:t>
            </a:r>
            <a:r>
              <a:rPr lang="en-US" sz="1700" dirty="0"/>
              <a:t> </a:t>
            </a:r>
            <a:r>
              <a:rPr lang="en-US" sz="1700" dirty="0" err="1"/>
              <a:t>pengaruh</a:t>
            </a:r>
            <a:r>
              <a:rPr lang="en-US" sz="1700" dirty="0"/>
              <a:t> </a:t>
            </a:r>
            <a:r>
              <a:rPr lang="en-US" sz="1700" dirty="0" err="1"/>
              <a:t>curah</a:t>
            </a:r>
            <a:r>
              <a:rPr lang="en-US" sz="1700" dirty="0"/>
              <a:t> </a:t>
            </a:r>
            <a:r>
              <a:rPr lang="en-US" sz="1700" dirty="0" err="1"/>
              <a:t>hujan</a:t>
            </a:r>
            <a:r>
              <a:rPr lang="en-US" sz="1700" dirty="0"/>
              <a:t> </a:t>
            </a:r>
            <a:r>
              <a:rPr lang="en-US" sz="1700" dirty="0" err="1"/>
              <a:t>terhadap</a:t>
            </a:r>
            <a:r>
              <a:rPr lang="en-US" sz="1700" dirty="0"/>
              <a:t> </a:t>
            </a:r>
            <a:r>
              <a:rPr lang="en-US" sz="1700" dirty="0" err="1"/>
              <a:t>potensi</a:t>
            </a:r>
            <a:r>
              <a:rPr lang="en-US" sz="1700" dirty="0"/>
              <a:t> </a:t>
            </a:r>
            <a:r>
              <a:rPr lang="en-US" sz="1700" dirty="0" err="1"/>
              <a:t>banjir</a:t>
            </a:r>
            <a:r>
              <a:rPr lang="en-US" sz="1700" dirty="0"/>
              <a:t> di </a:t>
            </a:r>
            <a:r>
              <a:rPr lang="en-US" sz="1700" dirty="0" err="1"/>
              <a:t>Kecamatan</a:t>
            </a:r>
            <a:r>
              <a:rPr lang="en-US" sz="1700" dirty="0"/>
              <a:t> </a:t>
            </a:r>
            <a:r>
              <a:rPr lang="en-US" sz="1700" dirty="0" err="1"/>
              <a:t>Dayeuhkolot</a:t>
            </a:r>
            <a:r>
              <a:rPr lang="en-US" sz="1700" dirty="0"/>
              <a:t> </a:t>
            </a:r>
            <a:r>
              <a:rPr lang="en-US" sz="1700" dirty="0" err="1"/>
              <a:t>berdasarkan</a:t>
            </a:r>
            <a:r>
              <a:rPr lang="en-US" sz="1700" dirty="0"/>
              <a:t> data yang </a:t>
            </a:r>
            <a:r>
              <a:rPr lang="en-US" sz="1700" dirty="0" err="1"/>
              <a:t>dikumpulkan</a:t>
            </a:r>
            <a:r>
              <a:rPr lang="en-US" sz="1700" dirty="0"/>
              <a:t> di FFWS BBWS </a:t>
            </a:r>
            <a:r>
              <a:rPr lang="en-US" sz="1700" dirty="0" err="1"/>
              <a:t>Citarum</a:t>
            </a:r>
            <a:r>
              <a:rPr lang="en-US" sz="1700" dirty="0"/>
              <a:t>.</a:t>
            </a:r>
          </a:p>
          <a:p>
            <a:pPr marL="0" indent="0">
              <a:buNone/>
            </a:pPr>
            <a:r>
              <a:rPr lang="en-US" sz="1700" dirty="0" err="1"/>
              <a:t>Tujuan</a:t>
            </a:r>
            <a:r>
              <a:rPr lang="en-US" sz="1700" dirty="0"/>
              <a:t> </a:t>
            </a:r>
            <a:r>
              <a:rPr lang="en-US" sz="1700" dirty="0" err="1"/>
              <a:t>dari</a:t>
            </a:r>
            <a:r>
              <a:rPr lang="en-US" sz="1700" dirty="0"/>
              <a:t> </a:t>
            </a:r>
            <a:r>
              <a:rPr lang="en-US" sz="1700" dirty="0" err="1"/>
              <a:t>permodelan</a:t>
            </a:r>
            <a:r>
              <a:rPr lang="en-US" sz="1700" dirty="0"/>
              <a:t> </a:t>
            </a:r>
            <a:r>
              <a:rPr lang="en-US" sz="1700" dirty="0" err="1"/>
              <a:t>tersebut</a:t>
            </a:r>
            <a:r>
              <a:rPr lang="en-US" sz="1700" dirty="0"/>
              <a:t> </a:t>
            </a:r>
            <a:r>
              <a:rPr lang="en-US" sz="1700" dirty="0" err="1"/>
              <a:t>adalah</a:t>
            </a:r>
            <a:r>
              <a:rPr lang="en-US" sz="1700" dirty="0"/>
              <a:t> </a:t>
            </a:r>
            <a:r>
              <a:rPr lang="en-US" sz="1700" dirty="0" err="1"/>
              <a:t>untuk</a:t>
            </a:r>
            <a:r>
              <a:rPr lang="en-US" sz="1700" dirty="0"/>
              <a:t> </a:t>
            </a:r>
            <a:r>
              <a:rPr lang="en-US" sz="1700" dirty="0" err="1"/>
              <a:t>mempelajari</a:t>
            </a:r>
            <a:r>
              <a:rPr lang="en-US" sz="1700" dirty="0"/>
              <a:t> </a:t>
            </a:r>
            <a:r>
              <a:rPr lang="en-US" sz="1700" dirty="0" err="1"/>
              <a:t>keberpengaruhan</a:t>
            </a:r>
            <a:r>
              <a:rPr lang="en-US" sz="1700" dirty="0"/>
              <a:t> </a:t>
            </a:r>
            <a:r>
              <a:rPr lang="en-US" sz="1700" dirty="0" err="1"/>
              <a:t>dari</a:t>
            </a:r>
            <a:r>
              <a:rPr lang="en-US" sz="1700" dirty="0"/>
              <a:t> </a:t>
            </a:r>
            <a:r>
              <a:rPr lang="en-US" sz="1700" dirty="0" err="1"/>
              <a:t>hujan</a:t>
            </a:r>
            <a:r>
              <a:rPr lang="en-US" sz="1700" dirty="0"/>
              <a:t> di </a:t>
            </a:r>
            <a:r>
              <a:rPr lang="en-US" sz="1700" dirty="0" err="1"/>
              <a:t>berbagai</a:t>
            </a:r>
            <a:r>
              <a:rPr lang="en-US" sz="1700" dirty="0"/>
              <a:t> </a:t>
            </a:r>
            <a:r>
              <a:rPr lang="en-US" sz="1700" dirty="0" err="1"/>
              <a:t>daerah</a:t>
            </a:r>
            <a:r>
              <a:rPr lang="en-US" sz="1700" dirty="0"/>
              <a:t> </a:t>
            </a:r>
            <a:r>
              <a:rPr lang="en-US" sz="1700" dirty="0" err="1"/>
              <a:t>terhadap</a:t>
            </a:r>
            <a:r>
              <a:rPr lang="en-US" sz="1700" dirty="0"/>
              <a:t> </a:t>
            </a:r>
            <a:r>
              <a:rPr lang="en-US" sz="1700" dirty="0" err="1"/>
              <a:t>banjir</a:t>
            </a:r>
            <a:r>
              <a:rPr lang="en-US" sz="1700" dirty="0"/>
              <a:t> di </a:t>
            </a:r>
            <a:r>
              <a:rPr lang="en-US" sz="1700" dirty="0" err="1"/>
              <a:t>Kecamatan</a:t>
            </a:r>
            <a:r>
              <a:rPr lang="en-US" sz="1700" dirty="0"/>
              <a:t> </a:t>
            </a:r>
            <a:r>
              <a:rPr lang="en-US" sz="1700" dirty="0" err="1"/>
              <a:t>Dayeuhkolot</a:t>
            </a:r>
            <a:r>
              <a:rPr lang="en-US" sz="17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550529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8506B5-6D40-D364-F513-90E573C34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F843A1-D2FC-E9B8-93B6-C69C8961E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294538"/>
            <a:ext cx="6674464" cy="1033669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FFFF"/>
                </a:solidFill>
              </a:rPr>
              <a:t>Analisa </a:t>
            </a:r>
            <a:r>
              <a:rPr lang="en-US" sz="3200" b="1" dirty="0" err="1">
                <a:solidFill>
                  <a:srgbClr val="FFFFFF"/>
                </a:solidFill>
              </a:rPr>
              <a:t>Keberpengaruhan</a:t>
            </a:r>
            <a:endParaRPr lang="en-US" sz="3200" b="1" dirty="0">
              <a:solidFill>
                <a:srgbClr val="FFFFFF"/>
              </a:solidFill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5BFFB54-C101-BEB1-F876-81F56280C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0C76-61B8-4F75-968B-505003DAB565}" type="slidenum">
              <a:rPr lang="en-US" smtClean="0"/>
              <a:t>24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98B84E-6D9B-46D0-B22D-1C293F51EC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62885" y="2296832"/>
            <a:ext cx="5218225" cy="3978602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ECA0DE7-A960-B150-5644-259136EDB959}"/>
              </a:ext>
            </a:extLst>
          </p:cNvPr>
          <p:cNvSpPr txBox="1">
            <a:spLocks/>
          </p:cNvSpPr>
          <p:nvPr/>
        </p:nvSpPr>
        <p:spPr>
          <a:xfrm>
            <a:off x="1028699" y="1614504"/>
            <a:ext cx="7293023" cy="665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 err="1"/>
              <a:t>Berikut</a:t>
            </a:r>
            <a:r>
              <a:rPr lang="en-US" sz="1700" dirty="0"/>
              <a:t> </a:t>
            </a:r>
            <a:r>
              <a:rPr lang="en-US" sz="1700" dirty="0" err="1"/>
              <a:t>merupakan</a:t>
            </a:r>
            <a:r>
              <a:rPr lang="en-US" sz="1700" dirty="0"/>
              <a:t> </a:t>
            </a:r>
            <a:r>
              <a:rPr lang="en-US" sz="1700" dirty="0" err="1"/>
              <a:t>denah</a:t>
            </a:r>
            <a:r>
              <a:rPr lang="en-US" sz="1700" dirty="0"/>
              <a:t> </a:t>
            </a:r>
            <a:r>
              <a:rPr lang="en-US" sz="1700" dirty="0" err="1"/>
              <a:t>dari</a:t>
            </a:r>
            <a:r>
              <a:rPr lang="en-US" sz="1700" dirty="0"/>
              <a:t> </a:t>
            </a:r>
            <a:r>
              <a:rPr lang="en-US" sz="1700" dirty="0" err="1"/>
              <a:t>aliran</a:t>
            </a:r>
            <a:r>
              <a:rPr lang="en-US" sz="1700" dirty="0"/>
              <a:t> Sungai </a:t>
            </a:r>
            <a:r>
              <a:rPr lang="en-US" sz="1700" dirty="0" err="1"/>
              <a:t>Citarum</a:t>
            </a:r>
            <a:r>
              <a:rPr lang="en-US" sz="1700" dirty="0"/>
              <a:t> </a:t>
            </a:r>
            <a:r>
              <a:rPr lang="en-US" sz="1700" dirty="0" err="1"/>
              <a:t>beserta</a:t>
            </a:r>
            <a:r>
              <a:rPr lang="en-US" sz="1700" dirty="0"/>
              <a:t> </a:t>
            </a:r>
            <a:r>
              <a:rPr lang="en-US" sz="1700" dirty="0" err="1"/>
              <a:t>anak-anak</a:t>
            </a:r>
            <a:r>
              <a:rPr lang="en-US" sz="1700" dirty="0"/>
              <a:t> </a:t>
            </a:r>
            <a:r>
              <a:rPr lang="en-US" sz="1700" dirty="0" err="1"/>
              <a:t>sungainya</a:t>
            </a:r>
            <a:r>
              <a:rPr lang="en-US" sz="1700" dirty="0"/>
              <a:t>.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8687CCA2-0872-9CBA-5722-D3F6C57D5DB4}"/>
              </a:ext>
            </a:extLst>
          </p:cNvPr>
          <p:cNvSpPr txBox="1">
            <a:spLocks/>
          </p:cNvSpPr>
          <p:nvPr/>
        </p:nvSpPr>
        <p:spPr>
          <a:xfrm>
            <a:off x="1367695" y="6263765"/>
            <a:ext cx="6408606" cy="441665"/>
          </a:xfrm>
          <a:prstGeom prst="rect">
            <a:avLst/>
          </a:prstGeom>
        </p:spPr>
        <p:txBody>
          <a:bodyPr vert="horz" lIns="68580" tIns="34290" rIns="68580" bIns="34290" rtlCol="0" anchor="b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sv-SE" sz="1500" dirty="0"/>
              <a:t>Gambar 16. Denah aliran Sungai Citarum (</a:t>
            </a:r>
            <a:r>
              <a:rPr lang="en-US" sz="1500" dirty="0"/>
              <a:t>BBWS </a:t>
            </a:r>
            <a:r>
              <a:rPr lang="en-US" sz="1500" dirty="0" err="1"/>
              <a:t>Citarum</a:t>
            </a:r>
            <a:r>
              <a:rPr lang="en-US" sz="1500" dirty="0"/>
              <a:t>, B. B. W. S. C. (2025). </a:t>
            </a:r>
            <a:r>
              <a:rPr lang="en-US" sz="1500" dirty="0" err="1"/>
              <a:t>Citarum</a:t>
            </a:r>
            <a:r>
              <a:rPr lang="en-US" sz="1500" dirty="0"/>
              <a:t> River Flood Forecasting and Warning System </a:t>
            </a:r>
            <a:r>
              <a:rPr lang="sv-SE" sz="1500" dirty="0"/>
              <a:t>).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55C664B-F79B-4CC1-A245-3B14FB06BFF7}"/>
              </a:ext>
            </a:extLst>
          </p:cNvPr>
          <p:cNvSpPr/>
          <p:nvPr/>
        </p:nvSpPr>
        <p:spPr>
          <a:xfrm>
            <a:off x="7934015" y="109497"/>
            <a:ext cx="979129" cy="97912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6" name="Picture 15" descr="A blue and white logo&#10;&#10;Description automatically generated">
            <a:extLst>
              <a:ext uri="{FF2B5EF4-FFF2-40B4-BE49-F238E27FC236}">
                <a16:creationId xmlns:a16="http://schemas.microsoft.com/office/drawing/2014/main" id="{41EB7EC8-2A46-491C-9031-0E852E7CEA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080" y="154082"/>
            <a:ext cx="889000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1101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9229FA-DDF5-3C24-5CC9-AE9228C9C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38CA0D7B-FD3F-04A2-1CF2-B028B010B5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525571-0F85-8892-A779-021F286346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41E0F4-1709-1A3D-FA23-95A2884A52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197F8B-08D7-6E21-6C0B-128628107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BB1BAE3-5323-FDA3-354E-BE84BDDD0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FB8155-BE79-3F23-81DC-84A03575E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FFFF"/>
                </a:solidFill>
              </a:rPr>
              <a:t>Analisa </a:t>
            </a:r>
            <a:r>
              <a:rPr lang="en-US" sz="3200" b="1" dirty="0" err="1">
                <a:solidFill>
                  <a:srgbClr val="FFFFFF"/>
                </a:solidFill>
              </a:rPr>
              <a:t>Keberpengaruhan</a:t>
            </a:r>
            <a:endParaRPr lang="en-US" sz="3200" b="1"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7F4FA0-F93E-43EF-9C95-5F6E44B7D0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1841" y="4397267"/>
            <a:ext cx="5545748" cy="2000954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4240BED-B11F-C618-4ADC-8BE947F47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0C76-61B8-4F75-968B-505003DAB565}" type="slidenum">
              <a:rPr lang="en-US" smtClean="0"/>
              <a:t>25</a:t>
            </a:fld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E4D755C-948D-4502-BDF9-BC3784A0EC23}"/>
              </a:ext>
            </a:extLst>
          </p:cNvPr>
          <p:cNvSpPr/>
          <p:nvPr/>
        </p:nvSpPr>
        <p:spPr>
          <a:xfrm>
            <a:off x="7934015" y="109497"/>
            <a:ext cx="979129" cy="97912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4" name="Picture 13" descr="A blue and white logo&#10;&#10;Description automatically generated">
            <a:extLst>
              <a:ext uri="{FF2B5EF4-FFF2-40B4-BE49-F238E27FC236}">
                <a16:creationId xmlns:a16="http://schemas.microsoft.com/office/drawing/2014/main" id="{A8870101-36F4-4B6D-86C6-CCEE5D517C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080" y="154082"/>
            <a:ext cx="889000" cy="889000"/>
          </a:xfrm>
          <a:prstGeom prst="rect">
            <a:avLst/>
          </a:prstGeom>
        </p:spPr>
      </p:pic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9AE0261-D39D-4BA3-8E7B-9E5673264CBD}"/>
              </a:ext>
            </a:extLst>
          </p:cNvPr>
          <p:cNvSpPr txBox="1">
            <a:spLocks/>
          </p:cNvSpPr>
          <p:nvPr/>
        </p:nvSpPr>
        <p:spPr>
          <a:xfrm>
            <a:off x="4047246" y="3513180"/>
            <a:ext cx="4790343" cy="848616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sv-SE" sz="1400" dirty="0"/>
              <a:t>Gambar 17. Panel peringatan status banjir kecamatan Dayeuhkolot (</a:t>
            </a:r>
            <a:r>
              <a:rPr lang="en-US" sz="1400" dirty="0"/>
              <a:t>BBWS </a:t>
            </a:r>
            <a:r>
              <a:rPr lang="en-US" sz="1400" dirty="0" err="1"/>
              <a:t>Citarum</a:t>
            </a:r>
            <a:r>
              <a:rPr lang="en-US" sz="1400" dirty="0"/>
              <a:t>, B. B. W. S. C. (2025). </a:t>
            </a:r>
            <a:r>
              <a:rPr lang="en-US" sz="1400" dirty="0" err="1"/>
              <a:t>Citarum</a:t>
            </a:r>
            <a:r>
              <a:rPr lang="en-US" sz="1400" dirty="0"/>
              <a:t> River Flood Forecasting and Warning System </a:t>
            </a:r>
            <a:r>
              <a:rPr lang="sv-SE" sz="1400" dirty="0"/>
              <a:t>).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787118AC-76B8-4FB7-9802-109E5C54C3BD}"/>
              </a:ext>
            </a:extLst>
          </p:cNvPr>
          <p:cNvSpPr txBox="1">
            <a:spLocks/>
          </p:cNvSpPr>
          <p:nvPr/>
        </p:nvSpPr>
        <p:spPr>
          <a:xfrm>
            <a:off x="1028699" y="1614504"/>
            <a:ext cx="7293023" cy="665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/>
              <a:t>Status </a:t>
            </a:r>
            <a:r>
              <a:rPr lang="en-US" sz="1700" dirty="0" err="1"/>
              <a:t>kewaspadaan</a:t>
            </a:r>
            <a:r>
              <a:rPr lang="en-US" sz="1700" dirty="0"/>
              <a:t> </a:t>
            </a:r>
            <a:r>
              <a:rPr lang="en-US" sz="1700" dirty="0" err="1"/>
              <a:t>banjir</a:t>
            </a:r>
            <a:r>
              <a:rPr lang="en-US" sz="1700" dirty="0"/>
              <a:t> di </a:t>
            </a:r>
            <a:r>
              <a:rPr lang="en-US" sz="1700" dirty="0" err="1"/>
              <a:t>Kecamatan</a:t>
            </a:r>
            <a:r>
              <a:rPr lang="en-US" sz="1700" dirty="0"/>
              <a:t> </a:t>
            </a:r>
            <a:r>
              <a:rPr lang="en-US" sz="1700" dirty="0" err="1"/>
              <a:t>Dayeuhkolot</a:t>
            </a:r>
            <a:r>
              <a:rPr lang="en-US" sz="1700" dirty="0"/>
              <a:t> </a:t>
            </a:r>
            <a:r>
              <a:rPr lang="en-US" sz="1700" dirty="0" err="1"/>
              <a:t>dilabeli</a:t>
            </a:r>
            <a:r>
              <a:rPr lang="en-US" sz="1700" dirty="0"/>
              <a:t> </a:t>
            </a:r>
            <a:r>
              <a:rPr lang="en-US" sz="1700" dirty="0" err="1"/>
              <a:t>menurut</a:t>
            </a:r>
            <a:r>
              <a:rPr lang="en-US" sz="1700" dirty="0"/>
              <a:t> </a:t>
            </a:r>
            <a:r>
              <a:rPr lang="en-US" sz="1700" dirty="0" err="1"/>
              <a:t>kriteria</a:t>
            </a:r>
            <a:r>
              <a:rPr lang="en-US" sz="1700" dirty="0"/>
              <a:t> </a:t>
            </a:r>
            <a:r>
              <a:rPr lang="en-US" sz="1700" dirty="0" err="1"/>
              <a:t>berikut</a:t>
            </a:r>
            <a:r>
              <a:rPr lang="en-US" sz="1700" dirty="0"/>
              <a:t>: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B8B6AF81-6D5F-4AC8-9731-7B4DF56B33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0424506"/>
              </p:ext>
            </p:extLst>
          </p:nvPr>
        </p:nvGraphicFramePr>
        <p:xfrm>
          <a:off x="306411" y="2271923"/>
          <a:ext cx="3479627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0767">
                  <a:extLst>
                    <a:ext uri="{9D8B030D-6E8A-4147-A177-3AD203B41FA5}">
                      <a16:colId xmlns:a16="http://schemas.microsoft.com/office/drawing/2014/main" val="3459332988"/>
                    </a:ext>
                  </a:extLst>
                </a:gridCol>
                <a:gridCol w="1102500">
                  <a:extLst>
                    <a:ext uri="{9D8B030D-6E8A-4147-A177-3AD203B41FA5}">
                      <a16:colId xmlns:a16="http://schemas.microsoft.com/office/drawing/2014/main" val="67724541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36854417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  <a:latin typeface="+mn-lt"/>
                          <a:ea typeface="PMingLiU" panose="02020500000000000000" pitchFamily="18" charset="-120"/>
                          <a:cs typeface="Times New Roman" panose="02020603050405020304" pitchFamily="18" charset="0"/>
                        </a:rPr>
                        <a:t>Status </a:t>
                      </a:r>
                      <a:r>
                        <a:rPr lang="en-US" sz="1800" dirty="0" err="1">
                          <a:effectLst/>
                          <a:latin typeface="+mn-lt"/>
                          <a:ea typeface="PMingLiU" panose="02020500000000000000" pitchFamily="18" charset="-120"/>
                          <a:cs typeface="Times New Roman" panose="02020603050405020304" pitchFamily="18" charset="0"/>
                        </a:rPr>
                        <a:t>banjir</a:t>
                      </a:r>
                      <a:endParaRPr lang="en-ID" sz="1800" dirty="0">
                        <a:effectLst/>
                        <a:latin typeface="+mn-lt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effectLst/>
                          <a:latin typeface="+mn-lt"/>
                          <a:ea typeface="PMingLiU" panose="02020500000000000000" pitchFamily="18" charset="-120"/>
                          <a:cs typeface="Times New Roman" panose="02020603050405020304" pitchFamily="18" charset="0"/>
                        </a:rPr>
                        <a:t>Pelabelan</a:t>
                      </a:r>
                      <a:r>
                        <a:rPr lang="en-US" sz="1800" dirty="0">
                          <a:effectLst/>
                          <a:latin typeface="+mn-lt"/>
                          <a:ea typeface="PMingLiU" panose="02020500000000000000" pitchFamily="18" charset="-120"/>
                          <a:cs typeface="Times New Roman" panose="02020603050405020304" pitchFamily="18" charset="0"/>
                        </a:rPr>
                        <a:t> pada model</a:t>
                      </a:r>
                      <a:endParaRPr lang="en-ID" sz="1800" dirty="0">
                        <a:effectLst/>
                        <a:latin typeface="+mn-lt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effectLst/>
                          <a:latin typeface="+mn-lt"/>
                          <a:ea typeface="PMingLiU" panose="02020500000000000000" pitchFamily="18" charset="-120"/>
                          <a:cs typeface="Times New Roman" panose="02020603050405020304" pitchFamily="18" charset="0"/>
                        </a:rPr>
                        <a:t>Ketinggian</a:t>
                      </a:r>
                      <a:r>
                        <a:rPr lang="en-US" sz="1800" dirty="0">
                          <a:effectLst/>
                          <a:latin typeface="+mn-lt"/>
                          <a:ea typeface="PMingLiU" panose="02020500000000000000" pitchFamily="18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+mn-lt"/>
                          <a:ea typeface="PMingLiU" panose="02020500000000000000" pitchFamily="18" charset="-120"/>
                          <a:cs typeface="Times New Roman" panose="02020603050405020304" pitchFamily="18" charset="0"/>
                        </a:rPr>
                        <a:t>permukaan</a:t>
                      </a:r>
                      <a:r>
                        <a:rPr lang="en-US" sz="1800" dirty="0">
                          <a:effectLst/>
                          <a:latin typeface="+mn-lt"/>
                          <a:ea typeface="PMingLiU" panose="02020500000000000000" pitchFamily="18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+mn-lt"/>
                          <a:ea typeface="PMingLiU" panose="02020500000000000000" pitchFamily="18" charset="-120"/>
                          <a:cs typeface="Times New Roman" panose="02020603050405020304" pitchFamily="18" charset="0"/>
                        </a:rPr>
                        <a:t>sungai</a:t>
                      </a:r>
                      <a:endParaRPr lang="en-ID" sz="1800" dirty="0">
                        <a:effectLst/>
                        <a:latin typeface="+mn-lt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211010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  <a:latin typeface="+mn-lt"/>
                          <a:ea typeface="PMingLiU" panose="02020500000000000000" pitchFamily="18" charset="-120"/>
                          <a:cs typeface="Times New Roman" panose="02020603050405020304" pitchFamily="18" charset="0"/>
                        </a:rPr>
                        <a:t>Awas</a:t>
                      </a:r>
                      <a:endParaRPr lang="en-ID" sz="1800">
                        <a:effectLst/>
                        <a:latin typeface="+mn-lt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  <a:latin typeface="+mn-lt"/>
                          <a:ea typeface="PMingLiU" panose="02020500000000000000" pitchFamily="18" charset="-120"/>
                          <a:cs typeface="Times New Roman" panose="02020603050405020304" pitchFamily="18" charset="0"/>
                        </a:rPr>
                        <a:t>3</a:t>
                      </a:r>
                      <a:endParaRPr lang="en-ID" sz="1800">
                        <a:effectLst/>
                        <a:latin typeface="+mn-lt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  <a:latin typeface="+mn-lt"/>
                          <a:ea typeface="PMingLiU" panose="02020500000000000000" pitchFamily="18" charset="-120"/>
                          <a:cs typeface="Times New Roman" panose="02020603050405020304" pitchFamily="18" charset="0"/>
                        </a:rPr>
                        <a:t>&gt;5.62</a:t>
                      </a:r>
                      <a:endParaRPr lang="en-ID" sz="1800">
                        <a:effectLst/>
                        <a:latin typeface="+mn-lt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06592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  <a:latin typeface="+mn-lt"/>
                          <a:ea typeface="PMingLiU" panose="02020500000000000000" pitchFamily="18" charset="-120"/>
                          <a:cs typeface="Times New Roman" panose="02020603050405020304" pitchFamily="18" charset="0"/>
                        </a:rPr>
                        <a:t>Siaga (2)</a:t>
                      </a:r>
                      <a:endParaRPr lang="en-ID" sz="1800">
                        <a:effectLst/>
                        <a:latin typeface="+mn-lt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  <a:latin typeface="+mn-lt"/>
                          <a:ea typeface="PMingLiU" panose="02020500000000000000" pitchFamily="18" charset="-120"/>
                          <a:cs typeface="Times New Roman" panose="02020603050405020304" pitchFamily="18" charset="0"/>
                        </a:rPr>
                        <a:t>2</a:t>
                      </a:r>
                      <a:endParaRPr lang="en-ID" sz="1800">
                        <a:effectLst/>
                        <a:latin typeface="+mn-lt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  <a:latin typeface="+mn-lt"/>
                          <a:ea typeface="PMingLiU" panose="02020500000000000000" pitchFamily="18" charset="-120"/>
                          <a:cs typeface="Times New Roman" panose="02020603050405020304" pitchFamily="18" charset="0"/>
                        </a:rPr>
                        <a:t>4.88&lt;…&lt;5.62</a:t>
                      </a:r>
                      <a:endParaRPr lang="en-ID" sz="1800" dirty="0">
                        <a:effectLst/>
                        <a:latin typeface="+mn-lt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86555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  <a:latin typeface="+mn-lt"/>
                          <a:ea typeface="PMingLiU" panose="02020500000000000000" pitchFamily="18" charset="-120"/>
                          <a:cs typeface="Times New Roman" panose="02020603050405020304" pitchFamily="18" charset="0"/>
                        </a:rPr>
                        <a:t>Siaga (1)</a:t>
                      </a:r>
                      <a:endParaRPr lang="en-ID" sz="1800">
                        <a:effectLst/>
                        <a:latin typeface="+mn-lt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  <a:latin typeface="+mn-lt"/>
                          <a:ea typeface="PMingLiU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en-ID" sz="1800" dirty="0">
                        <a:effectLst/>
                        <a:latin typeface="+mn-lt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  <a:latin typeface="+mn-lt"/>
                          <a:ea typeface="PMingLiU" panose="02020500000000000000" pitchFamily="18" charset="-120"/>
                          <a:cs typeface="Times New Roman" panose="02020603050405020304" pitchFamily="18" charset="0"/>
                        </a:rPr>
                        <a:t>4.14&lt;…&lt;4.88</a:t>
                      </a:r>
                      <a:endParaRPr lang="en-ID" sz="1800">
                        <a:effectLst/>
                        <a:latin typeface="+mn-lt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511180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  <a:latin typeface="+mn-lt"/>
                          <a:ea typeface="PMingLiU" panose="02020500000000000000" pitchFamily="18" charset="-120"/>
                          <a:cs typeface="Times New Roman" panose="02020603050405020304" pitchFamily="18" charset="0"/>
                        </a:rPr>
                        <a:t>Aman</a:t>
                      </a:r>
                      <a:endParaRPr lang="en-ID" sz="1800">
                        <a:effectLst/>
                        <a:latin typeface="+mn-lt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  <a:latin typeface="+mn-lt"/>
                          <a:ea typeface="PMingLiU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en-ID" sz="1800">
                        <a:effectLst/>
                        <a:latin typeface="+mn-lt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  <a:latin typeface="+mn-lt"/>
                          <a:ea typeface="PMingLiU" panose="02020500000000000000" pitchFamily="18" charset="-120"/>
                          <a:cs typeface="Times New Roman" panose="02020603050405020304" pitchFamily="18" charset="0"/>
                        </a:rPr>
                        <a:t>&lt;4.14</a:t>
                      </a:r>
                      <a:endParaRPr lang="en-ID" sz="1800" dirty="0">
                        <a:effectLst/>
                        <a:latin typeface="+mn-lt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14601184"/>
                  </a:ext>
                </a:extLst>
              </a:tr>
            </a:tbl>
          </a:graphicData>
        </a:graphic>
      </p:graphicFrame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0BD3FBB8-4EEA-4BA4-8830-E5AFD3F17BDC}"/>
              </a:ext>
            </a:extLst>
          </p:cNvPr>
          <p:cNvSpPr txBox="1">
            <a:spLocks/>
          </p:cNvSpPr>
          <p:nvPr/>
        </p:nvSpPr>
        <p:spPr>
          <a:xfrm>
            <a:off x="306411" y="4248024"/>
            <a:ext cx="2802549" cy="1110786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v-SE" sz="1400" dirty="0"/>
              <a:t>Tabel 2. Pelabelan status kewaspadaan banjir di Kecamatan Dayeuhkolot (</a:t>
            </a:r>
            <a:r>
              <a:rPr lang="en-US" sz="1400" dirty="0"/>
              <a:t>BBWS </a:t>
            </a:r>
            <a:r>
              <a:rPr lang="en-US" sz="1400" dirty="0" err="1"/>
              <a:t>Citarum</a:t>
            </a:r>
            <a:r>
              <a:rPr lang="en-US" sz="1400" dirty="0"/>
              <a:t>, B. B. W. S. C. (2025). </a:t>
            </a:r>
            <a:r>
              <a:rPr lang="en-US" sz="1400" dirty="0" err="1"/>
              <a:t>Citarum</a:t>
            </a:r>
            <a:r>
              <a:rPr lang="en-US" sz="1400" dirty="0"/>
              <a:t> River Flood Forecasting and Warning System </a:t>
            </a:r>
            <a:r>
              <a:rPr lang="sv-SE" sz="14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8959671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9229FA-DDF5-3C24-5CC9-AE9228C9C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38CA0D7B-FD3F-04A2-1CF2-B028B010B5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525571-0F85-8892-A779-021F286346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41E0F4-1709-1A3D-FA23-95A2884A52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197F8B-08D7-6E21-6C0B-128628107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BB1BAE3-5323-FDA3-354E-BE84BDDD0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FB8155-BE79-3F23-81DC-84A03575E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FFFF"/>
                </a:solidFill>
              </a:rPr>
              <a:t>Analisa </a:t>
            </a:r>
            <a:r>
              <a:rPr lang="en-US" sz="3200" b="1" dirty="0" err="1">
                <a:solidFill>
                  <a:srgbClr val="FFFFFF"/>
                </a:solidFill>
              </a:rPr>
              <a:t>Keberpengaruhan</a:t>
            </a:r>
            <a:endParaRPr lang="en-US" sz="3200" b="1"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7F4FA0-F93E-43EF-9C95-5F6E44B7D0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16624" y="4397267"/>
            <a:ext cx="5496182" cy="2000954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4240BED-B11F-C618-4ADC-8BE947F47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0C76-61B8-4F75-968B-505003DAB565}" type="slidenum">
              <a:rPr lang="en-US" smtClean="0"/>
              <a:t>26</a:t>
            </a:fld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E4D755C-948D-4502-BDF9-BC3784A0EC23}"/>
              </a:ext>
            </a:extLst>
          </p:cNvPr>
          <p:cNvSpPr/>
          <p:nvPr/>
        </p:nvSpPr>
        <p:spPr>
          <a:xfrm>
            <a:off x="7934015" y="109497"/>
            <a:ext cx="979129" cy="97912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4" name="Picture 13" descr="A blue and white logo&#10;&#10;Description automatically generated">
            <a:extLst>
              <a:ext uri="{FF2B5EF4-FFF2-40B4-BE49-F238E27FC236}">
                <a16:creationId xmlns:a16="http://schemas.microsoft.com/office/drawing/2014/main" id="{A8870101-36F4-4B6D-86C6-CCEE5D517C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080" y="154082"/>
            <a:ext cx="889000" cy="889000"/>
          </a:xfrm>
          <a:prstGeom prst="rect">
            <a:avLst/>
          </a:prstGeom>
        </p:spPr>
      </p:pic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9AE0261-D39D-4BA3-8E7B-9E5673264CBD}"/>
              </a:ext>
            </a:extLst>
          </p:cNvPr>
          <p:cNvSpPr txBox="1">
            <a:spLocks/>
          </p:cNvSpPr>
          <p:nvPr/>
        </p:nvSpPr>
        <p:spPr>
          <a:xfrm>
            <a:off x="4047246" y="3513180"/>
            <a:ext cx="4790343" cy="848616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sv-SE" sz="1400" dirty="0"/>
              <a:t>Gambar 17a. Panel peringatan status banjir kecamatan Dayeuhkolot (</a:t>
            </a:r>
            <a:r>
              <a:rPr lang="en-US" sz="1400" dirty="0"/>
              <a:t>BBWS </a:t>
            </a:r>
            <a:r>
              <a:rPr lang="en-US" sz="1400" dirty="0" err="1"/>
              <a:t>Citarum</a:t>
            </a:r>
            <a:r>
              <a:rPr lang="en-US" sz="1400" dirty="0"/>
              <a:t>, B. B. W. S. C. (2025). </a:t>
            </a:r>
            <a:r>
              <a:rPr lang="en-US" sz="1400" dirty="0" err="1"/>
              <a:t>Citarum</a:t>
            </a:r>
            <a:r>
              <a:rPr lang="en-US" sz="1400" dirty="0"/>
              <a:t> River Flood Forecasting and Warning System </a:t>
            </a:r>
            <a:r>
              <a:rPr lang="sv-SE" sz="1400" dirty="0"/>
              <a:t>).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787118AC-76B8-4FB7-9802-109E5C54C3BD}"/>
              </a:ext>
            </a:extLst>
          </p:cNvPr>
          <p:cNvSpPr txBox="1">
            <a:spLocks/>
          </p:cNvSpPr>
          <p:nvPr/>
        </p:nvSpPr>
        <p:spPr>
          <a:xfrm>
            <a:off x="1028699" y="1614504"/>
            <a:ext cx="7293023" cy="665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/>
              <a:t>Status </a:t>
            </a:r>
            <a:r>
              <a:rPr lang="en-US" sz="1700" dirty="0" err="1"/>
              <a:t>kewaspadaan</a:t>
            </a:r>
            <a:r>
              <a:rPr lang="en-US" sz="1700" dirty="0"/>
              <a:t> </a:t>
            </a:r>
            <a:r>
              <a:rPr lang="en-US" sz="1700" dirty="0" err="1"/>
              <a:t>banjir</a:t>
            </a:r>
            <a:r>
              <a:rPr lang="en-US" sz="1700" dirty="0"/>
              <a:t> di </a:t>
            </a:r>
            <a:r>
              <a:rPr lang="en-US" sz="1700" dirty="0" err="1"/>
              <a:t>Kecamatan</a:t>
            </a:r>
            <a:r>
              <a:rPr lang="en-US" sz="1700" dirty="0"/>
              <a:t> </a:t>
            </a:r>
            <a:r>
              <a:rPr lang="en-US" sz="1700" dirty="0" err="1"/>
              <a:t>Dayeuhkolot</a:t>
            </a:r>
            <a:r>
              <a:rPr lang="en-US" sz="1700" dirty="0"/>
              <a:t> </a:t>
            </a:r>
            <a:r>
              <a:rPr lang="en-US" sz="1700" dirty="0" err="1"/>
              <a:t>dilabeli</a:t>
            </a:r>
            <a:r>
              <a:rPr lang="en-US" sz="1700" dirty="0"/>
              <a:t> </a:t>
            </a:r>
            <a:r>
              <a:rPr lang="en-US" sz="1700" dirty="0" err="1"/>
              <a:t>menurut</a:t>
            </a:r>
            <a:r>
              <a:rPr lang="en-US" sz="1700" dirty="0"/>
              <a:t> </a:t>
            </a:r>
            <a:r>
              <a:rPr lang="en-US" sz="1700" dirty="0" err="1"/>
              <a:t>kriteria</a:t>
            </a:r>
            <a:r>
              <a:rPr lang="en-US" sz="1700" dirty="0"/>
              <a:t> </a:t>
            </a:r>
            <a:r>
              <a:rPr lang="en-US" sz="1700" dirty="0" err="1"/>
              <a:t>berikut</a:t>
            </a:r>
            <a:r>
              <a:rPr lang="en-US" sz="1700" dirty="0"/>
              <a:t>: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B8B6AF81-6D5F-4AC8-9731-7B4DF56B33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2246081"/>
              </p:ext>
            </p:extLst>
          </p:nvPr>
        </p:nvGraphicFramePr>
        <p:xfrm>
          <a:off x="306411" y="2271923"/>
          <a:ext cx="3479627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0767">
                  <a:extLst>
                    <a:ext uri="{9D8B030D-6E8A-4147-A177-3AD203B41FA5}">
                      <a16:colId xmlns:a16="http://schemas.microsoft.com/office/drawing/2014/main" val="3459332988"/>
                    </a:ext>
                  </a:extLst>
                </a:gridCol>
                <a:gridCol w="1102500">
                  <a:extLst>
                    <a:ext uri="{9D8B030D-6E8A-4147-A177-3AD203B41FA5}">
                      <a16:colId xmlns:a16="http://schemas.microsoft.com/office/drawing/2014/main" val="67724541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36854417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  <a:latin typeface="+mn-lt"/>
                          <a:ea typeface="PMingLiU" panose="02020500000000000000" pitchFamily="18" charset="-120"/>
                          <a:cs typeface="Times New Roman" panose="02020603050405020304" pitchFamily="18" charset="0"/>
                        </a:rPr>
                        <a:t>Status </a:t>
                      </a:r>
                      <a:r>
                        <a:rPr lang="en-US" sz="1800" dirty="0" err="1">
                          <a:effectLst/>
                          <a:latin typeface="+mn-lt"/>
                          <a:ea typeface="PMingLiU" panose="02020500000000000000" pitchFamily="18" charset="-120"/>
                          <a:cs typeface="Times New Roman" panose="02020603050405020304" pitchFamily="18" charset="0"/>
                        </a:rPr>
                        <a:t>banjir</a:t>
                      </a:r>
                      <a:endParaRPr lang="en-ID" sz="1800" dirty="0">
                        <a:effectLst/>
                        <a:latin typeface="+mn-lt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effectLst/>
                          <a:latin typeface="+mn-lt"/>
                          <a:ea typeface="PMingLiU" panose="02020500000000000000" pitchFamily="18" charset="-120"/>
                          <a:cs typeface="Times New Roman" panose="02020603050405020304" pitchFamily="18" charset="0"/>
                        </a:rPr>
                        <a:t>Pelabelan</a:t>
                      </a:r>
                      <a:r>
                        <a:rPr lang="en-US" sz="1800" dirty="0">
                          <a:effectLst/>
                          <a:latin typeface="+mn-lt"/>
                          <a:ea typeface="PMingLiU" panose="02020500000000000000" pitchFamily="18" charset="-120"/>
                          <a:cs typeface="Times New Roman" panose="02020603050405020304" pitchFamily="18" charset="0"/>
                        </a:rPr>
                        <a:t> pada model</a:t>
                      </a:r>
                      <a:endParaRPr lang="en-ID" sz="1800" dirty="0">
                        <a:effectLst/>
                        <a:latin typeface="+mn-lt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effectLst/>
                          <a:latin typeface="+mn-lt"/>
                          <a:ea typeface="PMingLiU" panose="02020500000000000000" pitchFamily="18" charset="-120"/>
                          <a:cs typeface="Times New Roman" panose="02020603050405020304" pitchFamily="18" charset="0"/>
                        </a:rPr>
                        <a:t>Ketinggian</a:t>
                      </a:r>
                      <a:r>
                        <a:rPr lang="en-US" sz="1800" dirty="0">
                          <a:effectLst/>
                          <a:latin typeface="+mn-lt"/>
                          <a:ea typeface="PMingLiU" panose="02020500000000000000" pitchFamily="18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+mn-lt"/>
                          <a:ea typeface="PMingLiU" panose="02020500000000000000" pitchFamily="18" charset="-120"/>
                          <a:cs typeface="Times New Roman" panose="02020603050405020304" pitchFamily="18" charset="0"/>
                        </a:rPr>
                        <a:t>permukaan</a:t>
                      </a:r>
                      <a:r>
                        <a:rPr lang="en-US" sz="1800" dirty="0">
                          <a:effectLst/>
                          <a:latin typeface="+mn-lt"/>
                          <a:ea typeface="PMingLiU" panose="02020500000000000000" pitchFamily="18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+mn-lt"/>
                          <a:ea typeface="PMingLiU" panose="02020500000000000000" pitchFamily="18" charset="-120"/>
                          <a:cs typeface="Times New Roman" panose="02020603050405020304" pitchFamily="18" charset="0"/>
                        </a:rPr>
                        <a:t>sungai</a:t>
                      </a:r>
                      <a:endParaRPr lang="en-ID" sz="1800" dirty="0">
                        <a:effectLst/>
                        <a:latin typeface="+mn-lt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211010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  <a:latin typeface="+mn-lt"/>
                          <a:ea typeface="PMingLiU" panose="02020500000000000000" pitchFamily="18" charset="-120"/>
                          <a:cs typeface="Times New Roman" panose="02020603050405020304" pitchFamily="18" charset="0"/>
                        </a:rPr>
                        <a:t>Awas</a:t>
                      </a:r>
                      <a:endParaRPr lang="en-ID" sz="1800">
                        <a:effectLst/>
                        <a:latin typeface="+mn-lt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  <a:latin typeface="+mn-lt"/>
                          <a:ea typeface="PMingLiU" panose="02020500000000000000" pitchFamily="18" charset="-120"/>
                          <a:cs typeface="Times New Roman" panose="02020603050405020304" pitchFamily="18" charset="0"/>
                        </a:rPr>
                        <a:t>3</a:t>
                      </a:r>
                      <a:endParaRPr lang="en-ID" sz="1800" dirty="0">
                        <a:effectLst/>
                        <a:latin typeface="+mn-lt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  <a:latin typeface="+mn-lt"/>
                          <a:ea typeface="PMingLiU" panose="02020500000000000000" pitchFamily="18" charset="-120"/>
                          <a:cs typeface="Times New Roman" panose="02020603050405020304" pitchFamily="18" charset="0"/>
                        </a:rPr>
                        <a:t>&gt;4.1</a:t>
                      </a:r>
                      <a:endParaRPr lang="en-ID" sz="1800">
                        <a:effectLst/>
                        <a:latin typeface="+mn-lt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06592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  <a:latin typeface="+mn-lt"/>
                          <a:ea typeface="PMingLiU" panose="02020500000000000000" pitchFamily="18" charset="-120"/>
                          <a:cs typeface="Times New Roman" panose="02020603050405020304" pitchFamily="18" charset="0"/>
                        </a:rPr>
                        <a:t>Siaga (2)</a:t>
                      </a:r>
                      <a:endParaRPr lang="en-ID" sz="1800">
                        <a:effectLst/>
                        <a:latin typeface="+mn-lt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  <a:latin typeface="+mn-lt"/>
                          <a:ea typeface="PMingLiU" panose="02020500000000000000" pitchFamily="18" charset="-120"/>
                          <a:cs typeface="Times New Roman" panose="02020603050405020304" pitchFamily="18" charset="0"/>
                        </a:rPr>
                        <a:t>2</a:t>
                      </a:r>
                      <a:endParaRPr lang="en-ID" sz="1800">
                        <a:effectLst/>
                        <a:latin typeface="+mn-lt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  <a:latin typeface="+mn-lt"/>
                          <a:ea typeface="PMingLiU" panose="02020500000000000000" pitchFamily="18" charset="-120"/>
                          <a:cs typeface="Times New Roman" panose="02020603050405020304" pitchFamily="18" charset="0"/>
                        </a:rPr>
                        <a:t>3.39&lt;…&lt;4.1</a:t>
                      </a:r>
                      <a:endParaRPr lang="en-ID" sz="1800">
                        <a:effectLst/>
                        <a:latin typeface="+mn-lt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86555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  <a:latin typeface="+mn-lt"/>
                          <a:ea typeface="PMingLiU" panose="02020500000000000000" pitchFamily="18" charset="-120"/>
                          <a:cs typeface="Times New Roman" panose="02020603050405020304" pitchFamily="18" charset="0"/>
                        </a:rPr>
                        <a:t>Siaga (1)</a:t>
                      </a:r>
                      <a:endParaRPr lang="en-ID" sz="1800">
                        <a:effectLst/>
                        <a:latin typeface="+mn-lt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  <a:latin typeface="+mn-lt"/>
                          <a:ea typeface="PMingLiU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en-ID" sz="1800">
                        <a:effectLst/>
                        <a:latin typeface="+mn-lt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  <a:latin typeface="+mn-lt"/>
                          <a:ea typeface="PMingLiU" panose="02020500000000000000" pitchFamily="18" charset="-120"/>
                          <a:cs typeface="Times New Roman" panose="02020603050405020304" pitchFamily="18" charset="0"/>
                        </a:rPr>
                        <a:t>2.7&lt;…&lt;3.39</a:t>
                      </a:r>
                      <a:endParaRPr lang="en-ID" sz="1800">
                        <a:effectLst/>
                        <a:latin typeface="+mn-lt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511180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  <a:latin typeface="+mn-lt"/>
                          <a:ea typeface="PMingLiU" panose="02020500000000000000" pitchFamily="18" charset="-120"/>
                          <a:cs typeface="Times New Roman" panose="02020603050405020304" pitchFamily="18" charset="0"/>
                        </a:rPr>
                        <a:t>Aman</a:t>
                      </a:r>
                      <a:endParaRPr lang="en-ID" sz="1800">
                        <a:effectLst/>
                        <a:latin typeface="+mn-lt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  <a:latin typeface="+mn-lt"/>
                          <a:ea typeface="PMingLiU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en-ID" sz="1800">
                        <a:effectLst/>
                        <a:latin typeface="+mn-lt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  <a:latin typeface="+mn-lt"/>
                          <a:ea typeface="PMingLiU" panose="02020500000000000000" pitchFamily="18" charset="-120"/>
                          <a:cs typeface="Times New Roman" panose="02020603050405020304" pitchFamily="18" charset="0"/>
                        </a:rPr>
                        <a:t>&lt;2.7</a:t>
                      </a:r>
                      <a:endParaRPr lang="en-ID" sz="1800" dirty="0">
                        <a:effectLst/>
                        <a:latin typeface="+mn-lt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14601184"/>
                  </a:ext>
                </a:extLst>
              </a:tr>
            </a:tbl>
          </a:graphicData>
        </a:graphic>
      </p:graphicFrame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0BD3FBB8-4EEA-4BA4-8830-E5AFD3F17BDC}"/>
              </a:ext>
            </a:extLst>
          </p:cNvPr>
          <p:cNvSpPr txBox="1">
            <a:spLocks/>
          </p:cNvSpPr>
          <p:nvPr/>
        </p:nvSpPr>
        <p:spPr>
          <a:xfrm>
            <a:off x="306411" y="4248024"/>
            <a:ext cx="2802549" cy="1110786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v-SE" sz="1400" dirty="0"/>
              <a:t>Tabel 2a. Pelabelan status kewaspadaan banjir di Kecamatan Dayeuhkolot (</a:t>
            </a:r>
            <a:r>
              <a:rPr lang="en-US" sz="1400" dirty="0"/>
              <a:t>BBWS </a:t>
            </a:r>
            <a:r>
              <a:rPr lang="en-US" sz="1400" dirty="0" err="1"/>
              <a:t>Citarum</a:t>
            </a:r>
            <a:r>
              <a:rPr lang="en-US" sz="1400" dirty="0"/>
              <a:t>, B. B. W. S. C. (2025). </a:t>
            </a:r>
            <a:r>
              <a:rPr lang="en-US" sz="1400" dirty="0" err="1"/>
              <a:t>Citarum</a:t>
            </a:r>
            <a:r>
              <a:rPr lang="en-US" sz="1400" dirty="0"/>
              <a:t> River Flood Forecasting and Warning System </a:t>
            </a:r>
            <a:r>
              <a:rPr lang="sv-SE" sz="14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9780897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8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9144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140040" y="-1133192"/>
            <a:ext cx="6858001" cy="9124385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1072" y="0"/>
            <a:ext cx="4572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3"/>
            <a:ext cx="9137153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784" y="4049"/>
            <a:ext cx="7662432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9249BE-CAEB-0732-A1C1-B9CDCD2B7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0019" y="1030406"/>
            <a:ext cx="6110785" cy="3081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200" b="1" dirty="0">
                <a:solidFill>
                  <a:srgbClr val="FFFFFF"/>
                </a:solidFill>
              </a:rPr>
              <a:t>HASIL DAN ANALISISNYA</a:t>
            </a:r>
            <a:endParaRPr lang="en-US" sz="42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286234-1F0D-6A6F-51C1-410FFE602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78240" y="6455664"/>
            <a:ext cx="33604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4CFF0C76-61B8-4F75-968B-505003DAB565}" type="slidenum">
              <a:rPr lang="en-US" sz="1000">
                <a:solidFill>
                  <a:srgbClr val="FFFFFF"/>
                </a:solidFill>
              </a:rPr>
              <a:pPr defTabSz="914400">
                <a:spcAft>
                  <a:spcPts val="600"/>
                </a:spcAft>
              </a:pPr>
              <a:t>27</a:t>
            </a:fld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F259056-BBA9-4E1D-BCF4-30174E911DE4}"/>
              </a:ext>
            </a:extLst>
          </p:cNvPr>
          <p:cNvSpPr/>
          <p:nvPr/>
        </p:nvSpPr>
        <p:spPr>
          <a:xfrm>
            <a:off x="7934015" y="109497"/>
            <a:ext cx="979129" cy="97912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5" name="Picture 14" descr="A blue and white logo&#10;&#10;Description automatically generated">
            <a:extLst>
              <a:ext uri="{FF2B5EF4-FFF2-40B4-BE49-F238E27FC236}">
                <a16:creationId xmlns:a16="http://schemas.microsoft.com/office/drawing/2014/main" id="{204EC67A-75BD-42A5-AF52-A4FC636A80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080" y="154082"/>
            <a:ext cx="889000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4969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41AD65-0E3E-7072-B3BD-E30BD9D77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59CE83-3F66-F3FC-EE04-67CBA6482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30" y="2682240"/>
            <a:ext cx="2160621" cy="28346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b="1" dirty="0">
                <a:solidFill>
                  <a:srgbClr val="FFFFFF"/>
                </a:solidFill>
              </a:rPr>
              <a:t>Hasil</a:t>
            </a:r>
            <a:br>
              <a:rPr lang="en-US" sz="3200" b="1" dirty="0">
                <a:solidFill>
                  <a:srgbClr val="FFFFFF"/>
                </a:solidFill>
              </a:rPr>
            </a:br>
            <a:r>
              <a:rPr lang="en-US" sz="3200" b="1" dirty="0" err="1">
                <a:solidFill>
                  <a:srgbClr val="FFFFFF"/>
                </a:solidFill>
              </a:rPr>
              <a:t>Pengujian</a:t>
            </a:r>
            <a:r>
              <a:rPr lang="en-US" sz="3200" b="1" dirty="0">
                <a:solidFill>
                  <a:srgbClr val="FFFFFF"/>
                </a:solidFill>
              </a:rPr>
              <a:t> Sensor Curah </a:t>
            </a:r>
            <a:r>
              <a:rPr lang="en-US" sz="3200" b="1" dirty="0" err="1">
                <a:solidFill>
                  <a:srgbClr val="FFFFFF"/>
                </a:solidFill>
              </a:rPr>
              <a:t>Hujan</a:t>
            </a:r>
            <a:r>
              <a:rPr lang="en-US" sz="3200" b="1" dirty="0">
                <a:solidFill>
                  <a:srgbClr val="FFFFFF"/>
                </a:solidFill>
              </a:rPr>
              <a:t> RK400-07</a:t>
            </a:r>
            <a:endParaRPr lang="en-US" sz="32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E9CBC3BE-F521-6E31-B8EC-75065CA1BD04}"/>
              </a:ext>
            </a:extLst>
          </p:cNvPr>
          <p:cNvSpPr txBox="1">
            <a:spLocks/>
          </p:cNvSpPr>
          <p:nvPr/>
        </p:nvSpPr>
        <p:spPr>
          <a:xfrm>
            <a:off x="3881227" y="5255217"/>
            <a:ext cx="4451668" cy="459950"/>
          </a:xfrm>
          <a:prstGeom prst="rect">
            <a:avLst/>
          </a:prstGeom>
        </p:spPr>
        <p:txBody>
          <a:bodyPr vert="horz" lIns="68580" tIns="34290" rIns="68580" bIns="34290" rtlCol="0" anchor="b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sv-SE" sz="1500" dirty="0"/>
              <a:t>Gambar 18. Pengukuran jumlah tipping sensor RK400-07 pada tanggal 31 Mei 2025.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D7A32301-9F1A-3324-C9A2-52C5A147F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0C76-61B8-4F75-968B-505003DAB565}" type="slidenum">
              <a:rPr lang="en-US" smtClean="0"/>
              <a:t>28</a:t>
            </a:fld>
            <a:endParaRPr lang="en-US"/>
          </a:p>
        </p:txBody>
      </p:sp>
      <p:pic>
        <p:nvPicPr>
          <p:cNvPr id="12" name="Picture 11" descr="A blue and white logo&#10;&#10;Description automatically generated">
            <a:extLst>
              <a:ext uri="{FF2B5EF4-FFF2-40B4-BE49-F238E27FC236}">
                <a16:creationId xmlns:a16="http://schemas.microsoft.com/office/drawing/2014/main" id="{6A5BD9C0-32B5-477F-9A53-5D4439E517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080" y="154082"/>
            <a:ext cx="889000" cy="889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B6E7FAD-76A6-468A-9834-317B11CC83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01665" y="1624829"/>
            <a:ext cx="5769620" cy="3578626"/>
          </a:xfrm>
          <a:prstGeom prst="rect">
            <a:avLst/>
          </a:prstGeom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732B5A2C-F73C-446F-845D-904AF49C4827}"/>
              </a:ext>
            </a:extLst>
          </p:cNvPr>
          <p:cNvSpPr/>
          <p:nvPr/>
        </p:nvSpPr>
        <p:spPr>
          <a:xfrm rot="1344978">
            <a:off x="7253122" y="4040297"/>
            <a:ext cx="437689" cy="189703"/>
          </a:xfrm>
          <a:custGeom>
            <a:avLst/>
            <a:gdLst>
              <a:gd name="connsiteX0" fmla="*/ 0 w 437689"/>
              <a:gd name="connsiteY0" fmla="*/ 47426 h 189703"/>
              <a:gd name="connsiteX1" fmla="*/ 342838 w 437689"/>
              <a:gd name="connsiteY1" fmla="*/ 47426 h 189703"/>
              <a:gd name="connsiteX2" fmla="*/ 342838 w 437689"/>
              <a:gd name="connsiteY2" fmla="*/ 0 h 189703"/>
              <a:gd name="connsiteX3" fmla="*/ 437689 w 437689"/>
              <a:gd name="connsiteY3" fmla="*/ 94852 h 189703"/>
              <a:gd name="connsiteX4" fmla="*/ 342838 w 437689"/>
              <a:gd name="connsiteY4" fmla="*/ 189703 h 189703"/>
              <a:gd name="connsiteX5" fmla="*/ 342838 w 437689"/>
              <a:gd name="connsiteY5" fmla="*/ 142277 h 189703"/>
              <a:gd name="connsiteX6" fmla="*/ 0 w 437689"/>
              <a:gd name="connsiteY6" fmla="*/ 142277 h 189703"/>
              <a:gd name="connsiteX7" fmla="*/ 0 w 437689"/>
              <a:gd name="connsiteY7" fmla="*/ 47426 h 189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37689" h="189703" fill="none" extrusionOk="0">
                <a:moveTo>
                  <a:pt x="0" y="47426"/>
                </a:moveTo>
                <a:cubicBezTo>
                  <a:pt x="139259" y="57101"/>
                  <a:pt x="199300" y="34175"/>
                  <a:pt x="342838" y="47426"/>
                </a:cubicBezTo>
                <a:cubicBezTo>
                  <a:pt x="340747" y="26051"/>
                  <a:pt x="343474" y="21840"/>
                  <a:pt x="342838" y="0"/>
                </a:cubicBezTo>
                <a:cubicBezTo>
                  <a:pt x="366801" y="27357"/>
                  <a:pt x="406980" y="73498"/>
                  <a:pt x="437689" y="94852"/>
                </a:cubicBezTo>
                <a:cubicBezTo>
                  <a:pt x="393668" y="137367"/>
                  <a:pt x="372544" y="152774"/>
                  <a:pt x="342838" y="189703"/>
                </a:cubicBezTo>
                <a:cubicBezTo>
                  <a:pt x="342088" y="166083"/>
                  <a:pt x="344658" y="160929"/>
                  <a:pt x="342838" y="142277"/>
                </a:cubicBezTo>
                <a:cubicBezTo>
                  <a:pt x="181416" y="134634"/>
                  <a:pt x="85049" y="148590"/>
                  <a:pt x="0" y="142277"/>
                </a:cubicBezTo>
                <a:cubicBezTo>
                  <a:pt x="-106" y="111541"/>
                  <a:pt x="2927" y="80909"/>
                  <a:pt x="0" y="47426"/>
                </a:cubicBezTo>
                <a:close/>
              </a:path>
              <a:path w="437689" h="189703" stroke="0" extrusionOk="0">
                <a:moveTo>
                  <a:pt x="0" y="47426"/>
                </a:moveTo>
                <a:cubicBezTo>
                  <a:pt x="124201" y="43948"/>
                  <a:pt x="227015" y="64275"/>
                  <a:pt x="342838" y="47426"/>
                </a:cubicBezTo>
                <a:cubicBezTo>
                  <a:pt x="344562" y="37132"/>
                  <a:pt x="340497" y="12429"/>
                  <a:pt x="342838" y="0"/>
                </a:cubicBezTo>
                <a:cubicBezTo>
                  <a:pt x="375646" y="40883"/>
                  <a:pt x="415954" y="69968"/>
                  <a:pt x="437689" y="94852"/>
                </a:cubicBezTo>
                <a:cubicBezTo>
                  <a:pt x="410391" y="130490"/>
                  <a:pt x="385938" y="155437"/>
                  <a:pt x="342838" y="189703"/>
                </a:cubicBezTo>
                <a:cubicBezTo>
                  <a:pt x="343639" y="174979"/>
                  <a:pt x="344513" y="158158"/>
                  <a:pt x="342838" y="142277"/>
                </a:cubicBezTo>
                <a:cubicBezTo>
                  <a:pt x="245934" y="135826"/>
                  <a:pt x="134440" y="154586"/>
                  <a:pt x="0" y="142277"/>
                </a:cubicBezTo>
                <a:cubicBezTo>
                  <a:pt x="814" y="118142"/>
                  <a:pt x="-202" y="84249"/>
                  <a:pt x="0" y="47426"/>
                </a:cubicBezTo>
                <a:close/>
              </a:path>
            </a:pathLst>
          </a:custGeom>
          <a:solidFill>
            <a:srgbClr val="00B050"/>
          </a:solidFill>
          <a:ln>
            <a:solidFill>
              <a:schemeClr val="accent6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820769485">
                  <a:prstGeom prst="rightArrow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BD884D-E62B-4981-837B-A9AC2404FBD7}"/>
              </a:ext>
            </a:extLst>
          </p:cNvPr>
          <p:cNvSpPr txBox="1"/>
          <p:nvPr/>
        </p:nvSpPr>
        <p:spPr>
          <a:xfrm>
            <a:off x="5914949" y="3810121"/>
            <a:ext cx="1441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8 tipping/</a:t>
            </a:r>
            <a:r>
              <a:rPr lang="en-US" sz="1400" b="1" dirty="0" err="1"/>
              <a:t>menit</a:t>
            </a:r>
            <a:endParaRPr lang="en-ID" sz="1400" b="1" dirty="0"/>
          </a:p>
        </p:txBody>
      </p:sp>
    </p:spTree>
    <p:extLst>
      <p:ext uri="{BB962C8B-B14F-4D97-AF65-F5344CB8AC3E}">
        <p14:creationId xmlns:p14="http://schemas.microsoft.com/office/powerpoint/2010/main" val="3989460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41AD65-0E3E-7072-B3BD-E30BD9D77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59CE83-3F66-F3FC-EE04-67CBA6482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30" y="2682240"/>
            <a:ext cx="2160621" cy="28346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b="1" dirty="0">
                <a:solidFill>
                  <a:srgbClr val="FFFFFF"/>
                </a:solidFill>
              </a:rPr>
              <a:t>Hasil</a:t>
            </a:r>
            <a:br>
              <a:rPr lang="en-US" sz="3200" b="1" dirty="0">
                <a:solidFill>
                  <a:srgbClr val="FFFFFF"/>
                </a:solidFill>
              </a:rPr>
            </a:br>
            <a:r>
              <a:rPr lang="en-US" sz="3200" b="1" dirty="0" err="1">
                <a:solidFill>
                  <a:srgbClr val="FFFFFF"/>
                </a:solidFill>
              </a:rPr>
              <a:t>Kalibrasi</a:t>
            </a:r>
            <a:r>
              <a:rPr lang="en-US" sz="3200" b="1" dirty="0">
                <a:solidFill>
                  <a:srgbClr val="FFFFFF"/>
                </a:solidFill>
              </a:rPr>
              <a:t> Sensor Curah </a:t>
            </a:r>
            <a:r>
              <a:rPr lang="en-US" sz="3200" b="1" dirty="0" err="1">
                <a:solidFill>
                  <a:srgbClr val="FFFFFF"/>
                </a:solidFill>
              </a:rPr>
              <a:t>Hujan</a:t>
            </a:r>
            <a:r>
              <a:rPr lang="en-US" sz="3200" b="1" dirty="0">
                <a:solidFill>
                  <a:srgbClr val="FFFFFF"/>
                </a:solidFill>
              </a:rPr>
              <a:t> RK400-07</a:t>
            </a:r>
            <a:endParaRPr lang="en-US" sz="32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E9CBC3BE-F521-6E31-B8EC-75065CA1BD04}"/>
              </a:ext>
            </a:extLst>
          </p:cNvPr>
          <p:cNvSpPr txBox="1">
            <a:spLocks/>
          </p:cNvSpPr>
          <p:nvPr/>
        </p:nvSpPr>
        <p:spPr>
          <a:xfrm>
            <a:off x="3881227" y="5255217"/>
            <a:ext cx="4451668" cy="459950"/>
          </a:xfrm>
          <a:prstGeom prst="rect">
            <a:avLst/>
          </a:prstGeom>
        </p:spPr>
        <p:txBody>
          <a:bodyPr vert="horz" lIns="68580" tIns="34290" rIns="68580" bIns="34290" rtlCol="0" anchor="b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sv-SE" sz="1500" dirty="0"/>
              <a:t>Gambar 18a. Pengukuran volume air hujan pada satu tipping sensor RK400-07.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D7A32301-9F1A-3324-C9A2-52C5A147F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0C76-61B8-4F75-968B-505003DAB565}" type="slidenum">
              <a:rPr lang="en-US" smtClean="0"/>
              <a:t>29</a:t>
            </a:fld>
            <a:endParaRPr lang="en-US"/>
          </a:p>
        </p:txBody>
      </p:sp>
      <p:pic>
        <p:nvPicPr>
          <p:cNvPr id="12" name="Picture 11" descr="A blue and white logo&#10;&#10;Description automatically generated">
            <a:extLst>
              <a:ext uri="{FF2B5EF4-FFF2-40B4-BE49-F238E27FC236}">
                <a16:creationId xmlns:a16="http://schemas.microsoft.com/office/drawing/2014/main" id="{6A5BD9C0-32B5-477F-9A53-5D4439E517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080" y="154082"/>
            <a:ext cx="889000" cy="889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B6E7FAD-76A6-468A-9834-317B11CC83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88035" y="1624829"/>
            <a:ext cx="4796880" cy="3578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9198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6BF9F2-3AC9-105C-2457-76832CAC7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545522-C6D4-0DF7-D1DF-E2C28C6B3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Hasil </a:t>
            </a:r>
            <a:r>
              <a:rPr lang="en-US" sz="32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Pengujian</a:t>
            </a:r>
            <a:br>
              <a:rPr lang="en-US" sz="32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2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LoRa SX1276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8FD19CA-2AB5-AEEE-C3A6-CC4E07EDE3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29052" y="1317039"/>
            <a:ext cx="5594083" cy="4173364"/>
          </a:xfrm>
          <a:prstGeom prst="rect">
            <a:avLst/>
          </a:prstGeom>
        </p:spPr>
      </p:pic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6C66AC16-0481-F630-FAF9-0EED245F2B63}"/>
              </a:ext>
            </a:extLst>
          </p:cNvPr>
          <p:cNvSpPr txBox="1">
            <a:spLocks/>
          </p:cNvSpPr>
          <p:nvPr/>
        </p:nvSpPr>
        <p:spPr>
          <a:xfrm>
            <a:off x="3800260" y="5622444"/>
            <a:ext cx="4451668" cy="459950"/>
          </a:xfrm>
          <a:prstGeom prst="rect">
            <a:avLst/>
          </a:prstGeom>
        </p:spPr>
        <p:txBody>
          <a:bodyPr vert="horz" lIns="68580" tIns="34290" rIns="68580" bIns="34290" rtlCol="0" anchor="b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sv-SE" sz="1500" dirty="0"/>
              <a:t>Gambar 19. Pengaruh jarak terhadap Nilai RSSI modul LoRa SX1276.</a:t>
            </a: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C4B537A2-180C-8ECD-3321-5E58341F6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0C76-61B8-4F75-968B-505003DAB565}" type="slidenum">
              <a:rPr lang="en-US" smtClean="0"/>
              <a:t>30</a:t>
            </a:fld>
            <a:endParaRPr lang="en-US"/>
          </a:p>
        </p:txBody>
      </p:sp>
      <p:pic>
        <p:nvPicPr>
          <p:cNvPr id="12" name="Picture 11" descr="A blue and white logo&#10;&#10;Description automatically generated">
            <a:extLst>
              <a:ext uri="{FF2B5EF4-FFF2-40B4-BE49-F238E27FC236}">
                <a16:creationId xmlns:a16="http://schemas.microsoft.com/office/drawing/2014/main" id="{B9444CFE-6591-44A3-A2E9-E18CD173E6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080" y="154082"/>
            <a:ext cx="889000" cy="889000"/>
          </a:xfrm>
          <a:prstGeom prst="rect">
            <a:avLst/>
          </a:prstGeom>
        </p:spPr>
      </p:pic>
      <p:sp>
        <p:nvSpPr>
          <p:cNvPr id="3" name="Multiplication Sign 2">
            <a:extLst>
              <a:ext uri="{FF2B5EF4-FFF2-40B4-BE49-F238E27FC236}">
                <a16:creationId xmlns:a16="http://schemas.microsoft.com/office/drawing/2014/main" id="{9F48765A-8E82-4B13-B4FD-B46AE16A950A}"/>
              </a:ext>
            </a:extLst>
          </p:cNvPr>
          <p:cNvSpPr/>
          <p:nvPr/>
        </p:nvSpPr>
        <p:spPr>
          <a:xfrm>
            <a:off x="7758100" y="4755398"/>
            <a:ext cx="190500" cy="198120"/>
          </a:xfrm>
          <a:custGeom>
            <a:avLst/>
            <a:gdLst>
              <a:gd name="connsiteX0" fmla="*/ 29605 w 190500"/>
              <a:gd name="connsiteY0" fmla="*/ 63111 h 198120"/>
              <a:gd name="connsiteX1" fmla="*/ 61902 w 190500"/>
              <a:gd name="connsiteY1" fmla="*/ 32056 h 198120"/>
              <a:gd name="connsiteX2" fmla="*/ 95250 w 190500"/>
              <a:gd name="connsiteY2" fmla="*/ 66738 h 198120"/>
              <a:gd name="connsiteX3" fmla="*/ 128598 w 190500"/>
              <a:gd name="connsiteY3" fmla="*/ 32056 h 198120"/>
              <a:gd name="connsiteX4" fmla="*/ 160895 w 190500"/>
              <a:gd name="connsiteY4" fmla="*/ 63111 h 198120"/>
              <a:gd name="connsiteX5" fmla="*/ 126329 w 190500"/>
              <a:gd name="connsiteY5" fmla="*/ 99060 h 198120"/>
              <a:gd name="connsiteX6" fmla="*/ 160895 w 190500"/>
              <a:gd name="connsiteY6" fmla="*/ 135009 h 198120"/>
              <a:gd name="connsiteX7" fmla="*/ 128598 w 190500"/>
              <a:gd name="connsiteY7" fmla="*/ 166064 h 198120"/>
              <a:gd name="connsiteX8" fmla="*/ 95250 w 190500"/>
              <a:gd name="connsiteY8" fmla="*/ 131382 h 198120"/>
              <a:gd name="connsiteX9" fmla="*/ 61902 w 190500"/>
              <a:gd name="connsiteY9" fmla="*/ 166064 h 198120"/>
              <a:gd name="connsiteX10" fmla="*/ 29605 w 190500"/>
              <a:gd name="connsiteY10" fmla="*/ 135009 h 198120"/>
              <a:gd name="connsiteX11" fmla="*/ 64171 w 190500"/>
              <a:gd name="connsiteY11" fmla="*/ 99060 h 198120"/>
              <a:gd name="connsiteX12" fmla="*/ 29605 w 190500"/>
              <a:gd name="connsiteY12" fmla="*/ 63111 h 198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90500" h="198120" fill="none" extrusionOk="0">
                <a:moveTo>
                  <a:pt x="29605" y="63111"/>
                </a:moveTo>
                <a:cubicBezTo>
                  <a:pt x="42073" y="51340"/>
                  <a:pt x="48280" y="46375"/>
                  <a:pt x="61902" y="32056"/>
                </a:cubicBezTo>
                <a:cubicBezTo>
                  <a:pt x="72175" y="44238"/>
                  <a:pt x="80026" y="53753"/>
                  <a:pt x="95250" y="66738"/>
                </a:cubicBezTo>
                <a:cubicBezTo>
                  <a:pt x="101059" y="58128"/>
                  <a:pt x="115489" y="45461"/>
                  <a:pt x="128598" y="32056"/>
                </a:cubicBezTo>
                <a:cubicBezTo>
                  <a:pt x="143584" y="44417"/>
                  <a:pt x="147039" y="51790"/>
                  <a:pt x="160895" y="63111"/>
                </a:cubicBezTo>
                <a:cubicBezTo>
                  <a:pt x="144329" y="77770"/>
                  <a:pt x="135641" y="90122"/>
                  <a:pt x="126329" y="99060"/>
                </a:cubicBezTo>
                <a:cubicBezTo>
                  <a:pt x="143276" y="113801"/>
                  <a:pt x="145201" y="121287"/>
                  <a:pt x="160895" y="135009"/>
                </a:cubicBezTo>
                <a:cubicBezTo>
                  <a:pt x="146592" y="145748"/>
                  <a:pt x="142734" y="150576"/>
                  <a:pt x="128598" y="166064"/>
                </a:cubicBezTo>
                <a:cubicBezTo>
                  <a:pt x="120219" y="157747"/>
                  <a:pt x="106531" y="146416"/>
                  <a:pt x="95250" y="131382"/>
                </a:cubicBezTo>
                <a:cubicBezTo>
                  <a:pt x="87545" y="140022"/>
                  <a:pt x="71123" y="154430"/>
                  <a:pt x="61902" y="166064"/>
                </a:cubicBezTo>
                <a:cubicBezTo>
                  <a:pt x="45006" y="151993"/>
                  <a:pt x="40305" y="147942"/>
                  <a:pt x="29605" y="135009"/>
                </a:cubicBezTo>
                <a:cubicBezTo>
                  <a:pt x="37802" y="126564"/>
                  <a:pt x="55024" y="106487"/>
                  <a:pt x="64171" y="99060"/>
                </a:cubicBezTo>
                <a:cubicBezTo>
                  <a:pt x="52826" y="90259"/>
                  <a:pt x="42314" y="79175"/>
                  <a:pt x="29605" y="63111"/>
                </a:cubicBezTo>
                <a:close/>
              </a:path>
              <a:path w="190500" h="198120" stroke="0" extrusionOk="0">
                <a:moveTo>
                  <a:pt x="29605" y="63111"/>
                </a:moveTo>
                <a:cubicBezTo>
                  <a:pt x="41702" y="53427"/>
                  <a:pt x="49651" y="43086"/>
                  <a:pt x="61902" y="32056"/>
                </a:cubicBezTo>
                <a:cubicBezTo>
                  <a:pt x="74917" y="44011"/>
                  <a:pt x="87950" y="58756"/>
                  <a:pt x="95250" y="66738"/>
                </a:cubicBezTo>
                <a:cubicBezTo>
                  <a:pt x="109555" y="50561"/>
                  <a:pt x="114541" y="46936"/>
                  <a:pt x="128598" y="32056"/>
                </a:cubicBezTo>
                <a:cubicBezTo>
                  <a:pt x="140104" y="41840"/>
                  <a:pt x="148357" y="53382"/>
                  <a:pt x="160895" y="63111"/>
                </a:cubicBezTo>
                <a:cubicBezTo>
                  <a:pt x="149216" y="77903"/>
                  <a:pt x="134188" y="91471"/>
                  <a:pt x="126329" y="99060"/>
                </a:cubicBezTo>
                <a:cubicBezTo>
                  <a:pt x="137549" y="112915"/>
                  <a:pt x="145890" y="117570"/>
                  <a:pt x="160895" y="135009"/>
                </a:cubicBezTo>
                <a:cubicBezTo>
                  <a:pt x="148766" y="149297"/>
                  <a:pt x="135948" y="160615"/>
                  <a:pt x="128598" y="166064"/>
                </a:cubicBezTo>
                <a:cubicBezTo>
                  <a:pt x="122296" y="156973"/>
                  <a:pt x="109271" y="144098"/>
                  <a:pt x="95250" y="131382"/>
                </a:cubicBezTo>
                <a:cubicBezTo>
                  <a:pt x="87939" y="139399"/>
                  <a:pt x="78837" y="150827"/>
                  <a:pt x="61902" y="166064"/>
                </a:cubicBezTo>
                <a:cubicBezTo>
                  <a:pt x="51084" y="154147"/>
                  <a:pt x="42196" y="144305"/>
                  <a:pt x="29605" y="135009"/>
                </a:cubicBezTo>
                <a:cubicBezTo>
                  <a:pt x="40438" y="124303"/>
                  <a:pt x="48392" y="115685"/>
                  <a:pt x="64171" y="99060"/>
                </a:cubicBezTo>
                <a:cubicBezTo>
                  <a:pt x="54980" y="91607"/>
                  <a:pt x="43322" y="76069"/>
                  <a:pt x="29605" y="63111"/>
                </a:cubicBezTo>
                <a:close/>
              </a:path>
            </a:pathLst>
          </a:custGeom>
          <a:solidFill>
            <a:srgbClr val="FF0000"/>
          </a:solidFill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518123035">
                  <a:prstGeom prst="mathMultiply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Multiplication Sign 12">
            <a:extLst>
              <a:ext uri="{FF2B5EF4-FFF2-40B4-BE49-F238E27FC236}">
                <a16:creationId xmlns:a16="http://schemas.microsoft.com/office/drawing/2014/main" id="{B433A64E-8C51-4D25-91CF-AB6323713046}"/>
              </a:ext>
            </a:extLst>
          </p:cNvPr>
          <p:cNvSpPr/>
          <p:nvPr/>
        </p:nvSpPr>
        <p:spPr>
          <a:xfrm>
            <a:off x="5762251" y="4755398"/>
            <a:ext cx="190500" cy="198120"/>
          </a:xfrm>
          <a:custGeom>
            <a:avLst/>
            <a:gdLst>
              <a:gd name="connsiteX0" fmla="*/ 29605 w 190500"/>
              <a:gd name="connsiteY0" fmla="*/ 63111 h 198120"/>
              <a:gd name="connsiteX1" fmla="*/ 61902 w 190500"/>
              <a:gd name="connsiteY1" fmla="*/ 32056 h 198120"/>
              <a:gd name="connsiteX2" fmla="*/ 95250 w 190500"/>
              <a:gd name="connsiteY2" fmla="*/ 66738 h 198120"/>
              <a:gd name="connsiteX3" fmla="*/ 128598 w 190500"/>
              <a:gd name="connsiteY3" fmla="*/ 32056 h 198120"/>
              <a:gd name="connsiteX4" fmla="*/ 160895 w 190500"/>
              <a:gd name="connsiteY4" fmla="*/ 63111 h 198120"/>
              <a:gd name="connsiteX5" fmla="*/ 126329 w 190500"/>
              <a:gd name="connsiteY5" fmla="*/ 99060 h 198120"/>
              <a:gd name="connsiteX6" fmla="*/ 160895 w 190500"/>
              <a:gd name="connsiteY6" fmla="*/ 135009 h 198120"/>
              <a:gd name="connsiteX7" fmla="*/ 128598 w 190500"/>
              <a:gd name="connsiteY7" fmla="*/ 166064 h 198120"/>
              <a:gd name="connsiteX8" fmla="*/ 95250 w 190500"/>
              <a:gd name="connsiteY8" fmla="*/ 131382 h 198120"/>
              <a:gd name="connsiteX9" fmla="*/ 61902 w 190500"/>
              <a:gd name="connsiteY9" fmla="*/ 166064 h 198120"/>
              <a:gd name="connsiteX10" fmla="*/ 29605 w 190500"/>
              <a:gd name="connsiteY10" fmla="*/ 135009 h 198120"/>
              <a:gd name="connsiteX11" fmla="*/ 64171 w 190500"/>
              <a:gd name="connsiteY11" fmla="*/ 99060 h 198120"/>
              <a:gd name="connsiteX12" fmla="*/ 29605 w 190500"/>
              <a:gd name="connsiteY12" fmla="*/ 63111 h 198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90500" h="198120" fill="none" extrusionOk="0">
                <a:moveTo>
                  <a:pt x="29605" y="63111"/>
                </a:moveTo>
                <a:cubicBezTo>
                  <a:pt x="46146" y="48948"/>
                  <a:pt x="55238" y="40374"/>
                  <a:pt x="61902" y="32056"/>
                </a:cubicBezTo>
                <a:cubicBezTo>
                  <a:pt x="75770" y="45710"/>
                  <a:pt x="82621" y="55414"/>
                  <a:pt x="95250" y="66738"/>
                </a:cubicBezTo>
                <a:cubicBezTo>
                  <a:pt x="109255" y="54832"/>
                  <a:pt x="119504" y="43203"/>
                  <a:pt x="128598" y="32056"/>
                </a:cubicBezTo>
                <a:cubicBezTo>
                  <a:pt x="143067" y="42898"/>
                  <a:pt x="151701" y="53232"/>
                  <a:pt x="160895" y="63111"/>
                </a:cubicBezTo>
                <a:cubicBezTo>
                  <a:pt x="144662" y="76739"/>
                  <a:pt x="136268" y="86309"/>
                  <a:pt x="126329" y="99060"/>
                </a:cubicBezTo>
                <a:cubicBezTo>
                  <a:pt x="139830" y="115839"/>
                  <a:pt x="144337" y="118389"/>
                  <a:pt x="160895" y="135009"/>
                </a:cubicBezTo>
                <a:cubicBezTo>
                  <a:pt x="147348" y="146201"/>
                  <a:pt x="141549" y="155821"/>
                  <a:pt x="128598" y="166064"/>
                </a:cubicBezTo>
                <a:cubicBezTo>
                  <a:pt x="113175" y="152946"/>
                  <a:pt x="106454" y="139960"/>
                  <a:pt x="95250" y="131382"/>
                </a:cubicBezTo>
                <a:cubicBezTo>
                  <a:pt x="79349" y="145938"/>
                  <a:pt x="74052" y="152150"/>
                  <a:pt x="61902" y="166064"/>
                </a:cubicBezTo>
                <a:cubicBezTo>
                  <a:pt x="48040" y="152748"/>
                  <a:pt x="38610" y="141626"/>
                  <a:pt x="29605" y="135009"/>
                </a:cubicBezTo>
                <a:cubicBezTo>
                  <a:pt x="41149" y="124446"/>
                  <a:pt x="46513" y="113970"/>
                  <a:pt x="64171" y="99060"/>
                </a:cubicBezTo>
                <a:cubicBezTo>
                  <a:pt x="52609" y="89357"/>
                  <a:pt x="45108" y="81010"/>
                  <a:pt x="29605" y="63111"/>
                </a:cubicBezTo>
                <a:close/>
              </a:path>
              <a:path w="190500" h="198120" stroke="0" extrusionOk="0">
                <a:moveTo>
                  <a:pt x="29605" y="63111"/>
                </a:moveTo>
                <a:cubicBezTo>
                  <a:pt x="42768" y="50763"/>
                  <a:pt x="52440" y="42408"/>
                  <a:pt x="61902" y="32056"/>
                </a:cubicBezTo>
                <a:cubicBezTo>
                  <a:pt x="70961" y="41388"/>
                  <a:pt x="81298" y="54642"/>
                  <a:pt x="95250" y="66738"/>
                </a:cubicBezTo>
                <a:cubicBezTo>
                  <a:pt x="104776" y="53418"/>
                  <a:pt x="113487" y="49879"/>
                  <a:pt x="128598" y="32056"/>
                </a:cubicBezTo>
                <a:cubicBezTo>
                  <a:pt x="138493" y="40279"/>
                  <a:pt x="145658" y="49344"/>
                  <a:pt x="160895" y="63111"/>
                </a:cubicBezTo>
                <a:cubicBezTo>
                  <a:pt x="148539" y="78596"/>
                  <a:pt x="139385" y="88887"/>
                  <a:pt x="126329" y="99060"/>
                </a:cubicBezTo>
                <a:cubicBezTo>
                  <a:pt x="135630" y="112305"/>
                  <a:pt x="153333" y="124458"/>
                  <a:pt x="160895" y="135009"/>
                </a:cubicBezTo>
                <a:cubicBezTo>
                  <a:pt x="150484" y="146112"/>
                  <a:pt x="141702" y="153900"/>
                  <a:pt x="128598" y="166064"/>
                </a:cubicBezTo>
                <a:cubicBezTo>
                  <a:pt x="114318" y="150400"/>
                  <a:pt x="112058" y="146459"/>
                  <a:pt x="95250" y="131382"/>
                </a:cubicBezTo>
                <a:cubicBezTo>
                  <a:pt x="81859" y="146096"/>
                  <a:pt x="69429" y="157893"/>
                  <a:pt x="61902" y="166064"/>
                </a:cubicBezTo>
                <a:cubicBezTo>
                  <a:pt x="47792" y="154400"/>
                  <a:pt x="44978" y="148354"/>
                  <a:pt x="29605" y="135009"/>
                </a:cubicBezTo>
                <a:cubicBezTo>
                  <a:pt x="39285" y="122905"/>
                  <a:pt x="53983" y="106932"/>
                  <a:pt x="64171" y="99060"/>
                </a:cubicBezTo>
                <a:cubicBezTo>
                  <a:pt x="55719" y="91744"/>
                  <a:pt x="41814" y="77920"/>
                  <a:pt x="29605" y="63111"/>
                </a:cubicBezTo>
                <a:close/>
              </a:path>
            </a:pathLst>
          </a:custGeom>
          <a:solidFill>
            <a:srgbClr val="FF0000"/>
          </a:solidFill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482292153">
                  <a:prstGeom prst="mathMultiply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093863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6BF9F2-3AC9-105C-2457-76832CAC7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545522-C6D4-0DF7-D1DF-E2C28C6B3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406" y="2767106"/>
            <a:ext cx="2884546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Analisa </a:t>
            </a:r>
            <a:r>
              <a:rPr lang="en-US" sz="2800" b="1" dirty="0" err="1">
                <a:solidFill>
                  <a:srgbClr val="FFFFFF"/>
                </a:solidFill>
              </a:rPr>
              <a:t>Keberpengaruhan</a:t>
            </a:r>
            <a:endParaRPr lang="en-US" sz="28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6C66AC16-0481-F630-FAF9-0EED245F2B63}"/>
              </a:ext>
            </a:extLst>
          </p:cNvPr>
          <p:cNvSpPr txBox="1">
            <a:spLocks/>
          </p:cNvSpPr>
          <p:nvPr/>
        </p:nvSpPr>
        <p:spPr>
          <a:xfrm>
            <a:off x="3860643" y="6108557"/>
            <a:ext cx="4451668" cy="459950"/>
          </a:xfrm>
          <a:prstGeom prst="rect">
            <a:avLst/>
          </a:prstGeom>
        </p:spPr>
        <p:txBody>
          <a:bodyPr vert="horz" lIns="68580" tIns="34290" rIns="68580" bIns="34290" rtlCol="0" anchor="b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sv-SE" sz="1500" dirty="0"/>
              <a:t>Gambar 20. Feature importance permodelan potensi banjir Kecamatan Dayeuhkolot.</a:t>
            </a: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C4B537A2-180C-8ECD-3321-5E58341F6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0C76-61B8-4F75-968B-505003DAB565}" type="slidenum">
              <a:rPr lang="en-US" smtClean="0"/>
              <a:t>31</a:t>
            </a:fld>
            <a:endParaRPr lang="en-US" dirty="0"/>
          </a:p>
        </p:txBody>
      </p:sp>
      <p:pic>
        <p:nvPicPr>
          <p:cNvPr id="12" name="Picture 11" descr="A blue and white logo&#10;&#10;Description automatically generated">
            <a:extLst>
              <a:ext uri="{FF2B5EF4-FFF2-40B4-BE49-F238E27FC236}">
                <a16:creationId xmlns:a16="http://schemas.microsoft.com/office/drawing/2014/main" id="{B9444CFE-6591-44A3-A2E9-E18CD173E6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080" y="154082"/>
            <a:ext cx="889000" cy="889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5808B29-2139-4E16-9AC9-8458091F321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2"/>
          <a:stretch/>
        </p:blipFill>
        <p:spPr>
          <a:xfrm>
            <a:off x="4215631" y="654148"/>
            <a:ext cx="3741687" cy="545440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36C2DDB-67EA-4A90-9915-D6CD7D5FFAA5}"/>
              </a:ext>
            </a:extLst>
          </p:cNvPr>
          <p:cNvSpPr/>
          <p:nvPr/>
        </p:nvSpPr>
        <p:spPr>
          <a:xfrm>
            <a:off x="3972910" y="804041"/>
            <a:ext cx="4004568" cy="756745"/>
          </a:xfrm>
          <a:custGeom>
            <a:avLst/>
            <a:gdLst>
              <a:gd name="connsiteX0" fmla="*/ 0 w 4004568"/>
              <a:gd name="connsiteY0" fmla="*/ 0 h 756745"/>
              <a:gd name="connsiteX1" fmla="*/ 667428 w 4004568"/>
              <a:gd name="connsiteY1" fmla="*/ 0 h 756745"/>
              <a:gd name="connsiteX2" fmla="*/ 1414947 w 4004568"/>
              <a:gd name="connsiteY2" fmla="*/ 0 h 756745"/>
              <a:gd name="connsiteX3" fmla="*/ 2122421 w 4004568"/>
              <a:gd name="connsiteY3" fmla="*/ 0 h 756745"/>
              <a:gd name="connsiteX4" fmla="*/ 2829895 w 4004568"/>
              <a:gd name="connsiteY4" fmla="*/ 0 h 756745"/>
              <a:gd name="connsiteX5" fmla="*/ 3377186 w 4004568"/>
              <a:gd name="connsiteY5" fmla="*/ 0 h 756745"/>
              <a:gd name="connsiteX6" fmla="*/ 4004568 w 4004568"/>
              <a:gd name="connsiteY6" fmla="*/ 0 h 756745"/>
              <a:gd name="connsiteX7" fmla="*/ 4004568 w 4004568"/>
              <a:gd name="connsiteY7" fmla="*/ 393507 h 756745"/>
              <a:gd name="connsiteX8" fmla="*/ 4004568 w 4004568"/>
              <a:gd name="connsiteY8" fmla="*/ 756745 h 756745"/>
              <a:gd name="connsiteX9" fmla="*/ 3457277 w 4004568"/>
              <a:gd name="connsiteY9" fmla="*/ 756745 h 756745"/>
              <a:gd name="connsiteX10" fmla="*/ 2709758 w 4004568"/>
              <a:gd name="connsiteY10" fmla="*/ 756745 h 756745"/>
              <a:gd name="connsiteX11" fmla="*/ 2042330 w 4004568"/>
              <a:gd name="connsiteY11" fmla="*/ 756745 h 756745"/>
              <a:gd name="connsiteX12" fmla="*/ 1374902 w 4004568"/>
              <a:gd name="connsiteY12" fmla="*/ 756745 h 756745"/>
              <a:gd name="connsiteX13" fmla="*/ 667428 w 4004568"/>
              <a:gd name="connsiteY13" fmla="*/ 756745 h 756745"/>
              <a:gd name="connsiteX14" fmla="*/ 0 w 4004568"/>
              <a:gd name="connsiteY14" fmla="*/ 756745 h 756745"/>
              <a:gd name="connsiteX15" fmla="*/ 0 w 4004568"/>
              <a:gd name="connsiteY15" fmla="*/ 385940 h 756745"/>
              <a:gd name="connsiteX16" fmla="*/ 0 w 4004568"/>
              <a:gd name="connsiteY16" fmla="*/ 0 h 756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004568" h="756745" extrusionOk="0">
                <a:moveTo>
                  <a:pt x="0" y="0"/>
                </a:moveTo>
                <a:cubicBezTo>
                  <a:pt x="185540" y="28089"/>
                  <a:pt x="389962" y="-16771"/>
                  <a:pt x="667428" y="0"/>
                </a:cubicBezTo>
                <a:cubicBezTo>
                  <a:pt x="944894" y="16771"/>
                  <a:pt x="1114830" y="-18325"/>
                  <a:pt x="1414947" y="0"/>
                </a:cubicBezTo>
                <a:cubicBezTo>
                  <a:pt x="1715064" y="18325"/>
                  <a:pt x="1942946" y="8167"/>
                  <a:pt x="2122421" y="0"/>
                </a:cubicBezTo>
                <a:cubicBezTo>
                  <a:pt x="2301896" y="-8167"/>
                  <a:pt x="2483740" y="-30691"/>
                  <a:pt x="2829895" y="0"/>
                </a:cubicBezTo>
                <a:cubicBezTo>
                  <a:pt x="3176050" y="30691"/>
                  <a:pt x="3240630" y="-10936"/>
                  <a:pt x="3377186" y="0"/>
                </a:cubicBezTo>
                <a:cubicBezTo>
                  <a:pt x="3513742" y="10936"/>
                  <a:pt x="3705230" y="-9237"/>
                  <a:pt x="4004568" y="0"/>
                </a:cubicBezTo>
                <a:cubicBezTo>
                  <a:pt x="4020952" y="174178"/>
                  <a:pt x="3991855" y="236853"/>
                  <a:pt x="4004568" y="393507"/>
                </a:cubicBezTo>
                <a:cubicBezTo>
                  <a:pt x="4017281" y="550161"/>
                  <a:pt x="3996653" y="599726"/>
                  <a:pt x="4004568" y="756745"/>
                </a:cubicBezTo>
                <a:cubicBezTo>
                  <a:pt x="3744818" y="735747"/>
                  <a:pt x="3710441" y="755561"/>
                  <a:pt x="3457277" y="756745"/>
                </a:cubicBezTo>
                <a:cubicBezTo>
                  <a:pt x="3204113" y="757929"/>
                  <a:pt x="2927089" y="747508"/>
                  <a:pt x="2709758" y="756745"/>
                </a:cubicBezTo>
                <a:cubicBezTo>
                  <a:pt x="2492427" y="765982"/>
                  <a:pt x="2206744" y="760274"/>
                  <a:pt x="2042330" y="756745"/>
                </a:cubicBezTo>
                <a:cubicBezTo>
                  <a:pt x="1877916" y="753216"/>
                  <a:pt x="1556634" y="739798"/>
                  <a:pt x="1374902" y="756745"/>
                </a:cubicBezTo>
                <a:cubicBezTo>
                  <a:pt x="1193170" y="773692"/>
                  <a:pt x="970670" y="779071"/>
                  <a:pt x="667428" y="756745"/>
                </a:cubicBezTo>
                <a:cubicBezTo>
                  <a:pt x="364186" y="734419"/>
                  <a:pt x="207180" y="747872"/>
                  <a:pt x="0" y="756745"/>
                </a:cubicBezTo>
                <a:cubicBezTo>
                  <a:pt x="-13483" y="642845"/>
                  <a:pt x="-662" y="567582"/>
                  <a:pt x="0" y="385940"/>
                </a:cubicBezTo>
                <a:cubicBezTo>
                  <a:pt x="662" y="204299"/>
                  <a:pt x="-5598" y="107440"/>
                  <a:pt x="0" y="0"/>
                </a:cubicBezTo>
                <a:close/>
              </a:path>
            </a:pathLst>
          </a:custGeom>
          <a:noFill/>
          <a:ln w="3810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43747932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0B640A-B8F3-4031-990A-AACEF72A810E}"/>
              </a:ext>
            </a:extLst>
          </p:cNvPr>
          <p:cNvSpPr/>
          <p:nvPr/>
        </p:nvSpPr>
        <p:spPr>
          <a:xfrm>
            <a:off x="3972908" y="3524736"/>
            <a:ext cx="4004568" cy="756745"/>
          </a:xfrm>
          <a:custGeom>
            <a:avLst/>
            <a:gdLst>
              <a:gd name="connsiteX0" fmla="*/ 0 w 4004568"/>
              <a:gd name="connsiteY0" fmla="*/ 0 h 756745"/>
              <a:gd name="connsiteX1" fmla="*/ 667428 w 4004568"/>
              <a:gd name="connsiteY1" fmla="*/ 0 h 756745"/>
              <a:gd name="connsiteX2" fmla="*/ 1414947 w 4004568"/>
              <a:gd name="connsiteY2" fmla="*/ 0 h 756745"/>
              <a:gd name="connsiteX3" fmla="*/ 2122421 w 4004568"/>
              <a:gd name="connsiteY3" fmla="*/ 0 h 756745"/>
              <a:gd name="connsiteX4" fmla="*/ 2829895 w 4004568"/>
              <a:gd name="connsiteY4" fmla="*/ 0 h 756745"/>
              <a:gd name="connsiteX5" fmla="*/ 3377186 w 4004568"/>
              <a:gd name="connsiteY5" fmla="*/ 0 h 756745"/>
              <a:gd name="connsiteX6" fmla="*/ 4004568 w 4004568"/>
              <a:gd name="connsiteY6" fmla="*/ 0 h 756745"/>
              <a:gd name="connsiteX7" fmla="*/ 4004568 w 4004568"/>
              <a:gd name="connsiteY7" fmla="*/ 393507 h 756745"/>
              <a:gd name="connsiteX8" fmla="*/ 4004568 w 4004568"/>
              <a:gd name="connsiteY8" fmla="*/ 756745 h 756745"/>
              <a:gd name="connsiteX9" fmla="*/ 3457277 w 4004568"/>
              <a:gd name="connsiteY9" fmla="*/ 756745 h 756745"/>
              <a:gd name="connsiteX10" fmla="*/ 2709758 w 4004568"/>
              <a:gd name="connsiteY10" fmla="*/ 756745 h 756745"/>
              <a:gd name="connsiteX11" fmla="*/ 2042330 w 4004568"/>
              <a:gd name="connsiteY11" fmla="*/ 756745 h 756745"/>
              <a:gd name="connsiteX12" fmla="*/ 1374902 w 4004568"/>
              <a:gd name="connsiteY12" fmla="*/ 756745 h 756745"/>
              <a:gd name="connsiteX13" fmla="*/ 667428 w 4004568"/>
              <a:gd name="connsiteY13" fmla="*/ 756745 h 756745"/>
              <a:gd name="connsiteX14" fmla="*/ 0 w 4004568"/>
              <a:gd name="connsiteY14" fmla="*/ 756745 h 756745"/>
              <a:gd name="connsiteX15" fmla="*/ 0 w 4004568"/>
              <a:gd name="connsiteY15" fmla="*/ 385940 h 756745"/>
              <a:gd name="connsiteX16" fmla="*/ 0 w 4004568"/>
              <a:gd name="connsiteY16" fmla="*/ 0 h 756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004568" h="756745" extrusionOk="0">
                <a:moveTo>
                  <a:pt x="0" y="0"/>
                </a:moveTo>
                <a:cubicBezTo>
                  <a:pt x="185540" y="28089"/>
                  <a:pt x="389962" y="-16771"/>
                  <a:pt x="667428" y="0"/>
                </a:cubicBezTo>
                <a:cubicBezTo>
                  <a:pt x="944894" y="16771"/>
                  <a:pt x="1114830" y="-18325"/>
                  <a:pt x="1414947" y="0"/>
                </a:cubicBezTo>
                <a:cubicBezTo>
                  <a:pt x="1715064" y="18325"/>
                  <a:pt x="1942946" y="8167"/>
                  <a:pt x="2122421" y="0"/>
                </a:cubicBezTo>
                <a:cubicBezTo>
                  <a:pt x="2301896" y="-8167"/>
                  <a:pt x="2483740" y="-30691"/>
                  <a:pt x="2829895" y="0"/>
                </a:cubicBezTo>
                <a:cubicBezTo>
                  <a:pt x="3176050" y="30691"/>
                  <a:pt x="3240630" y="-10936"/>
                  <a:pt x="3377186" y="0"/>
                </a:cubicBezTo>
                <a:cubicBezTo>
                  <a:pt x="3513742" y="10936"/>
                  <a:pt x="3705230" y="-9237"/>
                  <a:pt x="4004568" y="0"/>
                </a:cubicBezTo>
                <a:cubicBezTo>
                  <a:pt x="4020952" y="174178"/>
                  <a:pt x="3991855" y="236853"/>
                  <a:pt x="4004568" y="393507"/>
                </a:cubicBezTo>
                <a:cubicBezTo>
                  <a:pt x="4017281" y="550161"/>
                  <a:pt x="3996653" y="599726"/>
                  <a:pt x="4004568" y="756745"/>
                </a:cubicBezTo>
                <a:cubicBezTo>
                  <a:pt x="3744818" y="735747"/>
                  <a:pt x="3710441" y="755561"/>
                  <a:pt x="3457277" y="756745"/>
                </a:cubicBezTo>
                <a:cubicBezTo>
                  <a:pt x="3204113" y="757929"/>
                  <a:pt x="2927089" y="747508"/>
                  <a:pt x="2709758" y="756745"/>
                </a:cubicBezTo>
                <a:cubicBezTo>
                  <a:pt x="2492427" y="765982"/>
                  <a:pt x="2206744" y="760274"/>
                  <a:pt x="2042330" y="756745"/>
                </a:cubicBezTo>
                <a:cubicBezTo>
                  <a:pt x="1877916" y="753216"/>
                  <a:pt x="1556634" y="739798"/>
                  <a:pt x="1374902" y="756745"/>
                </a:cubicBezTo>
                <a:cubicBezTo>
                  <a:pt x="1193170" y="773692"/>
                  <a:pt x="970670" y="779071"/>
                  <a:pt x="667428" y="756745"/>
                </a:cubicBezTo>
                <a:cubicBezTo>
                  <a:pt x="364186" y="734419"/>
                  <a:pt x="207180" y="747872"/>
                  <a:pt x="0" y="756745"/>
                </a:cubicBezTo>
                <a:cubicBezTo>
                  <a:pt x="-13483" y="642845"/>
                  <a:pt x="-662" y="567582"/>
                  <a:pt x="0" y="385940"/>
                </a:cubicBezTo>
                <a:cubicBezTo>
                  <a:pt x="662" y="204299"/>
                  <a:pt x="-5598" y="107440"/>
                  <a:pt x="0" y="0"/>
                </a:cubicBezTo>
                <a:close/>
              </a:path>
            </a:pathLst>
          </a:custGeom>
          <a:noFill/>
          <a:ln w="3810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43747932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5AB5BA1-248F-40F4-9901-136D7C7E4244}"/>
              </a:ext>
            </a:extLst>
          </p:cNvPr>
          <p:cNvSpPr/>
          <p:nvPr/>
        </p:nvSpPr>
        <p:spPr>
          <a:xfrm>
            <a:off x="3972908" y="1617747"/>
            <a:ext cx="4004568" cy="344404"/>
          </a:xfrm>
          <a:custGeom>
            <a:avLst/>
            <a:gdLst>
              <a:gd name="connsiteX0" fmla="*/ 0 w 4004568"/>
              <a:gd name="connsiteY0" fmla="*/ 0 h 344404"/>
              <a:gd name="connsiteX1" fmla="*/ 667428 w 4004568"/>
              <a:gd name="connsiteY1" fmla="*/ 0 h 344404"/>
              <a:gd name="connsiteX2" fmla="*/ 1414947 w 4004568"/>
              <a:gd name="connsiteY2" fmla="*/ 0 h 344404"/>
              <a:gd name="connsiteX3" fmla="*/ 2122421 w 4004568"/>
              <a:gd name="connsiteY3" fmla="*/ 0 h 344404"/>
              <a:gd name="connsiteX4" fmla="*/ 2829895 w 4004568"/>
              <a:gd name="connsiteY4" fmla="*/ 0 h 344404"/>
              <a:gd name="connsiteX5" fmla="*/ 3377186 w 4004568"/>
              <a:gd name="connsiteY5" fmla="*/ 0 h 344404"/>
              <a:gd name="connsiteX6" fmla="*/ 4004568 w 4004568"/>
              <a:gd name="connsiteY6" fmla="*/ 0 h 344404"/>
              <a:gd name="connsiteX7" fmla="*/ 4004568 w 4004568"/>
              <a:gd name="connsiteY7" fmla="*/ 344404 h 344404"/>
              <a:gd name="connsiteX8" fmla="*/ 3457277 w 4004568"/>
              <a:gd name="connsiteY8" fmla="*/ 344404 h 344404"/>
              <a:gd name="connsiteX9" fmla="*/ 2789849 w 4004568"/>
              <a:gd name="connsiteY9" fmla="*/ 344404 h 344404"/>
              <a:gd name="connsiteX10" fmla="*/ 2042330 w 4004568"/>
              <a:gd name="connsiteY10" fmla="*/ 344404 h 344404"/>
              <a:gd name="connsiteX11" fmla="*/ 1374902 w 4004568"/>
              <a:gd name="connsiteY11" fmla="*/ 344404 h 344404"/>
              <a:gd name="connsiteX12" fmla="*/ 707474 w 4004568"/>
              <a:gd name="connsiteY12" fmla="*/ 344404 h 344404"/>
              <a:gd name="connsiteX13" fmla="*/ 0 w 4004568"/>
              <a:gd name="connsiteY13" fmla="*/ 344404 h 344404"/>
              <a:gd name="connsiteX14" fmla="*/ 0 w 4004568"/>
              <a:gd name="connsiteY14" fmla="*/ 0 h 344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004568" h="344404" extrusionOk="0">
                <a:moveTo>
                  <a:pt x="0" y="0"/>
                </a:moveTo>
                <a:cubicBezTo>
                  <a:pt x="185540" y="28089"/>
                  <a:pt x="389962" y="-16771"/>
                  <a:pt x="667428" y="0"/>
                </a:cubicBezTo>
                <a:cubicBezTo>
                  <a:pt x="944894" y="16771"/>
                  <a:pt x="1114830" y="-18325"/>
                  <a:pt x="1414947" y="0"/>
                </a:cubicBezTo>
                <a:cubicBezTo>
                  <a:pt x="1715064" y="18325"/>
                  <a:pt x="1942946" y="8167"/>
                  <a:pt x="2122421" y="0"/>
                </a:cubicBezTo>
                <a:cubicBezTo>
                  <a:pt x="2301896" y="-8167"/>
                  <a:pt x="2483740" y="-30691"/>
                  <a:pt x="2829895" y="0"/>
                </a:cubicBezTo>
                <a:cubicBezTo>
                  <a:pt x="3176050" y="30691"/>
                  <a:pt x="3240630" y="-10936"/>
                  <a:pt x="3377186" y="0"/>
                </a:cubicBezTo>
                <a:cubicBezTo>
                  <a:pt x="3513742" y="10936"/>
                  <a:pt x="3705230" y="-9237"/>
                  <a:pt x="4004568" y="0"/>
                </a:cubicBezTo>
                <a:cubicBezTo>
                  <a:pt x="3993903" y="100752"/>
                  <a:pt x="4021184" y="248523"/>
                  <a:pt x="4004568" y="344404"/>
                </a:cubicBezTo>
                <a:cubicBezTo>
                  <a:pt x="3800419" y="324902"/>
                  <a:pt x="3680578" y="329542"/>
                  <a:pt x="3457277" y="344404"/>
                </a:cubicBezTo>
                <a:cubicBezTo>
                  <a:pt x="3233976" y="359266"/>
                  <a:pt x="3010048" y="311847"/>
                  <a:pt x="2789849" y="344404"/>
                </a:cubicBezTo>
                <a:cubicBezTo>
                  <a:pt x="2569650" y="376961"/>
                  <a:pt x="2259661" y="335167"/>
                  <a:pt x="2042330" y="344404"/>
                </a:cubicBezTo>
                <a:cubicBezTo>
                  <a:pt x="1824999" y="353641"/>
                  <a:pt x="1539316" y="347933"/>
                  <a:pt x="1374902" y="344404"/>
                </a:cubicBezTo>
                <a:cubicBezTo>
                  <a:pt x="1210488" y="340875"/>
                  <a:pt x="889206" y="327457"/>
                  <a:pt x="707474" y="344404"/>
                </a:cubicBezTo>
                <a:cubicBezTo>
                  <a:pt x="525742" y="361351"/>
                  <a:pt x="303242" y="366730"/>
                  <a:pt x="0" y="344404"/>
                </a:cubicBezTo>
                <a:cubicBezTo>
                  <a:pt x="-5600" y="207461"/>
                  <a:pt x="14283" y="153585"/>
                  <a:pt x="0" y="0"/>
                </a:cubicBezTo>
                <a:close/>
              </a:path>
            </a:pathLst>
          </a:custGeom>
          <a:noFill/>
          <a:ln w="38100">
            <a:solidFill>
              <a:srgbClr val="00B050"/>
            </a:solidFill>
            <a:extLst>
              <a:ext uri="{C807C97D-BFC1-408E-A445-0C87EB9F89A2}">
                <ask:lineSketchStyleProps xmlns:ask="http://schemas.microsoft.com/office/drawing/2018/sketchyshapes" sd="43747932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A1B30B-EC50-458A-A684-F1E79E1F5BB1}"/>
              </a:ext>
            </a:extLst>
          </p:cNvPr>
          <p:cNvSpPr/>
          <p:nvPr/>
        </p:nvSpPr>
        <p:spPr>
          <a:xfrm>
            <a:off x="3972908" y="4335370"/>
            <a:ext cx="4004568" cy="344404"/>
          </a:xfrm>
          <a:custGeom>
            <a:avLst/>
            <a:gdLst>
              <a:gd name="connsiteX0" fmla="*/ 0 w 4004568"/>
              <a:gd name="connsiteY0" fmla="*/ 0 h 344404"/>
              <a:gd name="connsiteX1" fmla="*/ 667428 w 4004568"/>
              <a:gd name="connsiteY1" fmla="*/ 0 h 344404"/>
              <a:gd name="connsiteX2" fmla="*/ 1414947 w 4004568"/>
              <a:gd name="connsiteY2" fmla="*/ 0 h 344404"/>
              <a:gd name="connsiteX3" fmla="*/ 2122421 w 4004568"/>
              <a:gd name="connsiteY3" fmla="*/ 0 h 344404"/>
              <a:gd name="connsiteX4" fmla="*/ 2829895 w 4004568"/>
              <a:gd name="connsiteY4" fmla="*/ 0 h 344404"/>
              <a:gd name="connsiteX5" fmla="*/ 3377186 w 4004568"/>
              <a:gd name="connsiteY5" fmla="*/ 0 h 344404"/>
              <a:gd name="connsiteX6" fmla="*/ 4004568 w 4004568"/>
              <a:gd name="connsiteY6" fmla="*/ 0 h 344404"/>
              <a:gd name="connsiteX7" fmla="*/ 4004568 w 4004568"/>
              <a:gd name="connsiteY7" fmla="*/ 344404 h 344404"/>
              <a:gd name="connsiteX8" fmla="*/ 3457277 w 4004568"/>
              <a:gd name="connsiteY8" fmla="*/ 344404 h 344404"/>
              <a:gd name="connsiteX9" fmla="*/ 2789849 w 4004568"/>
              <a:gd name="connsiteY9" fmla="*/ 344404 h 344404"/>
              <a:gd name="connsiteX10" fmla="*/ 2042330 w 4004568"/>
              <a:gd name="connsiteY10" fmla="*/ 344404 h 344404"/>
              <a:gd name="connsiteX11" fmla="*/ 1374902 w 4004568"/>
              <a:gd name="connsiteY11" fmla="*/ 344404 h 344404"/>
              <a:gd name="connsiteX12" fmla="*/ 707474 w 4004568"/>
              <a:gd name="connsiteY12" fmla="*/ 344404 h 344404"/>
              <a:gd name="connsiteX13" fmla="*/ 0 w 4004568"/>
              <a:gd name="connsiteY13" fmla="*/ 344404 h 344404"/>
              <a:gd name="connsiteX14" fmla="*/ 0 w 4004568"/>
              <a:gd name="connsiteY14" fmla="*/ 0 h 344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004568" h="344404" extrusionOk="0">
                <a:moveTo>
                  <a:pt x="0" y="0"/>
                </a:moveTo>
                <a:cubicBezTo>
                  <a:pt x="185540" y="28089"/>
                  <a:pt x="389962" y="-16771"/>
                  <a:pt x="667428" y="0"/>
                </a:cubicBezTo>
                <a:cubicBezTo>
                  <a:pt x="944894" y="16771"/>
                  <a:pt x="1114830" y="-18325"/>
                  <a:pt x="1414947" y="0"/>
                </a:cubicBezTo>
                <a:cubicBezTo>
                  <a:pt x="1715064" y="18325"/>
                  <a:pt x="1942946" y="8167"/>
                  <a:pt x="2122421" y="0"/>
                </a:cubicBezTo>
                <a:cubicBezTo>
                  <a:pt x="2301896" y="-8167"/>
                  <a:pt x="2483740" y="-30691"/>
                  <a:pt x="2829895" y="0"/>
                </a:cubicBezTo>
                <a:cubicBezTo>
                  <a:pt x="3176050" y="30691"/>
                  <a:pt x="3240630" y="-10936"/>
                  <a:pt x="3377186" y="0"/>
                </a:cubicBezTo>
                <a:cubicBezTo>
                  <a:pt x="3513742" y="10936"/>
                  <a:pt x="3705230" y="-9237"/>
                  <a:pt x="4004568" y="0"/>
                </a:cubicBezTo>
                <a:cubicBezTo>
                  <a:pt x="3993903" y="100752"/>
                  <a:pt x="4021184" y="248523"/>
                  <a:pt x="4004568" y="344404"/>
                </a:cubicBezTo>
                <a:cubicBezTo>
                  <a:pt x="3800419" y="324902"/>
                  <a:pt x="3680578" y="329542"/>
                  <a:pt x="3457277" y="344404"/>
                </a:cubicBezTo>
                <a:cubicBezTo>
                  <a:pt x="3233976" y="359266"/>
                  <a:pt x="3010048" y="311847"/>
                  <a:pt x="2789849" y="344404"/>
                </a:cubicBezTo>
                <a:cubicBezTo>
                  <a:pt x="2569650" y="376961"/>
                  <a:pt x="2259661" y="335167"/>
                  <a:pt x="2042330" y="344404"/>
                </a:cubicBezTo>
                <a:cubicBezTo>
                  <a:pt x="1824999" y="353641"/>
                  <a:pt x="1539316" y="347933"/>
                  <a:pt x="1374902" y="344404"/>
                </a:cubicBezTo>
                <a:cubicBezTo>
                  <a:pt x="1210488" y="340875"/>
                  <a:pt x="889206" y="327457"/>
                  <a:pt x="707474" y="344404"/>
                </a:cubicBezTo>
                <a:cubicBezTo>
                  <a:pt x="525742" y="361351"/>
                  <a:pt x="303242" y="366730"/>
                  <a:pt x="0" y="344404"/>
                </a:cubicBezTo>
                <a:cubicBezTo>
                  <a:pt x="-5600" y="207461"/>
                  <a:pt x="14283" y="153585"/>
                  <a:pt x="0" y="0"/>
                </a:cubicBezTo>
                <a:close/>
              </a:path>
            </a:pathLst>
          </a:custGeom>
          <a:noFill/>
          <a:ln w="38100">
            <a:solidFill>
              <a:srgbClr val="00B050"/>
            </a:solidFill>
            <a:extLst>
              <a:ext uri="{C807C97D-BFC1-408E-A445-0C87EB9F89A2}">
                <ask:lineSketchStyleProps xmlns:ask="http://schemas.microsoft.com/office/drawing/2018/sketchyshapes" sd="43747932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5909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3" grpId="0" animBg="1"/>
      <p:bldP spid="14" grpId="0" animBg="1"/>
      <p:bldP spid="1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6BF9F2-3AC9-105C-2457-76832CAC7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545522-C6D4-0DF7-D1DF-E2C28C6B3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406" y="2767106"/>
            <a:ext cx="2884546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Analisa </a:t>
            </a:r>
            <a:r>
              <a:rPr lang="en-US" sz="2800" b="1" dirty="0" err="1">
                <a:solidFill>
                  <a:srgbClr val="FFFFFF"/>
                </a:solidFill>
              </a:rPr>
              <a:t>Keberpengaruhan</a:t>
            </a:r>
            <a:endParaRPr lang="en-US" sz="28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6C66AC16-0481-F630-FAF9-0EED245F2B63}"/>
              </a:ext>
            </a:extLst>
          </p:cNvPr>
          <p:cNvSpPr txBox="1">
            <a:spLocks/>
          </p:cNvSpPr>
          <p:nvPr/>
        </p:nvSpPr>
        <p:spPr>
          <a:xfrm>
            <a:off x="3860643" y="6108557"/>
            <a:ext cx="4451668" cy="459950"/>
          </a:xfrm>
          <a:prstGeom prst="rect">
            <a:avLst/>
          </a:prstGeom>
        </p:spPr>
        <p:txBody>
          <a:bodyPr vert="horz" lIns="68580" tIns="34290" rIns="68580" bIns="34290" rtlCol="0" anchor="b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sv-SE" sz="1500" dirty="0"/>
              <a:t>Gambar 20a. Feature importance permodelan potensi banjir Kecamatan Baleendah.</a:t>
            </a: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C4B537A2-180C-8ECD-3321-5E58341F6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0C76-61B8-4F75-968B-505003DAB565}" type="slidenum">
              <a:rPr lang="en-US" smtClean="0"/>
              <a:t>32</a:t>
            </a:fld>
            <a:endParaRPr lang="en-US" dirty="0"/>
          </a:p>
        </p:txBody>
      </p:sp>
      <p:pic>
        <p:nvPicPr>
          <p:cNvPr id="12" name="Picture 11" descr="A blue and white logo&#10;&#10;Description automatically generated">
            <a:extLst>
              <a:ext uri="{FF2B5EF4-FFF2-40B4-BE49-F238E27FC236}">
                <a16:creationId xmlns:a16="http://schemas.microsoft.com/office/drawing/2014/main" id="{B9444CFE-6591-44A3-A2E9-E18CD173E6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080" y="154082"/>
            <a:ext cx="889000" cy="889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5808B29-2139-4E16-9AC9-8458091F32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15631" y="511426"/>
            <a:ext cx="3741687" cy="5593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8596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8506B5-6D40-D364-F513-90E573C34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F843A1-D2FC-E9B8-93B6-C69C8961E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294538"/>
            <a:ext cx="6674464" cy="1033669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FFFF"/>
                </a:solidFill>
              </a:rPr>
              <a:t>Analisa </a:t>
            </a:r>
            <a:r>
              <a:rPr lang="en-US" sz="3200" b="1" dirty="0" err="1">
                <a:solidFill>
                  <a:srgbClr val="FFFFFF"/>
                </a:solidFill>
              </a:rPr>
              <a:t>Keberpengaruhan</a:t>
            </a:r>
            <a:endParaRPr lang="en-US" sz="3200" b="1" dirty="0">
              <a:solidFill>
                <a:srgbClr val="FFFFFF"/>
              </a:solidFill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5BFFB54-C101-BEB1-F876-81F56280C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0C76-61B8-4F75-968B-505003DAB565}" type="slidenum">
              <a:rPr lang="en-US" smtClean="0"/>
              <a:t>33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98B84E-6D9B-46D0-B22D-1C293F51EC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62885" y="2296832"/>
            <a:ext cx="5218225" cy="3978602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ECA0DE7-A960-B150-5644-259136EDB959}"/>
              </a:ext>
            </a:extLst>
          </p:cNvPr>
          <p:cNvSpPr txBox="1">
            <a:spLocks/>
          </p:cNvSpPr>
          <p:nvPr/>
        </p:nvSpPr>
        <p:spPr>
          <a:xfrm>
            <a:off x="1028699" y="1614504"/>
            <a:ext cx="7293023" cy="665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 err="1"/>
              <a:t>Berikut</a:t>
            </a:r>
            <a:r>
              <a:rPr lang="en-US" sz="1700" dirty="0"/>
              <a:t> </a:t>
            </a:r>
            <a:r>
              <a:rPr lang="en-US" sz="1700" dirty="0" err="1"/>
              <a:t>merupakan</a:t>
            </a:r>
            <a:r>
              <a:rPr lang="en-US" sz="1700" dirty="0"/>
              <a:t> </a:t>
            </a:r>
            <a:r>
              <a:rPr lang="en-US" sz="1700" dirty="0" err="1"/>
              <a:t>denah</a:t>
            </a:r>
            <a:r>
              <a:rPr lang="en-US" sz="1700" dirty="0"/>
              <a:t> </a:t>
            </a:r>
            <a:r>
              <a:rPr lang="en-US" sz="1700" dirty="0" err="1"/>
              <a:t>dari</a:t>
            </a:r>
            <a:r>
              <a:rPr lang="en-US" sz="1700" dirty="0"/>
              <a:t> </a:t>
            </a:r>
            <a:r>
              <a:rPr lang="en-US" sz="1700" dirty="0" err="1"/>
              <a:t>aliran</a:t>
            </a:r>
            <a:r>
              <a:rPr lang="en-US" sz="1700" dirty="0"/>
              <a:t> Sungai </a:t>
            </a:r>
            <a:r>
              <a:rPr lang="en-US" sz="1700" dirty="0" err="1"/>
              <a:t>Citarum</a:t>
            </a:r>
            <a:r>
              <a:rPr lang="en-US" sz="1700" dirty="0"/>
              <a:t> </a:t>
            </a:r>
            <a:r>
              <a:rPr lang="en-US" sz="1700" dirty="0" err="1"/>
              <a:t>beserta</a:t>
            </a:r>
            <a:r>
              <a:rPr lang="en-US" sz="1700" dirty="0"/>
              <a:t> </a:t>
            </a:r>
            <a:r>
              <a:rPr lang="en-US" sz="1700" dirty="0" err="1"/>
              <a:t>anak-anak</a:t>
            </a:r>
            <a:r>
              <a:rPr lang="en-US" sz="1700" dirty="0"/>
              <a:t> </a:t>
            </a:r>
            <a:r>
              <a:rPr lang="en-US" sz="1700" dirty="0" err="1"/>
              <a:t>sungainya</a:t>
            </a:r>
            <a:r>
              <a:rPr lang="en-US" sz="1700" dirty="0"/>
              <a:t>.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8687CCA2-0872-9CBA-5722-D3F6C57D5DB4}"/>
              </a:ext>
            </a:extLst>
          </p:cNvPr>
          <p:cNvSpPr txBox="1">
            <a:spLocks/>
          </p:cNvSpPr>
          <p:nvPr/>
        </p:nvSpPr>
        <p:spPr>
          <a:xfrm>
            <a:off x="1367695" y="6263765"/>
            <a:ext cx="6408606" cy="441665"/>
          </a:xfrm>
          <a:prstGeom prst="rect">
            <a:avLst/>
          </a:prstGeom>
        </p:spPr>
        <p:txBody>
          <a:bodyPr vert="horz" lIns="68580" tIns="34290" rIns="68580" bIns="34290" rtlCol="0" anchor="b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sv-SE" sz="1500" dirty="0"/>
              <a:t>Gambar 16. Denah aliran Sungai Citarum (</a:t>
            </a:r>
            <a:r>
              <a:rPr lang="en-US" sz="1500" dirty="0"/>
              <a:t>BBWS </a:t>
            </a:r>
            <a:r>
              <a:rPr lang="en-US" sz="1500" dirty="0" err="1"/>
              <a:t>Citarum</a:t>
            </a:r>
            <a:r>
              <a:rPr lang="en-US" sz="1500" dirty="0"/>
              <a:t>, B. B. W. S. C. (2025). </a:t>
            </a:r>
            <a:r>
              <a:rPr lang="en-US" sz="1500" dirty="0" err="1"/>
              <a:t>Citarum</a:t>
            </a:r>
            <a:r>
              <a:rPr lang="en-US" sz="1500" dirty="0"/>
              <a:t> River Flood Forecasting and Warning System </a:t>
            </a:r>
            <a:r>
              <a:rPr lang="sv-SE" sz="1500" dirty="0"/>
              <a:t>).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55C664B-F79B-4CC1-A245-3B14FB06BFF7}"/>
              </a:ext>
            </a:extLst>
          </p:cNvPr>
          <p:cNvSpPr/>
          <p:nvPr/>
        </p:nvSpPr>
        <p:spPr>
          <a:xfrm>
            <a:off x="7934015" y="109497"/>
            <a:ext cx="979129" cy="97912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6" name="Picture 15" descr="A blue and white logo&#10;&#10;Description automatically generated">
            <a:extLst>
              <a:ext uri="{FF2B5EF4-FFF2-40B4-BE49-F238E27FC236}">
                <a16:creationId xmlns:a16="http://schemas.microsoft.com/office/drawing/2014/main" id="{41EB7EC8-2A46-491C-9031-0E852E7CEA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080" y="154082"/>
            <a:ext cx="889000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7340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D9418E-4D9A-8F01-82C6-E6D3C6625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2DE1683-09EA-DD30-C2F0-B7E95512B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FCC775-2818-F1DB-4151-C48E65083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AF860C-45A0-5918-25C0-11824C7DE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EBED0A-D917-CC68-8EA8-CCBC06C81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80F9AD0-D828-95BA-BF97-7B6D1F646B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144E13-1F96-4F02-1922-BAB83493C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FFFF"/>
                </a:solidFill>
              </a:rPr>
              <a:t>Kesimpulan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3C2A1-C0D4-17D0-53EB-A8382E358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1700" dirty="0" err="1"/>
              <a:t>Dilakukan</a:t>
            </a:r>
            <a:r>
              <a:rPr lang="en-US" sz="1700" dirty="0"/>
              <a:t> </a:t>
            </a:r>
            <a:r>
              <a:rPr lang="en-US" sz="1700" dirty="0" err="1"/>
              <a:t>pengujian</a:t>
            </a:r>
            <a:r>
              <a:rPr lang="en-US" sz="1700" dirty="0"/>
              <a:t> </a:t>
            </a:r>
            <a:r>
              <a:rPr lang="en-US" sz="1700" dirty="0" err="1"/>
              <a:t>terhadap</a:t>
            </a:r>
            <a:r>
              <a:rPr lang="en-US" sz="1700" dirty="0"/>
              <a:t> sensor </a:t>
            </a:r>
            <a:r>
              <a:rPr lang="en-US" sz="1700" dirty="0" err="1"/>
              <a:t>curah</a:t>
            </a:r>
            <a:r>
              <a:rPr lang="en-US" sz="1700" dirty="0"/>
              <a:t> </a:t>
            </a:r>
            <a:r>
              <a:rPr lang="en-US" sz="1700" dirty="0" err="1"/>
              <a:t>hujan</a:t>
            </a:r>
            <a:r>
              <a:rPr lang="en-US" sz="1700" dirty="0"/>
              <a:t> RK400-07 dan </a:t>
            </a:r>
            <a:r>
              <a:rPr lang="en-US" sz="1700" dirty="0" err="1"/>
              <a:t>ditemukan</a:t>
            </a:r>
            <a:r>
              <a:rPr lang="en-US" sz="1700" dirty="0"/>
              <a:t> </a:t>
            </a:r>
            <a:r>
              <a:rPr lang="en-US" sz="1700" dirty="0" err="1"/>
              <a:t>sistem</a:t>
            </a:r>
            <a:r>
              <a:rPr lang="en-US" sz="1700" dirty="0"/>
              <a:t> sensor yang </a:t>
            </a:r>
            <a:r>
              <a:rPr lang="en-US" sz="1700" dirty="0" err="1"/>
              <a:t>digunakan</a:t>
            </a:r>
            <a:r>
              <a:rPr lang="en-US" sz="1700" dirty="0"/>
              <a:t> </a:t>
            </a:r>
            <a:r>
              <a:rPr lang="en-US" sz="1700" dirty="0" err="1"/>
              <a:t>dapat</a:t>
            </a:r>
            <a:r>
              <a:rPr lang="en-US" sz="1700" dirty="0"/>
              <a:t> </a:t>
            </a:r>
            <a:r>
              <a:rPr lang="en-US" sz="1700" dirty="0" err="1"/>
              <a:t>mengukur</a:t>
            </a:r>
            <a:r>
              <a:rPr lang="en-US" sz="1700" dirty="0"/>
              <a:t> dan </a:t>
            </a:r>
            <a:r>
              <a:rPr lang="en-US" sz="1700" dirty="0" err="1"/>
              <a:t>mencatat</a:t>
            </a:r>
            <a:r>
              <a:rPr lang="en-US" sz="1700" dirty="0"/>
              <a:t> </a:t>
            </a:r>
            <a:r>
              <a:rPr lang="en-US" sz="1700" dirty="0" err="1"/>
              <a:t>curah</a:t>
            </a:r>
            <a:r>
              <a:rPr lang="en-US" sz="1700" dirty="0"/>
              <a:t> </a:t>
            </a:r>
            <a:r>
              <a:rPr lang="en-US" sz="1700" dirty="0" err="1"/>
              <a:t>hujan</a:t>
            </a:r>
            <a:r>
              <a:rPr lang="en-US" sz="1700" dirty="0"/>
              <a:t> </a:t>
            </a:r>
            <a:r>
              <a:rPr lang="en-US" sz="1700" dirty="0" err="1"/>
              <a:t>dengan</a:t>
            </a:r>
            <a:r>
              <a:rPr lang="en-US" sz="1700" dirty="0"/>
              <a:t> </a:t>
            </a:r>
            <a:r>
              <a:rPr lang="en-US" sz="1700" dirty="0" err="1"/>
              <a:t>baik</a:t>
            </a:r>
            <a:r>
              <a:rPr lang="en-US" sz="1700" dirty="0"/>
              <a:t>.</a:t>
            </a:r>
          </a:p>
          <a:p>
            <a:r>
              <a:rPr lang="en-US" sz="1700" dirty="0" err="1"/>
              <a:t>Kualitas</a:t>
            </a:r>
            <a:r>
              <a:rPr lang="en-US" sz="1700" dirty="0"/>
              <a:t> </a:t>
            </a:r>
            <a:r>
              <a:rPr lang="en-US" sz="1700" dirty="0" err="1"/>
              <a:t>sinyal</a:t>
            </a:r>
            <a:r>
              <a:rPr lang="en-US" sz="1700" dirty="0"/>
              <a:t> </a:t>
            </a:r>
            <a:r>
              <a:rPr lang="en-US" sz="1700" dirty="0" err="1"/>
              <a:t>modul</a:t>
            </a:r>
            <a:r>
              <a:rPr lang="en-US" sz="1700" dirty="0"/>
              <a:t> LoRa SX1276 </a:t>
            </a:r>
            <a:r>
              <a:rPr lang="en-US" sz="1700" dirty="0" err="1"/>
              <a:t>dipengaruhi</a:t>
            </a:r>
            <a:r>
              <a:rPr lang="en-US" sz="1700" dirty="0"/>
              <a:t> oleh </a:t>
            </a:r>
            <a:r>
              <a:rPr lang="en-US" sz="1700" dirty="0" err="1"/>
              <a:t>lingkungan</a:t>
            </a:r>
            <a:r>
              <a:rPr lang="en-US" sz="1700" dirty="0"/>
              <a:t> </a:t>
            </a:r>
            <a:r>
              <a:rPr lang="en-US" sz="1700" dirty="0" err="1"/>
              <a:t>tempat</a:t>
            </a:r>
            <a:r>
              <a:rPr lang="en-US" sz="1700" dirty="0"/>
              <a:t> </a:t>
            </a:r>
            <a:r>
              <a:rPr lang="en-US" sz="1700" dirty="0" err="1"/>
              <a:t>pengoperasiannya</a:t>
            </a:r>
            <a:r>
              <a:rPr lang="en-US" sz="1700" dirty="0"/>
              <a:t>. </a:t>
            </a:r>
            <a:r>
              <a:rPr lang="en-US" sz="1700" dirty="0" err="1"/>
              <a:t>Pengukuran</a:t>
            </a:r>
            <a:r>
              <a:rPr lang="en-US" sz="1700" dirty="0"/>
              <a:t> di </a:t>
            </a:r>
            <a:r>
              <a:rPr lang="en-US" sz="1700" dirty="0" err="1"/>
              <a:t>lingkungan</a:t>
            </a:r>
            <a:r>
              <a:rPr lang="en-US" sz="1700" dirty="0"/>
              <a:t> </a:t>
            </a:r>
            <a:r>
              <a:rPr lang="en-US" sz="1700" dirty="0" err="1"/>
              <a:t>Kampus</a:t>
            </a:r>
            <a:r>
              <a:rPr lang="en-US" sz="1700" dirty="0"/>
              <a:t> </a:t>
            </a:r>
            <a:r>
              <a:rPr lang="en-US" sz="1700" dirty="0" err="1"/>
              <a:t>ganesha</a:t>
            </a:r>
            <a:r>
              <a:rPr lang="en-US" sz="1700" dirty="0"/>
              <a:t> ITB yang </a:t>
            </a:r>
            <a:r>
              <a:rPr lang="en-US" sz="1700" dirty="0" err="1"/>
              <a:t>merepresentasikan</a:t>
            </a:r>
            <a:r>
              <a:rPr lang="en-US" sz="1700" dirty="0"/>
              <a:t> </a:t>
            </a:r>
            <a:r>
              <a:rPr lang="en-US" sz="1700" dirty="0" err="1"/>
              <a:t>kondisi</a:t>
            </a:r>
            <a:r>
              <a:rPr lang="en-US" sz="1700" dirty="0"/>
              <a:t> </a:t>
            </a:r>
            <a:r>
              <a:rPr lang="en-US" sz="1700" dirty="0" err="1"/>
              <a:t>pengoperasian</a:t>
            </a:r>
            <a:r>
              <a:rPr lang="en-US" sz="1700" dirty="0"/>
              <a:t> sensor node </a:t>
            </a:r>
            <a:r>
              <a:rPr lang="en-US" sz="1700" dirty="0" err="1"/>
              <a:t>mendapatkan</a:t>
            </a:r>
            <a:r>
              <a:rPr lang="en-US" sz="1700" dirty="0"/>
              <a:t> </a:t>
            </a:r>
            <a:r>
              <a:rPr lang="en-US" sz="1700" dirty="0" err="1"/>
              <a:t>jarak</a:t>
            </a:r>
            <a:r>
              <a:rPr lang="en-US" sz="1700" dirty="0"/>
              <a:t> </a:t>
            </a:r>
            <a:r>
              <a:rPr lang="en-US" sz="1700" dirty="0" err="1"/>
              <a:t>maksimum</a:t>
            </a:r>
            <a:r>
              <a:rPr lang="en-US" sz="1700" dirty="0"/>
              <a:t> </a:t>
            </a:r>
            <a:r>
              <a:rPr lang="en-US" sz="1700" dirty="0" err="1"/>
              <a:t>dari</a:t>
            </a:r>
            <a:r>
              <a:rPr lang="en-US" sz="1700" dirty="0"/>
              <a:t> </a:t>
            </a:r>
            <a:r>
              <a:rPr lang="en-US" sz="1700" dirty="0" err="1"/>
              <a:t>transmisi</a:t>
            </a:r>
            <a:r>
              <a:rPr lang="en-US" sz="1700" dirty="0"/>
              <a:t> LoRa </a:t>
            </a:r>
            <a:r>
              <a:rPr lang="en-US" sz="1700" dirty="0" err="1"/>
              <a:t>adalah</a:t>
            </a:r>
            <a:r>
              <a:rPr lang="en-US" sz="1700" dirty="0"/>
              <a:t> </a:t>
            </a:r>
            <a:r>
              <a:rPr lang="en-US" sz="1700" dirty="0" err="1"/>
              <a:t>sekitar</a:t>
            </a:r>
            <a:r>
              <a:rPr lang="en-US" sz="1700" dirty="0"/>
              <a:t> 150 m.</a:t>
            </a:r>
          </a:p>
          <a:p>
            <a:r>
              <a:rPr lang="en-US" sz="1700" dirty="0"/>
              <a:t>Hasil Analisa </a:t>
            </a:r>
            <a:r>
              <a:rPr lang="en-US" sz="1700" dirty="0" err="1"/>
              <a:t>keberpengaruhan</a:t>
            </a:r>
            <a:r>
              <a:rPr lang="en-US" sz="1700" dirty="0"/>
              <a:t> </a:t>
            </a:r>
            <a:r>
              <a:rPr lang="en-US" sz="1700" dirty="0" err="1"/>
              <a:t>menunjukkan</a:t>
            </a:r>
            <a:r>
              <a:rPr lang="en-US" sz="1700" dirty="0"/>
              <a:t> status </a:t>
            </a:r>
            <a:r>
              <a:rPr lang="en-US" sz="1700" dirty="0" err="1"/>
              <a:t>banjir</a:t>
            </a:r>
            <a:r>
              <a:rPr lang="en-US" sz="1700" dirty="0"/>
              <a:t> pada </a:t>
            </a:r>
            <a:r>
              <a:rPr lang="en-US" sz="1700" dirty="0" err="1"/>
              <a:t>Kecamatan</a:t>
            </a:r>
            <a:r>
              <a:rPr lang="en-US" sz="1700" dirty="0"/>
              <a:t> </a:t>
            </a:r>
            <a:r>
              <a:rPr lang="en-US" sz="1700" dirty="0" err="1"/>
              <a:t>Dayeuhkolot</a:t>
            </a:r>
            <a:r>
              <a:rPr lang="en-US" sz="1700" dirty="0"/>
              <a:t> </a:t>
            </a:r>
            <a:r>
              <a:rPr lang="en-US" sz="1700" dirty="0" err="1"/>
              <a:t>dipengaruhi</a:t>
            </a:r>
            <a:r>
              <a:rPr lang="en-US" sz="1700" dirty="0"/>
              <a:t> paling </a:t>
            </a:r>
            <a:r>
              <a:rPr lang="en-US" sz="1700" dirty="0" err="1"/>
              <a:t>besar</a:t>
            </a:r>
            <a:r>
              <a:rPr lang="en-US" sz="1700" dirty="0"/>
              <a:t> oleh </a:t>
            </a:r>
            <a:r>
              <a:rPr lang="en-US" sz="1700" dirty="0" err="1"/>
              <a:t>hujan</a:t>
            </a:r>
            <a:r>
              <a:rPr lang="en-US" sz="1700" dirty="0"/>
              <a:t> di </a:t>
            </a:r>
            <a:r>
              <a:rPr lang="en-US" sz="1700" dirty="0" err="1"/>
              <a:t>Lembang</a:t>
            </a:r>
            <a:r>
              <a:rPr lang="en-US" sz="1700" dirty="0"/>
              <a:t> dan Dago </a:t>
            </a:r>
            <a:r>
              <a:rPr lang="en-US" sz="1700" dirty="0" err="1"/>
              <a:t>menurut</a:t>
            </a:r>
            <a:r>
              <a:rPr lang="en-US" sz="1700" dirty="0"/>
              <a:t> </a:t>
            </a:r>
            <a:r>
              <a:rPr lang="en-US" sz="1700" dirty="0" err="1"/>
              <a:t>permodelan</a:t>
            </a:r>
            <a:r>
              <a:rPr lang="en-US" sz="1700" dirty="0"/>
              <a:t> </a:t>
            </a:r>
            <a:r>
              <a:rPr lang="en-US" sz="1700" dirty="0" err="1"/>
              <a:t>dengan</a:t>
            </a:r>
            <a:r>
              <a:rPr lang="en-US" sz="1700" dirty="0"/>
              <a:t> </a:t>
            </a:r>
            <a:r>
              <a:rPr lang="en-US" sz="1700" dirty="0" err="1"/>
              <a:t>algoritma</a:t>
            </a:r>
            <a:r>
              <a:rPr lang="en-US" sz="1700" dirty="0"/>
              <a:t> Linear Regression dan Decision tree.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A08487D-8DDB-9EBB-C074-881A2329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0C76-61B8-4F75-968B-505003DAB565}" type="slidenum">
              <a:rPr lang="en-US" smtClean="0"/>
              <a:t>34</a:t>
            </a:fld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9F639A4-C3BA-4F41-94BF-17F099072FA0}"/>
              </a:ext>
            </a:extLst>
          </p:cNvPr>
          <p:cNvSpPr/>
          <p:nvPr/>
        </p:nvSpPr>
        <p:spPr>
          <a:xfrm>
            <a:off x="7934015" y="109497"/>
            <a:ext cx="979129" cy="97912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4" name="Picture 13" descr="A blue and white logo&#10;&#10;Description automatically generated">
            <a:extLst>
              <a:ext uri="{FF2B5EF4-FFF2-40B4-BE49-F238E27FC236}">
                <a16:creationId xmlns:a16="http://schemas.microsoft.com/office/drawing/2014/main" id="{067FB05B-B338-489E-AD4A-15512E07AA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080" y="154082"/>
            <a:ext cx="889000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0242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8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9144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140040" y="-1133192"/>
            <a:ext cx="6858001" cy="9124385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1072" y="0"/>
            <a:ext cx="4572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3"/>
            <a:ext cx="9137153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784" y="4049"/>
            <a:ext cx="7662432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9249BE-CAEB-0732-A1C1-B9CDCD2B7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0019" y="1030406"/>
            <a:ext cx="6110785" cy="3081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200" b="1" dirty="0">
                <a:solidFill>
                  <a:srgbClr val="FFFFFF"/>
                </a:solidFill>
              </a:rPr>
              <a:t>SESI DISKUSI</a:t>
            </a:r>
            <a:endParaRPr lang="en-US" sz="42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286234-1F0D-6A6F-51C1-410FFE602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78240" y="6455664"/>
            <a:ext cx="33604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4CFF0C76-61B8-4F75-968B-505003DAB565}" type="slidenum">
              <a:rPr lang="en-US" sz="1000">
                <a:solidFill>
                  <a:srgbClr val="FFFFFF"/>
                </a:solidFill>
              </a:rPr>
              <a:pPr defTabSz="914400">
                <a:spcAft>
                  <a:spcPts val="600"/>
                </a:spcAft>
              </a:pPr>
              <a:t>35</a:t>
            </a:fld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F259056-BBA9-4E1D-BCF4-30174E911DE4}"/>
              </a:ext>
            </a:extLst>
          </p:cNvPr>
          <p:cNvSpPr/>
          <p:nvPr/>
        </p:nvSpPr>
        <p:spPr>
          <a:xfrm>
            <a:off x="7934015" y="109497"/>
            <a:ext cx="979129" cy="97912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5" name="Picture 14" descr="A blue and white logo&#10;&#10;Description automatically generated">
            <a:extLst>
              <a:ext uri="{FF2B5EF4-FFF2-40B4-BE49-F238E27FC236}">
                <a16:creationId xmlns:a16="http://schemas.microsoft.com/office/drawing/2014/main" id="{204EC67A-75BD-42A5-AF52-A4FC636A80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080" y="154082"/>
            <a:ext cx="889000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8376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E2E33-1246-55A7-C21F-39CA8CE95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4934F-85F4-3FCD-6700-A67281D2F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Hasil </a:t>
            </a:r>
            <a:r>
              <a:rPr lang="en-US" sz="3200" dirty="0" err="1"/>
              <a:t>Perbandingan</a:t>
            </a:r>
            <a:r>
              <a:rPr lang="en-US" sz="3200" dirty="0"/>
              <a:t> Sensor Curah </a:t>
            </a:r>
            <a:r>
              <a:rPr lang="en-US" sz="3200" dirty="0" err="1"/>
              <a:t>Hujan</a:t>
            </a:r>
            <a:endParaRPr lang="en-US" sz="320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BA6857E-9E8C-D971-86C9-54DE8013D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0C76-61B8-4F75-968B-505003DAB565}" type="slidenum">
              <a:rPr lang="en-US" smtClean="0"/>
              <a:t>36</a:t>
            </a:fld>
            <a:endParaRPr lang="en-US"/>
          </a:p>
        </p:txBody>
      </p:sp>
      <p:pic>
        <p:nvPicPr>
          <p:cNvPr id="9" name="Picture 8" descr="A blue and white logo&#10;&#10;Description automatically generated">
            <a:extLst>
              <a:ext uri="{FF2B5EF4-FFF2-40B4-BE49-F238E27FC236}">
                <a16:creationId xmlns:a16="http://schemas.microsoft.com/office/drawing/2014/main" id="{E33AD500-3A21-4035-A4AE-DCC16274F0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080" y="154082"/>
            <a:ext cx="889000" cy="889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1ED182-8580-4AAC-9A47-AF2D3A1E64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2400" y="2000378"/>
            <a:ext cx="8659198" cy="2857244"/>
          </a:xfrm>
          <a:prstGeom prst="rect">
            <a:avLst/>
          </a:prstGeom>
        </p:spPr>
      </p:pic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1070AD54-193A-45D9-8FB8-08338AD90832}"/>
              </a:ext>
            </a:extLst>
          </p:cNvPr>
          <p:cNvSpPr txBox="1">
            <a:spLocks/>
          </p:cNvSpPr>
          <p:nvPr/>
        </p:nvSpPr>
        <p:spPr>
          <a:xfrm>
            <a:off x="1204685" y="4857622"/>
            <a:ext cx="6734628" cy="459950"/>
          </a:xfrm>
          <a:prstGeom prst="rect">
            <a:avLst/>
          </a:prstGeom>
        </p:spPr>
        <p:txBody>
          <a:bodyPr vert="horz" lIns="68580" tIns="34290" rIns="68580" bIns="34290" rtlCol="0" anchor="b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sv-SE" sz="1500" dirty="0"/>
              <a:t>Gambar 21. Perbandingan jumlah tipping yang dicatat dari sensor curah hujan terhadap curah hujan yang diukur PCH sarijadi pada tanggak 16 (a), 22 (b), dan 31 (c) Mei 2025.</a:t>
            </a:r>
          </a:p>
        </p:txBody>
      </p:sp>
    </p:spTree>
    <p:extLst>
      <p:ext uri="{BB962C8B-B14F-4D97-AF65-F5344CB8AC3E}">
        <p14:creationId xmlns:p14="http://schemas.microsoft.com/office/powerpoint/2010/main" val="4530626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41AD65-0E3E-7072-B3BD-E30BD9D77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59CE83-3F66-F3FC-EE04-67CBA6482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Algoritma</a:t>
            </a:r>
            <a:r>
              <a:rPr lang="en-US" sz="32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Decision Tree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E9CBC3BE-F521-6E31-B8EC-75065CA1BD04}"/>
              </a:ext>
            </a:extLst>
          </p:cNvPr>
          <p:cNvSpPr txBox="1">
            <a:spLocks/>
          </p:cNvSpPr>
          <p:nvPr/>
        </p:nvSpPr>
        <p:spPr>
          <a:xfrm>
            <a:off x="3860643" y="6105993"/>
            <a:ext cx="4451668" cy="459950"/>
          </a:xfrm>
          <a:prstGeom prst="rect">
            <a:avLst/>
          </a:prstGeom>
        </p:spPr>
        <p:txBody>
          <a:bodyPr vert="horz" lIns="68580" tIns="34290" rIns="68580" bIns="34290" rtlCol="0" anchor="b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sv-SE" sz="1500" dirty="0"/>
              <a:t>Gambar 22. Flowchart algoritma pembelajaran Decision Tree.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D7A32301-9F1A-3324-C9A2-52C5A147F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0C76-61B8-4F75-968B-505003DAB565}" type="slidenum">
              <a:rPr lang="en-US" smtClean="0"/>
              <a:t>37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309CEA-FC7A-4554-8BA1-158E9075D6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92182" y="272326"/>
            <a:ext cx="4788584" cy="5874431"/>
          </a:xfrm>
          <a:prstGeom prst="rect">
            <a:avLst/>
          </a:prstGeom>
        </p:spPr>
      </p:pic>
      <p:pic>
        <p:nvPicPr>
          <p:cNvPr id="12" name="Picture 11" descr="A blue and white logo&#10;&#10;Description automatically generated">
            <a:extLst>
              <a:ext uri="{FF2B5EF4-FFF2-40B4-BE49-F238E27FC236}">
                <a16:creationId xmlns:a16="http://schemas.microsoft.com/office/drawing/2014/main" id="{6A5BD9C0-32B5-477F-9A53-5D4439E517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080" y="154082"/>
            <a:ext cx="889000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8857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41AD65-0E3E-7072-B3BD-E30BD9D77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59CE83-3F66-F3FC-EE04-67CBA6482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Algoritma</a:t>
            </a:r>
            <a:r>
              <a:rPr lang="en-US" sz="3200" b="1" dirty="0">
                <a:solidFill>
                  <a:srgbClr val="FFFFFF"/>
                </a:solidFill>
              </a:rPr>
              <a:t> Linear Regression</a:t>
            </a:r>
            <a:endParaRPr lang="en-US" sz="32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E9CBC3BE-F521-6E31-B8EC-75065CA1BD04}"/>
              </a:ext>
            </a:extLst>
          </p:cNvPr>
          <p:cNvSpPr txBox="1">
            <a:spLocks/>
          </p:cNvSpPr>
          <p:nvPr/>
        </p:nvSpPr>
        <p:spPr>
          <a:xfrm>
            <a:off x="3860643" y="6105993"/>
            <a:ext cx="4451668" cy="459950"/>
          </a:xfrm>
          <a:prstGeom prst="rect">
            <a:avLst/>
          </a:prstGeom>
        </p:spPr>
        <p:txBody>
          <a:bodyPr vert="horz" lIns="68580" tIns="34290" rIns="68580" bIns="34290" rtlCol="0" anchor="b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sv-SE" sz="1500" dirty="0"/>
              <a:t>Gambar 23. Flowchart algoritma pembelajaran Linear Regression.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D7A32301-9F1A-3324-C9A2-52C5A147F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0C76-61B8-4F75-968B-505003DAB565}" type="slidenum">
              <a:rPr lang="en-US" smtClean="0"/>
              <a:t>38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309CEA-FC7A-4554-8BA1-158E9075D6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8061" y="241846"/>
            <a:ext cx="3516826" cy="5874431"/>
          </a:xfrm>
          <a:prstGeom prst="rect">
            <a:avLst/>
          </a:prstGeom>
        </p:spPr>
      </p:pic>
      <p:pic>
        <p:nvPicPr>
          <p:cNvPr id="12" name="Picture 11" descr="A blue and white logo&#10;&#10;Description automatically generated">
            <a:extLst>
              <a:ext uri="{FF2B5EF4-FFF2-40B4-BE49-F238E27FC236}">
                <a16:creationId xmlns:a16="http://schemas.microsoft.com/office/drawing/2014/main" id="{6A5BD9C0-32B5-477F-9A53-5D4439E517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080" y="154082"/>
            <a:ext cx="889000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5834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6BF9F2-3AC9-105C-2457-76832CAC7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545522-C6D4-0DF7-D1DF-E2C28C6B3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406" y="2767106"/>
            <a:ext cx="2884546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Analisa </a:t>
            </a:r>
            <a:r>
              <a:rPr lang="en-US" sz="2800" b="1" dirty="0" err="1">
                <a:solidFill>
                  <a:srgbClr val="FFFFFF"/>
                </a:solidFill>
              </a:rPr>
              <a:t>Keberpengaruhan</a:t>
            </a:r>
            <a:endParaRPr lang="en-US" sz="28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6C66AC16-0481-F630-FAF9-0EED245F2B63}"/>
              </a:ext>
            </a:extLst>
          </p:cNvPr>
          <p:cNvSpPr txBox="1">
            <a:spLocks/>
          </p:cNvSpPr>
          <p:nvPr/>
        </p:nvSpPr>
        <p:spPr>
          <a:xfrm>
            <a:off x="3860643" y="5411133"/>
            <a:ext cx="4451668" cy="459950"/>
          </a:xfrm>
          <a:prstGeom prst="rect">
            <a:avLst/>
          </a:prstGeom>
        </p:spPr>
        <p:txBody>
          <a:bodyPr vert="horz" lIns="68580" tIns="34290" rIns="68580" bIns="34290" rtlCol="0" anchor="b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sv-SE" sz="1500" dirty="0"/>
              <a:t>Gambar 24. Decision tree permodelan keberpengaruhan curah hujan terhadap potensi banjir Kecamatan Dayeuhkolot.</a:t>
            </a: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C4B537A2-180C-8ECD-3321-5E58341F6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0C76-61B8-4F75-968B-505003DAB565}" type="slidenum">
              <a:rPr lang="en-US" smtClean="0"/>
              <a:t>39</a:t>
            </a:fld>
            <a:endParaRPr lang="en-US"/>
          </a:p>
        </p:txBody>
      </p:sp>
      <p:pic>
        <p:nvPicPr>
          <p:cNvPr id="12" name="Picture 11" descr="A blue and white logo&#10;&#10;Description automatically generated">
            <a:extLst>
              <a:ext uri="{FF2B5EF4-FFF2-40B4-BE49-F238E27FC236}">
                <a16:creationId xmlns:a16="http://schemas.microsoft.com/office/drawing/2014/main" id="{B9444CFE-6591-44A3-A2E9-E18CD173E6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080" y="154082"/>
            <a:ext cx="889000" cy="889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5808B29-2139-4E16-9AC9-8458091F32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14577" y="1473193"/>
            <a:ext cx="5894459" cy="3911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9063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8506B5-6D40-D364-F513-90E573C34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F843A1-D2FC-E9B8-93B6-C69C8961E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294538"/>
            <a:ext cx="6674464" cy="1033669"/>
          </a:xfrm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rgbClr val="FFFFFF"/>
                </a:solidFill>
              </a:rPr>
              <a:t>Pemrograman</a:t>
            </a:r>
            <a:r>
              <a:rPr lang="en-US" sz="3200" b="1" dirty="0">
                <a:solidFill>
                  <a:srgbClr val="FFFFFF"/>
                </a:solidFill>
              </a:rPr>
              <a:t> Sensor Node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5BFFB54-C101-BEB1-F876-81F56280C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0C76-61B8-4F75-968B-505003DAB565}" type="slidenum">
              <a:rPr lang="en-US" smtClean="0"/>
              <a:t>40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98B84E-6D9B-46D0-B22D-1C293F51EC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9219" y="1926856"/>
            <a:ext cx="8325561" cy="3714782"/>
          </a:xfrm>
          <a:prstGeom prst="rect">
            <a:avLst/>
          </a:prstGeom>
        </p:spPr>
      </p:pic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8687CCA2-0872-9CBA-5722-D3F6C57D5DB4}"/>
              </a:ext>
            </a:extLst>
          </p:cNvPr>
          <p:cNvSpPr txBox="1">
            <a:spLocks/>
          </p:cNvSpPr>
          <p:nvPr/>
        </p:nvSpPr>
        <p:spPr>
          <a:xfrm>
            <a:off x="1367695" y="5778162"/>
            <a:ext cx="6408606" cy="441665"/>
          </a:xfrm>
          <a:prstGeom prst="rect">
            <a:avLst/>
          </a:prstGeom>
        </p:spPr>
        <p:txBody>
          <a:bodyPr vert="horz" lIns="68580" tIns="34290" rIns="68580" bIns="34290" rtlCol="0" anchor="b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sv-SE" sz="1500" dirty="0"/>
              <a:t>Gambar 25. Program pengolahan data ketinggian permukaan sungai pada </a:t>
            </a:r>
            <a:r>
              <a:rPr lang="sv-SE" sz="1500" i="1" dirty="0"/>
              <a:t>sensor node </a:t>
            </a:r>
            <a:r>
              <a:rPr lang="sv-SE" sz="1500" dirty="0"/>
              <a:t>dengan Node Red.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55C664B-F79B-4CC1-A245-3B14FB06BFF7}"/>
              </a:ext>
            </a:extLst>
          </p:cNvPr>
          <p:cNvSpPr/>
          <p:nvPr/>
        </p:nvSpPr>
        <p:spPr>
          <a:xfrm>
            <a:off x="7934015" y="109497"/>
            <a:ext cx="979129" cy="97912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6" name="Picture 15" descr="A blue and white logo&#10;&#10;Description automatically generated">
            <a:extLst>
              <a:ext uri="{FF2B5EF4-FFF2-40B4-BE49-F238E27FC236}">
                <a16:creationId xmlns:a16="http://schemas.microsoft.com/office/drawing/2014/main" id="{41EB7EC8-2A46-491C-9031-0E852E7CEA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080" y="154082"/>
            <a:ext cx="889000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3234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8506B5-6D40-D364-F513-90E573C34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F843A1-D2FC-E9B8-93B6-C69C8961E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294538"/>
            <a:ext cx="6674464" cy="1033669"/>
          </a:xfrm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rgbClr val="FFFFFF"/>
                </a:solidFill>
              </a:rPr>
              <a:t>Pemrograman</a:t>
            </a:r>
            <a:r>
              <a:rPr lang="en-US" sz="3200" b="1" dirty="0">
                <a:solidFill>
                  <a:srgbClr val="FFFFFF"/>
                </a:solidFill>
              </a:rPr>
              <a:t> Sensor Node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5BFFB54-C101-BEB1-F876-81F56280C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0C76-61B8-4F75-968B-505003DAB565}" type="slidenum">
              <a:rPr lang="en-US" smtClean="0"/>
              <a:t>41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98B84E-6D9B-46D0-B22D-1C293F51EC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9219" y="1937747"/>
            <a:ext cx="8325561" cy="3692999"/>
          </a:xfrm>
          <a:prstGeom prst="rect">
            <a:avLst/>
          </a:prstGeom>
        </p:spPr>
      </p:pic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8687CCA2-0872-9CBA-5722-D3F6C57D5DB4}"/>
              </a:ext>
            </a:extLst>
          </p:cNvPr>
          <p:cNvSpPr txBox="1">
            <a:spLocks/>
          </p:cNvSpPr>
          <p:nvPr/>
        </p:nvSpPr>
        <p:spPr>
          <a:xfrm>
            <a:off x="1367695" y="5778162"/>
            <a:ext cx="6408606" cy="441665"/>
          </a:xfrm>
          <a:prstGeom prst="rect">
            <a:avLst/>
          </a:prstGeom>
        </p:spPr>
        <p:txBody>
          <a:bodyPr vert="horz" lIns="68580" tIns="34290" rIns="68580" bIns="34290" rtlCol="0" anchor="b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sv-SE" sz="1500" dirty="0"/>
              <a:t>Gambar 26. Program pengolahan data dari </a:t>
            </a:r>
            <a:r>
              <a:rPr lang="sv-SE" sz="1500" i="1" dirty="0"/>
              <a:t>sensor node </a:t>
            </a:r>
            <a:r>
              <a:rPr lang="sv-SE" sz="1500" dirty="0"/>
              <a:t>di </a:t>
            </a:r>
            <a:r>
              <a:rPr lang="sv-SE" sz="1500" i="1" dirty="0"/>
              <a:t>monitoring </a:t>
            </a:r>
            <a:r>
              <a:rPr lang="sv-SE" sz="1500" dirty="0"/>
              <a:t>station dengan Node Red.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55C664B-F79B-4CC1-A245-3B14FB06BFF7}"/>
              </a:ext>
            </a:extLst>
          </p:cNvPr>
          <p:cNvSpPr/>
          <p:nvPr/>
        </p:nvSpPr>
        <p:spPr>
          <a:xfrm>
            <a:off x="7934015" y="109497"/>
            <a:ext cx="979129" cy="97912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6" name="Picture 15" descr="A blue and white logo&#10;&#10;Description automatically generated">
            <a:extLst>
              <a:ext uri="{FF2B5EF4-FFF2-40B4-BE49-F238E27FC236}">
                <a16:creationId xmlns:a16="http://schemas.microsoft.com/office/drawing/2014/main" id="{41EB7EC8-2A46-491C-9031-0E852E7CEA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080" y="154082"/>
            <a:ext cx="889000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0448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B144A3-8D22-46B0-FD63-CB785516C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0CBC10EF-1EF7-D11A-FB72-76794FB87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3644B7-08A9-24EB-30F6-DB19DE25F9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45E4777-7ACE-4F25-2E43-82A8C149B3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0C071E-C1B3-14B3-BB91-6C9248FD06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1E04E1A-CB8C-3A18-B921-C40D908A5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39B3AA-744A-9AE3-6616-74795DBF5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6686715" cy="1033669"/>
          </a:xfrm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rgbClr val="FFFFFF"/>
                </a:solidFill>
              </a:rPr>
              <a:t>Pengukuran</a:t>
            </a:r>
            <a:r>
              <a:rPr lang="en-US" sz="3200" b="1" dirty="0">
                <a:solidFill>
                  <a:srgbClr val="FFFFFF"/>
                </a:solidFill>
              </a:rPr>
              <a:t> </a:t>
            </a:r>
            <a:r>
              <a:rPr lang="en-US" sz="3200" b="1" dirty="0" err="1">
                <a:solidFill>
                  <a:srgbClr val="FFFFFF"/>
                </a:solidFill>
              </a:rPr>
              <a:t>Ketinggian</a:t>
            </a:r>
            <a:r>
              <a:rPr lang="en-US" sz="3200" b="1" dirty="0">
                <a:solidFill>
                  <a:srgbClr val="FFFFFF"/>
                </a:solidFill>
              </a:rPr>
              <a:t> </a:t>
            </a:r>
            <a:r>
              <a:rPr lang="en-US" sz="3200" b="1" dirty="0" err="1">
                <a:solidFill>
                  <a:srgbClr val="FFFFFF"/>
                </a:solidFill>
              </a:rPr>
              <a:t>Permukaan</a:t>
            </a:r>
            <a:r>
              <a:rPr lang="en-US" sz="3200" b="1" dirty="0">
                <a:solidFill>
                  <a:srgbClr val="FFFFFF"/>
                </a:solidFill>
              </a:rPr>
              <a:t> Sungai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3542B-962A-5E7A-FA7B-3C4235F3F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1719685"/>
            <a:ext cx="7293023" cy="1976712"/>
          </a:xfrm>
        </p:spPr>
        <p:txBody>
          <a:bodyPr anchor="ctr">
            <a:normAutofit/>
          </a:bodyPr>
          <a:lstStyle/>
          <a:p>
            <a:r>
              <a:rPr lang="en-US" sz="1700" dirty="0" err="1"/>
              <a:t>Pengukuran</a:t>
            </a:r>
            <a:r>
              <a:rPr lang="en-US" sz="1700" dirty="0"/>
              <a:t> </a:t>
            </a:r>
            <a:r>
              <a:rPr lang="en-US" sz="1700" dirty="0" err="1"/>
              <a:t>ketinggian</a:t>
            </a:r>
            <a:r>
              <a:rPr lang="en-US" sz="1700" dirty="0"/>
              <a:t> </a:t>
            </a:r>
            <a:r>
              <a:rPr lang="en-US" sz="1700" dirty="0" err="1"/>
              <a:t>permukaan</a:t>
            </a:r>
            <a:r>
              <a:rPr lang="en-US" sz="1700" dirty="0"/>
              <a:t> </a:t>
            </a:r>
            <a:r>
              <a:rPr lang="en-US" sz="1700" dirty="0" err="1"/>
              <a:t>sungai</a:t>
            </a:r>
            <a:r>
              <a:rPr lang="en-US" sz="1700" dirty="0"/>
              <a:t> </a:t>
            </a:r>
            <a:r>
              <a:rPr lang="en-US" sz="1700" dirty="0" err="1"/>
              <a:t>dilakukan</a:t>
            </a:r>
            <a:r>
              <a:rPr lang="en-US" sz="1700" dirty="0"/>
              <a:t> </a:t>
            </a:r>
            <a:r>
              <a:rPr lang="en-US" sz="1700" dirty="0" err="1"/>
              <a:t>dengan</a:t>
            </a:r>
            <a:r>
              <a:rPr lang="en-US" sz="1700" dirty="0"/>
              <a:t> </a:t>
            </a:r>
            <a:r>
              <a:rPr lang="en-US" sz="1700" dirty="0" err="1"/>
              <a:t>memanfaatkan</a:t>
            </a:r>
            <a:r>
              <a:rPr lang="en-US" sz="1700" dirty="0"/>
              <a:t> </a:t>
            </a:r>
            <a:r>
              <a:rPr lang="en-US" sz="1700" i="1" dirty="0"/>
              <a:t>computer vision</a:t>
            </a:r>
            <a:r>
              <a:rPr lang="en-US" sz="1700" dirty="0"/>
              <a:t>.</a:t>
            </a:r>
          </a:p>
          <a:p>
            <a:r>
              <a:rPr lang="en-US" sz="1700" dirty="0"/>
              <a:t>Gambar </a:t>
            </a:r>
            <a:r>
              <a:rPr lang="en-US" sz="1700" dirty="0" err="1"/>
              <a:t>dari</a:t>
            </a:r>
            <a:r>
              <a:rPr lang="en-US" sz="1700" dirty="0"/>
              <a:t> </a:t>
            </a:r>
            <a:r>
              <a:rPr lang="en-US" sz="1700" i="1" dirty="0"/>
              <a:t>water level gauge</a:t>
            </a:r>
            <a:r>
              <a:rPr lang="en-US" sz="1700" dirty="0"/>
              <a:t> yang </a:t>
            </a:r>
            <a:r>
              <a:rPr lang="en-US" sz="1700" dirty="0" err="1"/>
              <a:t>diletakkan</a:t>
            </a:r>
            <a:r>
              <a:rPr lang="en-US" sz="1700" dirty="0"/>
              <a:t> di </a:t>
            </a:r>
            <a:r>
              <a:rPr lang="en-US" sz="1700" dirty="0" err="1"/>
              <a:t>sungai</a:t>
            </a:r>
            <a:r>
              <a:rPr lang="en-US" sz="1700" dirty="0"/>
              <a:t> </a:t>
            </a:r>
            <a:r>
              <a:rPr lang="en-US" sz="1700" dirty="0" err="1"/>
              <a:t>diambil</a:t>
            </a:r>
            <a:r>
              <a:rPr lang="en-US" sz="1700" dirty="0"/>
              <a:t> </a:t>
            </a:r>
            <a:r>
              <a:rPr lang="en-US" sz="1700" dirty="0" err="1"/>
              <a:t>dengan</a:t>
            </a:r>
            <a:r>
              <a:rPr lang="en-US" sz="1700" dirty="0"/>
              <a:t> BARDI IP Camera dan </a:t>
            </a:r>
            <a:r>
              <a:rPr lang="en-US" sz="1700" dirty="0" err="1"/>
              <a:t>diakses</a:t>
            </a:r>
            <a:r>
              <a:rPr lang="en-US" sz="1700" dirty="0"/>
              <a:t> </a:t>
            </a:r>
            <a:r>
              <a:rPr lang="en-US" sz="1700" dirty="0" err="1"/>
              <a:t>melalui</a:t>
            </a:r>
            <a:r>
              <a:rPr lang="en-US" sz="1700" dirty="0"/>
              <a:t> RTSP oleh program python pada Raspberry Pi.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D640121-0941-67AE-1E73-C437CDB9C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0C76-61B8-4F75-968B-505003DAB565}" type="slidenum">
              <a:rPr lang="en-US" smtClean="0"/>
              <a:t>42</a:t>
            </a:fld>
            <a:endParaRPr lang="en-US"/>
          </a:p>
        </p:txBody>
      </p:sp>
      <p:pic>
        <p:nvPicPr>
          <p:cNvPr id="5" name="Picture 4" descr="A computer vision problem type&#10;&#10;Description automatically generated">
            <a:extLst>
              <a:ext uri="{FF2B5EF4-FFF2-40B4-BE49-F238E27FC236}">
                <a16:creationId xmlns:a16="http://schemas.microsoft.com/office/drawing/2014/main" id="{54614B15-804C-FF0C-4BDD-DD687E6989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582" y="3723127"/>
            <a:ext cx="6286832" cy="236804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D68580E-32DF-F117-1BD1-9036BB8C2EF5}"/>
              </a:ext>
            </a:extLst>
          </p:cNvPr>
          <p:cNvSpPr txBox="1">
            <a:spLocks/>
          </p:cNvSpPr>
          <p:nvPr/>
        </p:nvSpPr>
        <p:spPr>
          <a:xfrm>
            <a:off x="1367695" y="5964788"/>
            <a:ext cx="6408606" cy="598674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sv-SE" sz="1500" dirty="0"/>
              <a:t>Gambar 27. Pengenalan gambar dalam </a:t>
            </a:r>
            <a:r>
              <a:rPr lang="sv-SE" sz="1500" i="1" dirty="0"/>
              <a:t>computer vision</a:t>
            </a:r>
            <a:r>
              <a:rPr lang="sv-SE" sz="1500" dirty="0"/>
              <a:t> (https://blog.roboflow.com/yolov3-vs-mobilenet-vs-faster-rcnn/).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B57DAF8-9BC0-4631-B802-EFDE416CB960}"/>
              </a:ext>
            </a:extLst>
          </p:cNvPr>
          <p:cNvSpPr/>
          <p:nvPr/>
        </p:nvSpPr>
        <p:spPr>
          <a:xfrm>
            <a:off x="7934015" y="109497"/>
            <a:ext cx="979129" cy="97912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6" name="Picture 15" descr="A blue and white logo&#10;&#10;Description automatically generated">
            <a:extLst>
              <a:ext uri="{FF2B5EF4-FFF2-40B4-BE49-F238E27FC236}">
                <a16:creationId xmlns:a16="http://schemas.microsoft.com/office/drawing/2014/main" id="{5FC4ED7E-D192-4BFB-A60D-E6F9A72421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080" y="154082"/>
            <a:ext cx="889000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8731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255A25-74AE-01E4-B865-FC135D1E1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3C88540-826F-AE8F-259E-A21D0E3B0F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2052BBA-21C4-875E-C47E-4577E79EA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404CC70-7B30-8DFC-0326-82FDED16F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45C5156-9C5B-AEF9-3C69-839FC0DD4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691BF88F-CE70-C464-88CD-CBF9CDF50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8C2AE2-8C26-0279-B310-8C4AA9100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Pengukuran</a:t>
            </a:r>
            <a:r>
              <a:rPr lang="en-US" sz="24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4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Ketinggian</a:t>
            </a:r>
            <a:r>
              <a:rPr lang="en-US" sz="24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4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Permukaan</a:t>
            </a:r>
            <a:r>
              <a:rPr lang="en-US" sz="24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Sungai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03DDFD-DBF4-76A4-7A07-AB0D42F6C5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76821" y="1835823"/>
            <a:ext cx="5419310" cy="3186353"/>
          </a:xfrm>
          <a:prstGeom prst="rect">
            <a:avLst/>
          </a:prstGeom>
        </p:spPr>
      </p:pic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F14C2804-812A-8A86-3772-F7A09835F505}"/>
              </a:ext>
            </a:extLst>
          </p:cNvPr>
          <p:cNvSpPr txBox="1">
            <a:spLocks/>
          </p:cNvSpPr>
          <p:nvPr/>
        </p:nvSpPr>
        <p:spPr>
          <a:xfrm>
            <a:off x="3860643" y="5261977"/>
            <a:ext cx="4451668" cy="459950"/>
          </a:xfrm>
          <a:prstGeom prst="rect">
            <a:avLst/>
          </a:prstGeom>
        </p:spPr>
        <p:txBody>
          <a:bodyPr vert="horz" lIns="68580" tIns="34290" rIns="68580" bIns="34290" rtlCol="0" anchor="b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sv-SE" sz="1500" dirty="0"/>
              <a:t>Gambar 28. Pengujian pengukuran ketinggian air sungai dengan memanfaatkan computer vision Roboflow.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F892B84A-8201-5639-12B4-D0662BD99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0C76-61B8-4F75-968B-505003DAB565}" type="slidenum">
              <a:rPr lang="en-US" smtClean="0"/>
              <a:t>43</a:t>
            </a:fld>
            <a:endParaRPr lang="en-US"/>
          </a:p>
        </p:txBody>
      </p:sp>
      <p:pic>
        <p:nvPicPr>
          <p:cNvPr id="12" name="Picture 11" descr="A blue and white logo&#10;&#10;Description automatically generated">
            <a:extLst>
              <a:ext uri="{FF2B5EF4-FFF2-40B4-BE49-F238E27FC236}">
                <a16:creationId xmlns:a16="http://schemas.microsoft.com/office/drawing/2014/main" id="{A03B3F22-9D47-4301-9016-583BEDDD00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080" y="154082"/>
            <a:ext cx="889000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2146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32995B-0EF5-24F9-E774-8086B1BEE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D88F7230-9649-5C0E-DE9C-AF30D6AC1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3366EB-D60B-2E9E-58EE-0A098FA8E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2BDD3D-88D6-9C8F-4BB5-92F33B528F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1BD34A-CFE8-A83F-74C5-72165A83D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BECAB4-3962-70FF-07B8-EC7D42181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7BEE40-CD9B-7883-F7F5-9B96A65A8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FFFF"/>
                </a:solidFill>
              </a:rPr>
              <a:t>LoRa Chirp Spread Spectrum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C67F4106-370B-8F0D-0128-15E4A1E2D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0C76-61B8-4F75-968B-505003DAB565}" type="slidenum">
              <a:rPr lang="en-US" smtClean="0"/>
              <a:t>44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9014E-B30F-0F6E-E994-CAF4EBE26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1789610"/>
            <a:ext cx="7293023" cy="79349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dirty="0"/>
              <a:t>LoRa radio transmission uses Chirp Spread Spectrum Modulation to transmit data.</a:t>
            </a:r>
          </a:p>
        </p:txBody>
      </p:sp>
      <p:pic>
        <p:nvPicPr>
          <p:cNvPr id="23" name="Picture 22" descr="A graph with lines and numbers&#10;&#10;Description automatically generated">
            <a:extLst>
              <a:ext uri="{FF2B5EF4-FFF2-40B4-BE49-F238E27FC236}">
                <a16:creationId xmlns:a16="http://schemas.microsoft.com/office/drawing/2014/main" id="{21660151-B5C2-A750-053D-62AD0C6C49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547" y="2599711"/>
            <a:ext cx="4980906" cy="3365077"/>
          </a:xfrm>
          <a:prstGeom prst="rect">
            <a:avLst/>
          </a:prstGeom>
        </p:spPr>
      </p:pic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F5D83C9-860E-65F4-9694-82280D87376F}"/>
              </a:ext>
            </a:extLst>
          </p:cNvPr>
          <p:cNvSpPr txBox="1">
            <a:spLocks/>
          </p:cNvSpPr>
          <p:nvPr/>
        </p:nvSpPr>
        <p:spPr>
          <a:xfrm>
            <a:off x="1367695" y="5964788"/>
            <a:ext cx="6408606" cy="598674"/>
          </a:xfrm>
          <a:prstGeom prst="rect">
            <a:avLst/>
          </a:prstGeom>
        </p:spPr>
        <p:txBody>
          <a:bodyPr vert="horz" lIns="68580" tIns="34290" rIns="68580" bIns="34290" rtlCol="0" anchor="b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sv-SE" sz="1500" dirty="0"/>
              <a:t>Gambar 29. Modulasi Chirp Spread Spectrum pada LoRa (Gkotsiopoulos, P., Zorbas, D., &amp; Douligeris, C. (2021). Performance determinants in LoRa networks: A literature review. IEEE Communications Surveys &amp; Tutorials, 23(3), 1721-1758. ).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C5AC288-900A-462F-86F6-38398924D03D}"/>
              </a:ext>
            </a:extLst>
          </p:cNvPr>
          <p:cNvSpPr/>
          <p:nvPr/>
        </p:nvSpPr>
        <p:spPr>
          <a:xfrm>
            <a:off x="7934015" y="109497"/>
            <a:ext cx="979129" cy="97912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6" name="Picture 15" descr="A blue and white logo&#10;&#10;Description automatically generated">
            <a:extLst>
              <a:ext uri="{FF2B5EF4-FFF2-40B4-BE49-F238E27FC236}">
                <a16:creationId xmlns:a16="http://schemas.microsoft.com/office/drawing/2014/main" id="{DDDAC83D-139A-4728-9304-D96973A8F9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080" y="154082"/>
            <a:ext cx="889000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7424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610F4B-AC6D-B9CE-B6AD-18DD7E56C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2DC4A386-393B-CBEC-1D09-F2234D6687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979BE99-646E-F90A-AB13-9C48CA57A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8B9CBB-5076-802C-414C-8DC13F1A54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811FE00-DF41-41BD-BB3F-D3D19FC98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8819335-5B10-9F03-52F4-091F68968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3D6599-4D4B-8EE9-F813-C3C905409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FFFF"/>
                </a:solidFill>
              </a:rPr>
              <a:t>LoRa Chirp Spread Spectrum</a:t>
            </a:r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E7414FB-C98D-16BC-2498-CD38AFC9D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0C76-61B8-4F75-968B-505003DAB565}" type="slidenum">
              <a:rPr lang="en-US" smtClean="0"/>
              <a:t>45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3CC4D-F39A-E578-4926-946190A73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dirty="0"/>
              <a:t>Parameter </a:t>
            </a:r>
            <a:r>
              <a:rPr lang="en-US" sz="1700" dirty="0" err="1"/>
              <a:t>transmisi</a:t>
            </a:r>
            <a:r>
              <a:rPr lang="en-US" sz="1700" dirty="0"/>
              <a:t> LoRa:</a:t>
            </a:r>
          </a:p>
          <a:p>
            <a:r>
              <a:rPr lang="en-US" sz="1700" dirty="0"/>
              <a:t>Carrier Frequency – </a:t>
            </a:r>
            <a:r>
              <a:rPr lang="en-US" sz="1700" dirty="0" err="1"/>
              <a:t>diatur</a:t>
            </a:r>
            <a:r>
              <a:rPr lang="en-US" sz="1700" dirty="0"/>
              <a:t> pada 920MHz</a:t>
            </a:r>
          </a:p>
          <a:p>
            <a:r>
              <a:rPr lang="en-US" sz="1700" dirty="0"/>
              <a:t>Bandwidth – </a:t>
            </a:r>
            <a:r>
              <a:rPr lang="en-US" sz="1700" dirty="0" err="1"/>
              <a:t>diatur</a:t>
            </a:r>
            <a:r>
              <a:rPr lang="en-US" sz="1700" dirty="0"/>
              <a:t> pada 125KHz</a:t>
            </a:r>
          </a:p>
          <a:p>
            <a:r>
              <a:rPr lang="en-US" sz="1700" dirty="0"/>
              <a:t>Spreading Factor – </a:t>
            </a:r>
            <a:r>
              <a:rPr lang="en-US" sz="1700" dirty="0" err="1"/>
              <a:t>laju</a:t>
            </a:r>
            <a:r>
              <a:rPr lang="en-US" sz="1700" dirty="0"/>
              <a:t> chirp</a:t>
            </a:r>
          </a:p>
          <a:p>
            <a:r>
              <a:rPr lang="en-US" sz="1700" dirty="0"/>
              <a:t>Coding Rate – </a:t>
            </a:r>
            <a:r>
              <a:rPr lang="en-US" sz="1700" dirty="0" err="1"/>
              <a:t>rasio</a:t>
            </a:r>
            <a:r>
              <a:rPr lang="en-US" sz="1700" dirty="0"/>
              <a:t> </a:t>
            </a:r>
            <a:r>
              <a:rPr lang="en-US" sz="1700" dirty="0" err="1"/>
              <a:t>jumlah</a:t>
            </a:r>
            <a:r>
              <a:rPr lang="en-US" sz="1700" dirty="0"/>
              <a:t> bit data </a:t>
            </a:r>
            <a:r>
              <a:rPr lang="en-US" sz="1700" dirty="0" err="1"/>
              <a:t>asli</a:t>
            </a:r>
            <a:r>
              <a:rPr lang="en-US" sz="1700" dirty="0"/>
              <a:t> </a:t>
            </a:r>
            <a:r>
              <a:rPr lang="en-US" sz="1700" dirty="0" err="1"/>
              <a:t>terhadap</a:t>
            </a:r>
            <a:r>
              <a:rPr lang="en-US" sz="1700" dirty="0"/>
              <a:t> </a:t>
            </a:r>
            <a:r>
              <a:rPr lang="en-US" sz="1700" dirty="0" err="1"/>
              <a:t>jumlah</a:t>
            </a:r>
            <a:r>
              <a:rPr lang="en-US" sz="1700" dirty="0"/>
              <a:t> bit data yang </a:t>
            </a:r>
            <a:r>
              <a:rPr lang="en-US" sz="1700" dirty="0" err="1"/>
              <a:t>ditransmisikan</a:t>
            </a:r>
            <a:endParaRPr lang="en-US" sz="17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C81738-3B5E-28D4-A1F1-15583E45348D}"/>
              </a:ext>
            </a:extLst>
          </p:cNvPr>
          <p:cNvSpPr/>
          <p:nvPr/>
        </p:nvSpPr>
        <p:spPr>
          <a:xfrm>
            <a:off x="1028699" y="4217158"/>
            <a:ext cx="6950381" cy="1091821"/>
          </a:xfrm>
          <a:custGeom>
            <a:avLst/>
            <a:gdLst>
              <a:gd name="connsiteX0" fmla="*/ 0 w 6950381"/>
              <a:gd name="connsiteY0" fmla="*/ 0 h 1091821"/>
              <a:gd name="connsiteX1" fmla="*/ 834046 w 6950381"/>
              <a:gd name="connsiteY1" fmla="*/ 0 h 1091821"/>
              <a:gd name="connsiteX2" fmla="*/ 1598588 w 6950381"/>
              <a:gd name="connsiteY2" fmla="*/ 0 h 1091821"/>
              <a:gd name="connsiteX3" fmla="*/ 2432633 w 6950381"/>
              <a:gd name="connsiteY3" fmla="*/ 0 h 1091821"/>
              <a:gd name="connsiteX4" fmla="*/ 2988664 w 6950381"/>
              <a:gd name="connsiteY4" fmla="*/ 0 h 1091821"/>
              <a:gd name="connsiteX5" fmla="*/ 3544694 w 6950381"/>
              <a:gd name="connsiteY5" fmla="*/ 0 h 1091821"/>
              <a:gd name="connsiteX6" fmla="*/ 4031221 w 6950381"/>
              <a:gd name="connsiteY6" fmla="*/ 0 h 1091821"/>
              <a:gd name="connsiteX7" fmla="*/ 4726259 w 6950381"/>
              <a:gd name="connsiteY7" fmla="*/ 0 h 1091821"/>
              <a:gd name="connsiteX8" fmla="*/ 5421297 w 6950381"/>
              <a:gd name="connsiteY8" fmla="*/ 0 h 1091821"/>
              <a:gd name="connsiteX9" fmla="*/ 6046831 w 6950381"/>
              <a:gd name="connsiteY9" fmla="*/ 0 h 1091821"/>
              <a:gd name="connsiteX10" fmla="*/ 6950381 w 6950381"/>
              <a:gd name="connsiteY10" fmla="*/ 0 h 1091821"/>
              <a:gd name="connsiteX11" fmla="*/ 6950381 w 6950381"/>
              <a:gd name="connsiteY11" fmla="*/ 567747 h 1091821"/>
              <a:gd name="connsiteX12" fmla="*/ 6950381 w 6950381"/>
              <a:gd name="connsiteY12" fmla="*/ 1091821 h 1091821"/>
              <a:gd name="connsiteX13" fmla="*/ 6394351 w 6950381"/>
              <a:gd name="connsiteY13" fmla="*/ 1091821 h 1091821"/>
              <a:gd name="connsiteX14" fmla="*/ 5560305 w 6950381"/>
              <a:gd name="connsiteY14" fmla="*/ 1091821 h 1091821"/>
              <a:gd name="connsiteX15" fmla="*/ 5004274 w 6950381"/>
              <a:gd name="connsiteY15" fmla="*/ 1091821 h 1091821"/>
              <a:gd name="connsiteX16" fmla="*/ 4309236 w 6950381"/>
              <a:gd name="connsiteY16" fmla="*/ 1091821 h 1091821"/>
              <a:gd name="connsiteX17" fmla="*/ 3822710 w 6950381"/>
              <a:gd name="connsiteY17" fmla="*/ 1091821 h 1091821"/>
              <a:gd name="connsiteX18" fmla="*/ 3266679 w 6950381"/>
              <a:gd name="connsiteY18" fmla="*/ 1091821 h 1091821"/>
              <a:gd name="connsiteX19" fmla="*/ 2780152 w 6950381"/>
              <a:gd name="connsiteY19" fmla="*/ 1091821 h 1091821"/>
              <a:gd name="connsiteX20" fmla="*/ 2085114 w 6950381"/>
              <a:gd name="connsiteY20" fmla="*/ 1091821 h 1091821"/>
              <a:gd name="connsiteX21" fmla="*/ 1320572 w 6950381"/>
              <a:gd name="connsiteY21" fmla="*/ 1091821 h 1091821"/>
              <a:gd name="connsiteX22" fmla="*/ 0 w 6950381"/>
              <a:gd name="connsiteY22" fmla="*/ 1091821 h 1091821"/>
              <a:gd name="connsiteX23" fmla="*/ 0 w 6950381"/>
              <a:gd name="connsiteY23" fmla="*/ 567747 h 1091821"/>
              <a:gd name="connsiteX24" fmla="*/ 0 w 6950381"/>
              <a:gd name="connsiteY24" fmla="*/ 0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6950381" h="1091821" extrusionOk="0">
                <a:moveTo>
                  <a:pt x="0" y="0"/>
                </a:moveTo>
                <a:cubicBezTo>
                  <a:pt x="324964" y="16427"/>
                  <a:pt x="652799" y="-19248"/>
                  <a:pt x="834046" y="0"/>
                </a:cubicBezTo>
                <a:cubicBezTo>
                  <a:pt x="1015293" y="19248"/>
                  <a:pt x="1363180" y="3732"/>
                  <a:pt x="1598588" y="0"/>
                </a:cubicBezTo>
                <a:cubicBezTo>
                  <a:pt x="1833996" y="-3732"/>
                  <a:pt x="2226983" y="-10324"/>
                  <a:pt x="2432633" y="0"/>
                </a:cubicBezTo>
                <a:cubicBezTo>
                  <a:pt x="2638283" y="10324"/>
                  <a:pt x="2874213" y="2379"/>
                  <a:pt x="2988664" y="0"/>
                </a:cubicBezTo>
                <a:cubicBezTo>
                  <a:pt x="3103115" y="-2379"/>
                  <a:pt x="3274713" y="-2531"/>
                  <a:pt x="3544694" y="0"/>
                </a:cubicBezTo>
                <a:cubicBezTo>
                  <a:pt x="3814675" y="2531"/>
                  <a:pt x="3861623" y="-10729"/>
                  <a:pt x="4031221" y="0"/>
                </a:cubicBezTo>
                <a:cubicBezTo>
                  <a:pt x="4200819" y="10729"/>
                  <a:pt x="4570877" y="-8406"/>
                  <a:pt x="4726259" y="0"/>
                </a:cubicBezTo>
                <a:cubicBezTo>
                  <a:pt x="4881641" y="8406"/>
                  <a:pt x="5144795" y="-11155"/>
                  <a:pt x="5421297" y="0"/>
                </a:cubicBezTo>
                <a:cubicBezTo>
                  <a:pt x="5697799" y="11155"/>
                  <a:pt x="5901944" y="2664"/>
                  <a:pt x="6046831" y="0"/>
                </a:cubicBezTo>
                <a:cubicBezTo>
                  <a:pt x="6191718" y="-2664"/>
                  <a:pt x="6673288" y="-5217"/>
                  <a:pt x="6950381" y="0"/>
                </a:cubicBezTo>
                <a:cubicBezTo>
                  <a:pt x="6959312" y="232500"/>
                  <a:pt x="6942463" y="387507"/>
                  <a:pt x="6950381" y="567747"/>
                </a:cubicBezTo>
                <a:cubicBezTo>
                  <a:pt x="6958299" y="747987"/>
                  <a:pt x="6933638" y="843186"/>
                  <a:pt x="6950381" y="1091821"/>
                </a:cubicBezTo>
                <a:cubicBezTo>
                  <a:pt x="6699236" y="1066233"/>
                  <a:pt x="6631156" y="1067629"/>
                  <a:pt x="6394351" y="1091821"/>
                </a:cubicBezTo>
                <a:cubicBezTo>
                  <a:pt x="6157546" y="1116014"/>
                  <a:pt x="5904640" y="1124448"/>
                  <a:pt x="5560305" y="1091821"/>
                </a:cubicBezTo>
                <a:cubicBezTo>
                  <a:pt x="5215970" y="1059194"/>
                  <a:pt x="5124883" y="1115532"/>
                  <a:pt x="5004274" y="1091821"/>
                </a:cubicBezTo>
                <a:cubicBezTo>
                  <a:pt x="4883665" y="1068110"/>
                  <a:pt x="4633888" y="1071160"/>
                  <a:pt x="4309236" y="1091821"/>
                </a:cubicBezTo>
                <a:cubicBezTo>
                  <a:pt x="3984584" y="1112482"/>
                  <a:pt x="3971596" y="1115991"/>
                  <a:pt x="3822710" y="1091821"/>
                </a:cubicBezTo>
                <a:cubicBezTo>
                  <a:pt x="3673824" y="1067651"/>
                  <a:pt x="3542526" y="1085079"/>
                  <a:pt x="3266679" y="1091821"/>
                </a:cubicBezTo>
                <a:cubicBezTo>
                  <a:pt x="2990832" y="1098563"/>
                  <a:pt x="3015389" y="1090805"/>
                  <a:pt x="2780152" y="1091821"/>
                </a:cubicBezTo>
                <a:cubicBezTo>
                  <a:pt x="2544915" y="1092837"/>
                  <a:pt x="2339312" y="1111755"/>
                  <a:pt x="2085114" y="1091821"/>
                </a:cubicBezTo>
                <a:cubicBezTo>
                  <a:pt x="1830916" y="1071887"/>
                  <a:pt x="1558856" y="1057753"/>
                  <a:pt x="1320572" y="1091821"/>
                </a:cubicBezTo>
                <a:cubicBezTo>
                  <a:pt x="1082288" y="1125889"/>
                  <a:pt x="400537" y="1110730"/>
                  <a:pt x="0" y="1091821"/>
                </a:cubicBezTo>
                <a:cubicBezTo>
                  <a:pt x="19477" y="908692"/>
                  <a:pt x="-21065" y="815418"/>
                  <a:pt x="0" y="567747"/>
                </a:cubicBezTo>
                <a:cubicBezTo>
                  <a:pt x="21065" y="320076"/>
                  <a:pt x="-21858" y="140510"/>
                  <a:pt x="0" y="0"/>
                </a:cubicBezTo>
                <a:close/>
              </a:path>
            </a:pathLst>
          </a:custGeom>
          <a:noFill/>
          <a:ln w="3810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944516960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E00100-5638-F1C9-7C4D-8885B1AD7A72}"/>
              </a:ext>
            </a:extLst>
          </p:cNvPr>
          <p:cNvSpPr txBox="1"/>
          <p:nvPr/>
        </p:nvSpPr>
        <p:spPr>
          <a:xfrm>
            <a:off x="2045637" y="5668475"/>
            <a:ext cx="3418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Parameter yang </a:t>
            </a:r>
            <a:r>
              <a:rPr lang="en-US" b="1" dirty="0" err="1"/>
              <a:t>dapat</a:t>
            </a:r>
            <a:r>
              <a:rPr lang="en-US" b="1" dirty="0"/>
              <a:t> </a:t>
            </a:r>
            <a:r>
              <a:rPr lang="en-US" b="1" dirty="0" err="1"/>
              <a:t>dioptimasi</a:t>
            </a:r>
            <a:r>
              <a:rPr lang="en-US" b="1" dirty="0"/>
              <a:t>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EC94D9F-B76C-4DBE-84B7-928F51CA5793}"/>
              </a:ext>
            </a:extLst>
          </p:cNvPr>
          <p:cNvSpPr/>
          <p:nvPr/>
        </p:nvSpPr>
        <p:spPr>
          <a:xfrm>
            <a:off x="7934015" y="109497"/>
            <a:ext cx="979129" cy="97912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9" name="Picture 18" descr="A blue and white logo&#10;&#10;Description automatically generated">
            <a:extLst>
              <a:ext uri="{FF2B5EF4-FFF2-40B4-BE49-F238E27FC236}">
                <a16:creationId xmlns:a16="http://schemas.microsoft.com/office/drawing/2014/main" id="{CC719396-4A71-4A35-8867-C00C091025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080" y="154082"/>
            <a:ext cx="889000" cy="889000"/>
          </a:xfrm>
          <a:prstGeom prst="rect">
            <a:avLst/>
          </a:prstGeom>
        </p:spPr>
      </p:pic>
      <p:sp>
        <p:nvSpPr>
          <p:cNvPr id="4" name="Arrow: Bent 3">
            <a:extLst>
              <a:ext uri="{FF2B5EF4-FFF2-40B4-BE49-F238E27FC236}">
                <a16:creationId xmlns:a16="http://schemas.microsoft.com/office/drawing/2014/main" id="{5BC10EE4-BEFA-4CC9-B59C-A8392CDF5248}"/>
              </a:ext>
            </a:extLst>
          </p:cNvPr>
          <p:cNvSpPr/>
          <p:nvPr/>
        </p:nvSpPr>
        <p:spPr>
          <a:xfrm rot="10800000" flipH="1">
            <a:off x="1320420" y="5252408"/>
            <a:ext cx="662153" cy="805718"/>
          </a:xfrm>
          <a:custGeom>
            <a:avLst/>
            <a:gdLst>
              <a:gd name="connsiteX0" fmla="*/ 0 w 662153"/>
              <a:gd name="connsiteY0" fmla="*/ 805718 h 805718"/>
              <a:gd name="connsiteX1" fmla="*/ 0 w 662153"/>
              <a:gd name="connsiteY1" fmla="*/ 372461 h 805718"/>
              <a:gd name="connsiteX2" fmla="*/ 289692 w 662153"/>
              <a:gd name="connsiteY2" fmla="*/ 82769 h 805718"/>
              <a:gd name="connsiteX3" fmla="*/ 496615 w 662153"/>
              <a:gd name="connsiteY3" fmla="*/ 82769 h 805718"/>
              <a:gd name="connsiteX4" fmla="*/ 496615 w 662153"/>
              <a:gd name="connsiteY4" fmla="*/ 0 h 805718"/>
              <a:gd name="connsiteX5" fmla="*/ 662153 w 662153"/>
              <a:gd name="connsiteY5" fmla="*/ 165538 h 805718"/>
              <a:gd name="connsiteX6" fmla="*/ 496615 w 662153"/>
              <a:gd name="connsiteY6" fmla="*/ 331077 h 805718"/>
              <a:gd name="connsiteX7" fmla="*/ 496615 w 662153"/>
              <a:gd name="connsiteY7" fmla="*/ 248307 h 805718"/>
              <a:gd name="connsiteX8" fmla="*/ 289692 w 662153"/>
              <a:gd name="connsiteY8" fmla="*/ 248307 h 805718"/>
              <a:gd name="connsiteX9" fmla="*/ 165538 w 662153"/>
              <a:gd name="connsiteY9" fmla="*/ 372461 h 805718"/>
              <a:gd name="connsiteX10" fmla="*/ 165538 w 662153"/>
              <a:gd name="connsiteY10" fmla="*/ 805718 h 805718"/>
              <a:gd name="connsiteX11" fmla="*/ 0 w 662153"/>
              <a:gd name="connsiteY11" fmla="*/ 805718 h 805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62153" h="805718" fill="none" extrusionOk="0">
                <a:moveTo>
                  <a:pt x="0" y="805718"/>
                </a:moveTo>
                <a:cubicBezTo>
                  <a:pt x="-20690" y="657504"/>
                  <a:pt x="6442" y="531349"/>
                  <a:pt x="0" y="372461"/>
                </a:cubicBezTo>
                <a:cubicBezTo>
                  <a:pt x="-10039" y="242972"/>
                  <a:pt x="142034" y="88880"/>
                  <a:pt x="289692" y="82769"/>
                </a:cubicBezTo>
                <a:cubicBezTo>
                  <a:pt x="382675" y="91031"/>
                  <a:pt x="404328" y="91648"/>
                  <a:pt x="496615" y="82769"/>
                </a:cubicBezTo>
                <a:cubicBezTo>
                  <a:pt x="496242" y="62153"/>
                  <a:pt x="494805" y="16798"/>
                  <a:pt x="496615" y="0"/>
                </a:cubicBezTo>
                <a:cubicBezTo>
                  <a:pt x="571113" y="78729"/>
                  <a:pt x="603099" y="112083"/>
                  <a:pt x="662153" y="165538"/>
                </a:cubicBezTo>
                <a:cubicBezTo>
                  <a:pt x="617976" y="216353"/>
                  <a:pt x="564251" y="279769"/>
                  <a:pt x="496615" y="331077"/>
                </a:cubicBezTo>
                <a:cubicBezTo>
                  <a:pt x="494911" y="290459"/>
                  <a:pt x="498660" y="270192"/>
                  <a:pt x="496615" y="248307"/>
                </a:cubicBezTo>
                <a:cubicBezTo>
                  <a:pt x="448590" y="254046"/>
                  <a:pt x="336351" y="246841"/>
                  <a:pt x="289692" y="248307"/>
                </a:cubicBezTo>
                <a:cubicBezTo>
                  <a:pt x="221799" y="245393"/>
                  <a:pt x="166446" y="301099"/>
                  <a:pt x="165538" y="372461"/>
                </a:cubicBezTo>
                <a:cubicBezTo>
                  <a:pt x="181568" y="537293"/>
                  <a:pt x="167142" y="693627"/>
                  <a:pt x="165538" y="805718"/>
                </a:cubicBezTo>
                <a:cubicBezTo>
                  <a:pt x="106550" y="813712"/>
                  <a:pt x="37866" y="804680"/>
                  <a:pt x="0" y="805718"/>
                </a:cubicBezTo>
                <a:close/>
              </a:path>
              <a:path w="662153" h="805718" stroke="0" extrusionOk="0">
                <a:moveTo>
                  <a:pt x="0" y="805718"/>
                </a:moveTo>
                <a:cubicBezTo>
                  <a:pt x="-8551" y="675704"/>
                  <a:pt x="9059" y="579965"/>
                  <a:pt x="0" y="372461"/>
                </a:cubicBezTo>
                <a:cubicBezTo>
                  <a:pt x="-9593" y="215507"/>
                  <a:pt x="137601" y="44899"/>
                  <a:pt x="289692" y="82769"/>
                </a:cubicBezTo>
                <a:cubicBezTo>
                  <a:pt x="363308" y="82288"/>
                  <a:pt x="439747" y="87013"/>
                  <a:pt x="496615" y="82769"/>
                </a:cubicBezTo>
                <a:cubicBezTo>
                  <a:pt x="498577" y="46578"/>
                  <a:pt x="496603" y="33234"/>
                  <a:pt x="496615" y="0"/>
                </a:cubicBezTo>
                <a:cubicBezTo>
                  <a:pt x="553480" y="41443"/>
                  <a:pt x="581839" y="87717"/>
                  <a:pt x="662153" y="165538"/>
                </a:cubicBezTo>
                <a:cubicBezTo>
                  <a:pt x="592787" y="229609"/>
                  <a:pt x="569164" y="261182"/>
                  <a:pt x="496615" y="331077"/>
                </a:cubicBezTo>
                <a:cubicBezTo>
                  <a:pt x="499664" y="291988"/>
                  <a:pt x="499806" y="273147"/>
                  <a:pt x="496615" y="248307"/>
                </a:cubicBezTo>
                <a:cubicBezTo>
                  <a:pt x="393214" y="238626"/>
                  <a:pt x="365644" y="253260"/>
                  <a:pt x="289692" y="248307"/>
                </a:cubicBezTo>
                <a:cubicBezTo>
                  <a:pt x="220032" y="265105"/>
                  <a:pt x="166455" y="299845"/>
                  <a:pt x="165538" y="372461"/>
                </a:cubicBezTo>
                <a:cubicBezTo>
                  <a:pt x="166414" y="552827"/>
                  <a:pt x="151039" y="659926"/>
                  <a:pt x="165538" y="805718"/>
                </a:cubicBezTo>
                <a:cubicBezTo>
                  <a:pt x="83363" y="807881"/>
                  <a:pt x="38501" y="807377"/>
                  <a:pt x="0" y="805718"/>
                </a:cubicBezTo>
                <a:close/>
              </a:path>
            </a:pathLst>
          </a:custGeom>
          <a:solidFill>
            <a:srgbClr val="FF0000"/>
          </a:solidFill>
          <a:ln w="57150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4010095756">
                  <a:prstGeom prst="bentArrow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8311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1" grpId="0"/>
      <p:bldP spid="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F037B1-D584-D93E-2FD8-8A5B12D60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171DEED2-8958-9C8C-5E18-1E973B3BD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C41E0E-4913-4D6B-EA9C-1F4914FA14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017D69-D7D6-C1FD-FA96-017D8F622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5808E9-D79D-E660-4976-C34AA4D89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C0ED3A2-55A4-3602-BE91-CFC88019B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9A0981-347F-0592-382D-103388EC3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FFFF"/>
                </a:solidFill>
              </a:rPr>
              <a:t>Panel Surya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09C36-B9BB-AA84-45EB-456C35338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1891970"/>
            <a:ext cx="7293023" cy="1597433"/>
          </a:xfrm>
        </p:spPr>
        <p:txBody>
          <a:bodyPr anchor="ctr">
            <a:normAutofit/>
          </a:bodyPr>
          <a:lstStyle/>
          <a:p>
            <a:r>
              <a:rPr lang="en-US" sz="1700" dirty="0"/>
              <a:t>Panel </a:t>
            </a:r>
            <a:r>
              <a:rPr lang="en-US" sz="1700" dirty="0" err="1"/>
              <a:t>surya</a:t>
            </a:r>
            <a:r>
              <a:rPr lang="en-US" sz="1700" dirty="0"/>
              <a:t> </a:t>
            </a:r>
            <a:r>
              <a:rPr lang="en-US" sz="1700" dirty="0" err="1"/>
              <a:t>memanfaatkan</a:t>
            </a:r>
            <a:r>
              <a:rPr lang="en-US" sz="1700" dirty="0"/>
              <a:t> </a:t>
            </a:r>
            <a:r>
              <a:rPr lang="en-US" sz="1700" dirty="0" err="1"/>
              <a:t>efek</a:t>
            </a:r>
            <a:r>
              <a:rPr lang="en-US" sz="1700" dirty="0"/>
              <a:t> </a:t>
            </a:r>
            <a:r>
              <a:rPr lang="en-US" sz="1700" dirty="0" err="1"/>
              <a:t>fotolistrik</a:t>
            </a:r>
            <a:r>
              <a:rPr lang="en-US" sz="1700" dirty="0"/>
              <a:t> </a:t>
            </a:r>
            <a:r>
              <a:rPr lang="en-US" sz="1700" dirty="0" err="1"/>
              <a:t>untuk</a:t>
            </a:r>
            <a:r>
              <a:rPr lang="en-US" sz="1700" dirty="0"/>
              <a:t> </a:t>
            </a:r>
            <a:r>
              <a:rPr lang="en-US" sz="1700" dirty="0" err="1"/>
              <a:t>menghasilkan</a:t>
            </a:r>
            <a:r>
              <a:rPr lang="en-US" sz="1700" dirty="0"/>
              <a:t> </a:t>
            </a:r>
            <a:r>
              <a:rPr lang="en-US" sz="1700" dirty="0" err="1"/>
              <a:t>daya</a:t>
            </a:r>
            <a:r>
              <a:rPr lang="en-US" sz="1700" dirty="0"/>
              <a:t> </a:t>
            </a:r>
            <a:r>
              <a:rPr lang="en-US" sz="1700" dirty="0" err="1"/>
              <a:t>listrik</a:t>
            </a:r>
            <a:r>
              <a:rPr lang="en-US" sz="1700" dirty="0"/>
              <a:t> </a:t>
            </a:r>
            <a:r>
              <a:rPr lang="en-US" sz="1700" dirty="0" err="1"/>
              <a:t>dari</a:t>
            </a:r>
            <a:r>
              <a:rPr lang="en-US" sz="1700" dirty="0"/>
              <a:t> </a:t>
            </a:r>
            <a:r>
              <a:rPr lang="en-US" sz="1700" dirty="0" err="1"/>
              <a:t>cahaya</a:t>
            </a:r>
            <a:r>
              <a:rPr lang="en-US" sz="1700" dirty="0"/>
              <a:t> </a:t>
            </a:r>
            <a:r>
              <a:rPr lang="en-US" sz="1700" dirty="0" err="1"/>
              <a:t>matahari</a:t>
            </a:r>
            <a:r>
              <a:rPr lang="en-US" sz="1700" dirty="0"/>
              <a:t>.</a:t>
            </a:r>
          </a:p>
          <a:p>
            <a:r>
              <a:rPr lang="en-US" sz="1700" i="1" dirty="0"/>
              <a:t>Solar charge controller</a:t>
            </a:r>
            <a:r>
              <a:rPr lang="en-US" sz="1700" dirty="0"/>
              <a:t> PWM </a:t>
            </a:r>
            <a:r>
              <a:rPr lang="en-US" sz="1700" dirty="0" err="1"/>
              <a:t>mengatur</a:t>
            </a:r>
            <a:r>
              <a:rPr lang="en-US" sz="1700" dirty="0"/>
              <a:t> </a:t>
            </a:r>
            <a:r>
              <a:rPr lang="en-US" sz="1700" dirty="0" err="1"/>
              <a:t>pengisian</a:t>
            </a:r>
            <a:r>
              <a:rPr lang="en-US" sz="1700" dirty="0"/>
              <a:t> </a:t>
            </a:r>
            <a:r>
              <a:rPr lang="en-US" sz="1700" dirty="0" err="1"/>
              <a:t>daya</a:t>
            </a:r>
            <a:r>
              <a:rPr lang="en-US" sz="1700" dirty="0"/>
              <a:t> yang </a:t>
            </a:r>
            <a:r>
              <a:rPr lang="en-US" sz="1700" dirty="0" err="1"/>
              <a:t>dihasilkan</a:t>
            </a:r>
            <a:r>
              <a:rPr lang="en-US" sz="1700" dirty="0"/>
              <a:t> </a:t>
            </a:r>
            <a:r>
              <a:rPr lang="en-US" sz="1700" dirty="0" err="1"/>
              <a:t>ke</a:t>
            </a:r>
            <a:r>
              <a:rPr lang="en-US" sz="1700" dirty="0"/>
              <a:t> </a:t>
            </a:r>
            <a:r>
              <a:rPr lang="en-US" sz="1700" dirty="0" err="1"/>
              <a:t>baterai</a:t>
            </a:r>
            <a:r>
              <a:rPr lang="en-US" sz="1700" dirty="0"/>
              <a:t> </a:t>
            </a:r>
            <a:r>
              <a:rPr lang="en-US" sz="1700" i="1" dirty="0"/>
              <a:t>lead-acid</a:t>
            </a:r>
            <a:r>
              <a:rPr lang="en-US" sz="1700" dirty="0"/>
              <a:t>.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AE6E86C-9FEB-7F7A-35B3-4C1397A51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0C76-61B8-4F75-968B-505003DAB565}" type="slidenum">
              <a:rPr lang="en-US" smtClean="0"/>
              <a:t>46</a:t>
            </a:fld>
            <a:endParaRPr lang="en-US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838758F5-CC66-A4E7-BB03-BCB93C27D9ED}"/>
              </a:ext>
            </a:extLst>
          </p:cNvPr>
          <p:cNvSpPr txBox="1">
            <a:spLocks/>
          </p:cNvSpPr>
          <p:nvPr/>
        </p:nvSpPr>
        <p:spPr>
          <a:xfrm>
            <a:off x="1367695" y="5647998"/>
            <a:ext cx="6408606" cy="598674"/>
          </a:xfrm>
          <a:prstGeom prst="rect">
            <a:avLst/>
          </a:prstGeom>
        </p:spPr>
        <p:txBody>
          <a:bodyPr vert="horz" lIns="68580" tIns="34290" rIns="68580" bIns="34290" rtlCol="0" anchor="b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sv-SE" sz="1500" dirty="0"/>
              <a:t>Gambar 30. Ilustrasi bahan semikonduktor yang menghasilkan arus listrik pada panel surya (</a:t>
            </a:r>
            <a:r>
              <a:rPr lang="en-US" sz="1500" dirty="0"/>
              <a:t>West, M. (1993). Solar Energy Basics--and More. University of Florida, Florida Cooperative Extension Service</a:t>
            </a:r>
            <a:r>
              <a:rPr lang="sv-SE" sz="1500" dirty="0"/>
              <a:t>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0DE87D-F038-949B-7D69-BD018AED7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175" y="3283527"/>
            <a:ext cx="7681645" cy="2364471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85600D00-4192-4775-92E7-F2DE390E743B}"/>
              </a:ext>
            </a:extLst>
          </p:cNvPr>
          <p:cNvSpPr/>
          <p:nvPr/>
        </p:nvSpPr>
        <p:spPr>
          <a:xfrm>
            <a:off x="7934015" y="109497"/>
            <a:ext cx="979129" cy="97912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6" name="Picture 15" descr="A blue and white logo&#10;&#10;Description automatically generated">
            <a:extLst>
              <a:ext uri="{FF2B5EF4-FFF2-40B4-BE49-F238E27FC236}">
                <a16:creationId xmlns:a16="http://schemas.microsoft.com/office/drawing/2014/main" id="{A379F763-E710-4B27-B615-F7F7B145D0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080" y="154082"/>
            <a:ext cx="889000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8867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327B99-2112-9665-F082-DBF07891E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143A00-60DB-1AE7-905E-5E5E42520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FFFF"/>
                </a:solidFill>
              </a:rPr>
              <a:t>Panel Surya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BC1A2-5C02-B163-2E84-95B5EB6B3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1891970"/>
            <a:ext cx="7293023" cy="1597433"/>
          </a:xfrm>
        </p:spPr>
        <p:txBody>
          <a:bodyPr anchor="ctr">
            <a:normAutofit/>
          </a:bodyPr>
          <a:lstStyle/>
          <a:p>
            <a:r>
              <a:rPr lang="en-US" sz="1700" dirty="0"/>
              <a:t>Solar panels generate electricity from absorbing photons radiated by the sun.</a:t>
            </a:r>
          </a:p>
          <a:p>
            <a:r>
              <a:rPr lang="en-US" sz="1700" dirty="0"/>
              <a:t>A PWM-based solar charge controller is used in regulating power between the Lead-Acid battery and the power-consuming devices of the sensor node.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845DCF71-9976-A9FA-37CF-99820AE7E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0C76-61B8-4F75-968B-505003DAB565}" type="slidenum">
              <a:rPr lang="en-US" smtClean="0"/>
              <a:t>47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1D758AD-2678-F554-30A0-913C31BAEB8A}"/>
              </a:ext>
            </a:extLst>
          </p:cNvPr>
          <p:cNvGrpSpPr/>
          <p:nvPr/>
        </p:nvGrpSpPr>
        <p:grpSpPr>
          <a:xfrm>
            <a:off x="589601" y="3521085"/>
            <a:ext cx="7964798" cy="2027970"/>
            <a:chOff x="782754" y="3933285"/>
            <a:chExt cx="7964798" cy="2027970"/>
          </a:xfrm>
        </p:grpSpPr>
        <p:pic>
          <p:nvPicPr>
            <p:cNvPr id="5" name="Picture 4" descr="A black and white image of a person&#10;&#10;Description automatically generated">
              <a:extLst>
                <a:ext uri="{FF2B5EF4-FFF2-40B4-BE49-F238E27FC236}">
                  <a16:creationId xmlns:a16="http://schemas.microsoft.com/office/drawing/2014/main" id="{ED05BE68-6F73-F34E-AAAB-93D80F1B7E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49556" y="3933285"/>
              <a:ext cx="4097996" cy="1675016"/>
            </a:xfrm>
            <a:prstGeom prst="rect">
              <a:avLst/>
            </a:prstGeom>
          </p:spPr>
        </p:pic>
        <p:pic>
          <p:nvPicPr>
            <p:cNvPr id="8" name="Picture 7" descr="A diagram of a battery charger&#10;&#10;Description automatically generated">
              <a:extLst>
                <a:ext uri="{FF2B5EF4-FFF2-40B4-BE49-F238E27FC236}">
                  <a16:creationId xmlns:a16="http://schemas.microsoft.com/office/drawing/2014/main" id="{D5CA7995-9717-8D24-93AF-BE55CD941E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2754" y="3933285"/>
              <a:ext cx="3866802" cy="2027970"/>
            </a:xfrm>
            <a:prstGeom prst="rect">
              <a:avLst/>
            </a:prstGeom>
          </p:spPr>
        </p:pic>
      </p:grp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A022C69D-AE45-A831-C258-1BDC837A956D}"/>
              </a:ext>
            </a:extLst>
          </p:cNvPr>
          <p:cNvSpPr txBox="1">
            <a:spLocks/>
          </p:cNvSpPr>
          <p:nvPr/>
        </p:nvSpPr>
        <p:spPr>
          <a:xfrm>
            <a:off x="1367695" y="5647998"/>
            <a:ext cx="6408606" cy="598674"/>
          </a:xfrm>
          <a:prstGeom prst="rect">
            <a:avLst/>
          </a:prstGeom>
        </p:spPr>
        <p:txBody>
          <a:bodyPr vert="horz" lIns="68580" tIns="34290" rIns="68580" bIns="34290" rtlCol="0" anchor="b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sv-SE" sz="1500" dirty="0"/>
              <a:t>Gambar 31. PWM modulation by the solar charge controller used to regulate power (Acharya, P. S., &amp; Aithal, P. S. (2020, 2020). A Comparative Study of MPPT and PWM Solar Charge Controllers and their Integrated System. International Conference On Computational Physics in Emerging Technologies (ICCPET), Mangalore, India).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A75C027-4163-4012-8D56-D93B39DEE970}"/>
              </a:ext>
            </a:extLst>
          </p:cNvPr>
          <p:cNvSpPr/>
          <p:nvPr/>
        </p:nvSpPr>
        <p:spPr>
          <a:xfrm>
            <a:off x="7934015" y="109497"/>
            <a:ext cx="979129" cy="97912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9" name="Picture 18" descr="A blue and white logo&#10;&#10;Description automatically generated">
            <a:extLst>
              <a:ext uri="{FF2B5EF4-FFF2-40B4-BE49-F238E27FC236}">
                <a16:creationId xmlns:a16="http://schemas.microsoft.com/office/drawing/2014/main" id="{E265264C-46ED-468F-8145-F682A4D2B8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080" y="154082"/>
            <a:ext cx="889000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27147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65456-6E13-0183-FC62-6C6EDA264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CBBCD-9A0D-9DA9-A3EF-6E11E6D67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err="1"/>
              <a:t>Ikthisar</a:t>
            </a:r>
            <a:r>
              <a:rPr lang="en-US" sz="3200" dirty="0"/>
              <a:t> </a:t>
            </a:r>
            <a:r>
              <a:rPr lang="en-US" sz="3200" dirty="0" err="1"/>
              <a:t>Kemampuan</a:t>
            </a:r>
            <a:r>
              <a:rPr lang="en-US" sz="3200" dirty="0"/>
              <a:t> </a:t>
            </a:r>
            <a:r>
              <a:rPr lang="en-US" sz="3200" dirty="0" err="1"/>
              <a:t>Daya</a:t>
            </a:r>
            <a:r>
              <a:rPr lang="en-US" sz="3200" dirty="0"/>
              <a:t> Sensor Node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A1D383C4-1DAC-2375-70C1-0B83FA38193B}"/>
              </a:ext>
            </a:extLst>
          </p:cNvPr>
          <p:cNvSpPr txBox="1">
            <a:spLocks/>
          </p:cNvSpPr>
          <p:nvPr/>
        </p:nvSpPr>
        <p:spPr>
          <a:xfrm>
            <a:off x="623323" y="5166291"/>
            <a:ext cx="2435747" cy="58027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/>
              <a:t>Gambar 16. </a:t>
            </a:r>
            <a:r>
              <a:rPr lang="en-US" sz="1200" dirty="0" err="1"/>
              <a:t>Kondisi</a:t>
            </a:r>
            <a:r>
              <a:rPr lang="en-US" sz="1200" dirty="0"/>
              <a:t> </a:t>
            </a:r>
            <a:r>
              <a:rPr lang="en-US" sz="1200" dirty="0" err="1"/>
              <a:t>pengukuran</a:t>
            </a:r>
            <a:r>
              <a:rPr lang="en-US" sz="1200" dirty="0"/>
              <a:t> </a:t>
            </a:r>
            <a:r>
              <a:rPr lang="en-US" sz="1200" dirty="0" err="1"/>
              <a:t>jangkauan</a:t>
            </a:r>
            <a:r>
              <a:rPr lang="en-US" sz="1200" dirty="0"/>
              <a:t> LoRa pada </a:t>
            </a:r>
            <a:r>
              <a:rPr lang="en-US" sz="1200" dirty="0" err="1"/>
              <a:t>daerah</a:t>
            </a:r>
            <a:r>
              <a:rPr lang="en-US" sz="1200" dirty="0"/>
              <a:t> </a:t>
            </a:r>
            <a:r>
              <a:rPr lang="en-US" sz="1200" dirty="0" err="1"/>
              <a:t>tanah</a:t>
            </a:r>
            <a:r>
              <a:rPr lang="en-US" sz="1200" dirty="0"/>
              <a:t> </a:t>
            </a:r>
            <a:r>
              <a:rPr lang="en-US" sz="1200" dirty="0" err="1"/>
              <a:t>lapang</a:t>
            </a:r>
            <a:r>
              <a:rPr lang="en-US" sz="1200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ACB0CF-26B5-35A7-D97B-14D8EB75A1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" b="57"/>
          <a:stretch/>
        </p:blipFill>
        <p:spPr>
          <a:xfrm>
            <a:off x="623324" y="2190743"/>
            <a:ext cx="2435746" cy="2975548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D5F3276-4264-258B-5992-B43DA4B96165}"/>
              </a:ext>
            </a:extLst>
          </p:cNvPr>
          <p:cNvSpPr txBox="1">
            <a:spLocks/>
          </p:cNvSpPr>
          <p:nvPr/>
        </p:nvSpPr>
        <p:spPr>
          <a:xfrm>
            <a:off x="4532462" y="4586020"/>
            <a:ext cx="3982888" cy="580271"/>
          </a:xfrm>
          <a:prstGeom prst="rect">
            <a:avLst/>
          </a:prstGeom>
        </p:spPr>
        <p:txBody>
          <a:bodyPr vert="horz" lIns="68580" tIns="0" rIns="68580" bIns="3429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9536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52144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200" dirty="0"/>
              <a:t>Gambar 17. </a:t>
            </a:r>
            <a:r>
              <a:rPr lang="en-US" sz="1200" dirty="0" err="1"/>
              <a:t>Grafik</a:t>
            </a:r>
            <a:r>
              <a:rPr lang="en-US" sz="1200" dirty="0"/>
              <a:t> </a:t>
            </a:r>
            <a:r>
              <a:rPr lang="en-US" sz="1200" dirty="0" err="1"/>
              <a:t>nilai</a:t>
            </a:r>
            <a:r>
              <a:rPr lang="en-US" sz="1200" dirty="0"/>
              <a:t> RSSI </a:t>
            </a:r>
            <a:r>
              <a:rPr lang="en-US" sz="1200" dirty="0" err="1"/>
              <a:t>terhadap</a:t>
            </a:r>
            <a:r>
              <a:rPr lang="en-US" sz="1200" dirty="0"/>
              <a:t> </a:t>
            </a:r>
            <a:r>
              <a:rPr lang="en-US" sz="1200" dirty="0" err="1"/>
              <a:t>jarak</a:t>
            </a:r>
            <a:r>
              <a:rPr lang="en-US" sz="1200" dirty="0"/>
              <a:t> </a:t>
            </a:r>
            <a:r>
              <a:rPr lang="en-US" sz="1200" dirty="0" err="1"/>
              <a:t>pengukuran</a:t>
            </a:r>
            <a:r>
              <a:rPr lang="en-US" sz="1200" dirty="0"/>
              <a:t> </a:t>
            </a:r>
            <a:r>
              <a:rPr lang="en-US" sz="1200" dirty="0" err="1"/>
              <a:t>jangkauan</a:t>
            </a:r>
            <a:r>
              <a:rPr lang="en-US" sz="1200" dirty="0"/>
              <a:t> LoRa pada </a:t>
            </a:r>
            <a:r>
              <a:rPr lang="en-US" sz="1200" dirty="0" err="1"/>
              <a:t>daerah</a:t>
            </a:r>
            <a:r>
              <a:rPr lang="en-US" sz="1200" dirty="0"/>
              <a:t> </a:t>
            </a:r>
            <a:r>
              <a:rPr lang="en-US" sz="1200" dirty="0" err="1"/>
              <a:t>tanah</a:t>
            </a:r>
            <a:r>
              <a:rPr lang="en-US" sz="1200" dirty="0"/>
              <a:t> </a:t>
            </a:r>
            <a:r>
              <a:rPr lang="en-US" sz="1200" dirty="0" err="1"/>
              <a:t>lapang</a:t>
            </a:r>
            <a:r>
              <a:rPr lang="en-US" sz="1200" dirty="0"/>
              <a:t>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FDF696E-4AB1-CC96-BAD2-A34E94FA8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0C76-61B8-4F75-968B-505003DAB565}" type="slidenum">
              <a:rPr lang="en-US" smtClean="0"/>
              <a:t>48</a:t>
            </a:fld>
            <a:endParaRPr lang="en-US"/>
          </a:p>
        </p:txBody>
      </p:sp>
      <p:pic>
        <p:nvPicPr>
          <p:cNvPr id="9" name="Picture 8" descr="A blue and white logo&#10;&#10;Description automatically generated">
            <a:extLst>
              <a:ext uri="{FF2B5EF4-FFF2-40B4-BE49-F238E27FC236}">
                <a16:creationId xmlns:a16="http://schemas.microsoft.com/office/drawing/2014/main" id="{F7700BB2-E88F-487A-A962-444CF069F9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080" y="154082"/>
            <a:ext cx="889000" cy="889000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8FB11D0-C470-4856-93E0-DB1956F65A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3878234"/>
              </p:ext>
            </p:extLst>
          </p:nvPr>
        </p:nvGraphicFramePr>
        <p:xfrm>
          <a:off x="4693921" y="2333692"/>
          <a:ext cx="3785482" cy="21906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19545">
                  <a:extLst>
                    <a:ext uri="{9D8B030D-6E8A-4147-A177-3AD203B41FA5}">
                      <a16:colId xmlns:a16="http://schemas.microsoft.com/office/drawing/2014/main" val="3743155829"/>
                    </a:ext>
                  </a:extLst>
                </a:gridCol>
                <a:gridCol w="1565937">
                  <a:extLst>
                    <a:ext uri="{9D8B030D-6E8A-4147-A177-3AD203B41FA5}">
                      <a16:colId xmlns:a16="http://schemas.microsoft.com/office/drawing/2014/main" val="44717195"/>
                    </a:ext>
                  </a:extLst>
                </a:gridCol>
              </a:tblGrid>
              <a:tr h="228055">
                <a:tc>
                  <a:txBody>
                    <a:bodyPr/>
                    <a:lstStyle/>
                    <a:p>
                      <a:pPr algn="l" fontAlgn="b"/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403" marR="11403" marT="114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2000" u="none" strike="noStrike">
                          <a:effectLst/>
                        </a:rPr>
                        <a:t>Keseluruhan Alat</a:t>
                      </a:r>
                      <a:endParaRPr lang="en-ID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403" marR="11403" marT="11403" marB="0" anchor="b"/>
                </a:tc>
                <a:extLst>
                  <a:ext uri="{0D108BD9-81ED-4DB2-BD59-A6C34878D82A}">
                    <a16:rowId xmlns:a16="http://schemas.microsoft.com/office/drawing/2014/main" val="3196149225"/>
                  </a:ext>
                </a:extLst>
              </a:tr>
              <a:tr h="228055">
                <a:tc>
                  <a:txBody>
                    <a:bodyPr/>
                    <a:lstStyle/>
                    <a:p>
                      <a:pPr algn="l" fontAlgn="b"/>
                      <a:r>
                        <a:rPr lang="en-ID" sz="2000" u="none" strike="noStrike" dirty="0" err="1">
                          <a:effectLst/>
                        </a:rPr>
                        <a:t>Tegangan</a:t>
                      </a:r>
                      <a:r>
                        <a:rPr lang="en-ID" sz="2000" u="none" strike="noStrike" dirty="0">
                          <a:effectLst/>
                        </a:rPr>
                        <a:t> (V)</a:t>
                      </a:r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403" marR="11403" marT="114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11.37</a:t>
                      </a:r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403" marR="11403" marT="11403" marB="0" anchor="ctr"/>
                </a:tc>
                <a:extLst>
                  <a:ext uri="{0D108BD9-81ED-4DB2-BD59-A6C34878D82A}">
                    <a16:rowId xmlns:a16="http://schemas.microsoft.com/office/drawing/2014/main" val="391246445"/>
                  </a:ext>
                </a:extLst>
              </a:tr>
              <a:tr h="228055">
                <a:tc>
                  <a:txBody>
                    <a:bodyPr/>
                    <a:lstStyle/>
                    <a:p>
                      <a:pPr algn="l" fontAlgn="b"/>
                      <a:r>
                        <a:rPr lang="en-ID" sz="2000" u="none" strike="noStrike" dirty="0" err="1">
                          <a:effectLst/>
                        </a:rPr>
                        <a:t>Arus</a:t>
                      </a:r>
                      <a:r>
                        <a:rPr lang="en-ID" sz="2000" u="none" strike="noStrike" dirty="0">
                          <a:effectLst/>
                        </a:rPr>
                        <a:t> (A)</a:t>
                      </a:r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403" marR="11403" marT="114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0.54</a:t>
                      </a:r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403" marR="11403" marT="11403" marB="0" anchor="ctr"/>
                </a:tc>
                <a:extLst>
                  <a:ext uri="{0D108BD9-81ED-4DB2-BD59-A6C34878D82A}">
                    <a16:rowId xmlns:a16="http://schemas.microsoft.com/office/drawing/2014/main" val="4016890205"/>
                  </a:ext>
                </a:extLst>
              </a:tr>
              <a:tr h="228055">
                <a:tc>
                  <a:txBody>
                    <a:bodyPr/>
                    <a:lstStyle/>
                    <a:p>
                      <a:pPr algn="l" fontAlgn="b"/>
                      <a:r>
                        <a:rPr lang="en-ID" sz="2000" u="none" strike="noStrike" dirty="0" err="1">
                          <a:effectLst/>
                        </a:rPr>
                        <a:t>Daya</a:t>
                      </a:r>
                      <a:r>
                        <a:rPr lang="en-ID" sz="2000" u="none" strike="noStrike" dirty="0">
                          <a:effectLst/>
                        </a:rPr>
                        <a:t> (W)</a:t>
                      </a:r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403" marR="11403" marT="114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6.1</a:t>
                      </a:r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403" marR="11403" marT="11403" marB="0" anchor="ctr"/>
                </a:tc>
                <a:extLst>
                  <a:ext uri="{0D108BD9-81ED-4DB2-BD59-A6C34878D82A}">
                    <a16:rowId xmlns:a16="http://schemas.microsoft.com/office/drawing/2014/main" val="506624108"/>
                  </a:ext>
                </a:extLst>
              </a:tr>
              <a:tr h="228055">
                <a:tc>
                  <a:txBody>
                    <a:bodyPr/>
                    <a:lstStyle/>
                    <a:p>
                      <a:pPr algn="l" fontAlgn="b"/>
                      <a:r>
                        <a:rPr lang="en-ID" sz="2000" u="none" strike="noStrike" dirty="0" err="1">
                          <a:effectLst/>
                        </a:rPr>
                        <a:t>Ketahanan</a:t>
                      </a:r>
                      <a:r>
                        <a:rPr lang="en-ID" sz="2000" u="none" strike="noStrike" dirty="0">
                          <a:effectLst/>
                        </a:rPr>
                        <a:t> </a:t>
                      </a:r>
                      <a:r>
                        <a:rPr lang="en-ID" sz="2000" u="none" strike="noStrike" dirty="0" err="1">
                          <a:effectLst/>
                        </a:rPr>
                        <a:t>Baterai</a:t>
                      </a:r>
                      <a:r>
                        <a:rPr lang="en-ID" sz="2000" u="none" strike="noStrike" dirty="0">
                          <a:effectLst/>
                        </a:rPr>
                        <a:t> (Hour)</a:t>
                      </a:r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403" marR="11403" marT="114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1.23</a:t>
                      </a:r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403" marR="11403" marT="11403" marB="0" anchor="ctr"/>
                </a:tc>
                <a:extLst>
                  <a:ext uri="{0D108BD9-81ED-4DB2-BD59-A6C34878D82A}">
                    <a16:rowId xmlns:a16="http://schemas.microsoft.com/office/drawing/2014/main" val="7708183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462355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41AD65-0E3E-7072-B3BD-E30BD9D77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59CE83-3F66-F3FC-EE04-67CBA6482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Pengujian</a:t>
            </a:r>
            <a:r>
              <a:rPr lang="en-US" sz="32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Panel Surya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CF1814-D793-55E9-2FEC-E205D2EF7E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76821" y="1800953"/>
            <a:ext cx="5419310" cy="3256093"/>
          </a:xfrm>
          <a:prstGeom prst="rect">
            <a:avLst/>
          </a:prstGeom>
        </p:spPr>
      </p:pic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E9CBC3BE-F521-6E31-B8EC-75065CA1BD04}"/>
              </a:ext>
            </a:extLst>
          </p:cNvPr>
          <p:cNvSpPr txBox="1">
            <a:spLocks/>
          </p:cNvSpPr>
          <p:nvPr/>
        </p:nvSpPr>
        <p:spPr>
          <a:xfrm>
            <a:off x="3860643" y="5261977"/>
            <a:ext cx="4451668" cy="459950"/>
          </a:xfrm>
          <a:prstGeom prst="rect">
            <a:avLst/>
          </a:prstGeom>
        </p:spPr>
        <p:txBody>
          <a:bodyPr vert="horz" lIns="68580" tIns="34290" rIns="68580" bIns="34290" rtlCol="0" anchor="b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sv-SE" sz="1500" dirty="0"/>
              <a:t>Gambar 32. Solar panel voltage being influenced by the sunlight intensity.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D7A32301-9F1A-3324-C9A2-52C5A147F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0C76-61B8-4F75-968B-505003DAB565}" type="slidenum">
              <a:rPr lang="en-US" smtClean="0"/>
              <a:t>49</a:t>
            </a:fld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D42FB08-35B2-B674-D42E-36E084FFE8F6}"/>
              </a:ext>
            </a:extLst>
          </p:cNvPr>
          <p:cNvSpPr/>
          <p:nvPr/>
        </p:nvSpPr>
        <p:spPr>
          <a:xfrm>
            <a:off x="4326340" y="2342387"/>
            <a:ext cx="4189010" cy="85118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297F65B-E0B0-F83E-4000-9970ACBC33FC}"/>
              </a:ext>
            </a:extLst>
          </p:cNvPr>
          <p:cNvSpPr/>
          <p:nvPr/>
        </p:nvSpPr>
        <p:spPr>
          <a:xfrm>
            <a:off x="3983179" y="3027173"/>
            <a:ext cx="1177641" cy="43694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A blue and white logo&#10;&#10;Description automatically generated">
            <a:extLst>
              <a:ext uri="{FF2B5EF4-FFF2-40B4-BE49-F238E27FC236}">
                <a16:creationId xmlns:a16="http://schemas.microsoft.com/office/drawing/2014/main" id="{9912EBB8-1229-454B-84C4-5031DBA8FA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080" y="154082"/>
            <a:ext cx="889000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971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6D83B1-455F-E163-7F83-09F793D9A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F9338B9-D018-45DB-ACCB-1BB6C5808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B29A51E-C1CF-CBD4-6921-50DB7B7CC3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1749870-A095-A03F-5D50-CF932D615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569DD93-B1A8-4C98-FCBB-D2900DED5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44ABDA86-A567-6D4E-9737-8F79F8B52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EC757B-DC13-EAF7-EBCF-9E9810CBD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Pengujian</a:t>
            </a:r>
            <a:r>
              <a:rPr lang="en-US" sz="32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Panel Surya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94B28B-4419-1E8B-9FAD-B3C9901059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76821" y="1800953"/>
            <a:ext cx="5419310" cy="3256093"/>
          </a:xfrm>
          <a:prstGeom prst="rect">
            <a:avLst/>
          </a:prstGeom>
        </p:spPr>
      </p:pic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12E78571-2908-20A6-2137-6C06FF72E96E}"/>
              </a:ext>
            </a:extLst>
          </p:cNvPr>
          <p:cNvSpPr txBox="1">
            <a:spLocks/>
          </p:cNvSpPr>
          <p:nvPr/>
        </p:nvSpPr>
        <p:spPr>
          <a:xfrm>
            <a:off x="3860643" y="5261977"/>
            <a:ext cx="4451668" cy="459950"/>
          </a:xfrm>
          <a:prstGeom prst="rect">
            <a:avLst/>
          </a:prstGeom>
        </p:spPr>
        <p:txBody>
          <a:bodyPr vert="horz" lIns="68580" tIns="34290" rIns="68580" bIns="34290" rtlCol="0" anchor="b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sv-SE" sz="1500" dirty="0"/>
              <a:t>Gambar 33. Grafik pengaruh intensitas cahaya terhadap daya panel surya.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153A9F1E-ABCA-1E2F-54B0-C1D226F29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0C76-61B8-4F75-968B-505003DAB565}" type="slidenum">
              <a:rPr lang="en-US" smtClean="0"/>
              <a:t>50</a:t>
            </a:fld>
            <a:endParaRPr lang="en-US"/>
          </a:p>
        </p:txBody>
      </p:sp>
      <p:pic>
        <p:nvPicPr>
          <p:cNvPr id="12" name="Picture 11" descr="A blue and white logo&#10;&#10;Description automatically generated">
            <a:extLst>
              <a:ext uri="{FF2B5EF4-FFF2-40B4-BE49-F238E27FC236}">
                <a16:creationId xmlns:a16="http://schemas.microsoft.com/office/drawing/2014/main" id="{D0D7A51F-B1C3-447C-9A66-A730F4EFFB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080" y="154082"/>
            <a:ext cx="889000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35938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8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9144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140040" y="-1133192"/>
            <a:ext cx="6858001" cy="9124385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1072" y="0"/>
            <a:ext cx="4572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3"/>
            <a:ext cx="9137153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784" y="4049"/>
            <a:ext cx="7662432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286234-1F0D-6A6F-51C1-410FFE602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78240" y="6455664"/>
            <a:ext cx="33604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4CFF0C76-61B8-4F75-968B-505003DAB565}" type="slidenum">
              <a:rPr lang="en-US" sz="1000">
                <a:solidFill>
                  <a:srgbClr val="FFFFFF"/>
                </a:solidFill>
              </a:rPr>
              <a:pPr defTabSz="914400">
                <a:spcAft>
                  <a:spcPts val="600"/>
                </a:spcAft>
              </a:pPr>
              <a:t>51</a:t>
            </a:fld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F259056-BBA9-4E1D-BCF4-30174E911DE4}"/>
              </a:ext>
            </a:extLst>
          </p:cNvPr>
          <p:cNvSpPr/>
          <p:nvPr/>
        </p:nvSpPr>
        <p:spPr>
          <a:xfrm>
            <a:off x="7934015" y="109497"/>
            <a:ext cx="979129" cy="97912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5" name="Picture 14" descr="A blue and white logo&#10;&#10;Description automatically generated">
            <a:extLst>
              <a:ext uri="{FF2B5EF4-FFF2-40B4-BE49-F238E27FC236}">
                <a16:creationId xmlns:a16="http://schemas.microsoft.com/office/drawing/2014/main" id="{204EC67A-75BD-42A5-AF52-A4FC636A80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080" y="154082"/>
            <a:ext cx="889000" cy="889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3B0E7D8-EB8F-4E8C-8FBF-3FF03270BA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3593" y="0"/>
            <a:ext cx="62768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3044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7423A6D19F2AC41B2AFD0C366C2EE05" ma:contentTypeVersion="8" ma:contentTypeDescription="Create a new document." ma:contentTypeScope="" ma:versionID="324aa0cc5dd9be80f3f4cddf3fce755a">
  <xsd:schema xmlns:xsd="http://www.w3.org/2001/XMLSchema" xmlns:xs="http://www.w3.org/2001/XMLSchema" xmlns:p="http://schemas.microsoft.com/office/2006/metadata/properties" xmlns:ns3="fe9cc7ba-5910-4fa0-aa10-4af727b12153" xmlns:ns4="8da37629-794d-4b6e-ae3e-70610cd8357e" targetNamespace="http://schemas.microsoft.com/office/2006/metadata/properties" ma:root="true" ma:fieldsID="7d0cd9d6337a42899275799002dae42a" ns3:_="" ns4:_="">
    <xsd:import namespace="fe9cc7ba-5910-4fa0-aa10-4af727b12153"/>
    <xsd:import namespace="8da37629-794d-4b6e-ae3e-70610cd8357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9cc7ba-5910-4fa0-aa10-4af727b121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a37629-794d-4b6e-ae3e-70610cd8357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e9cc7ba-5910-4fa0-aa10-4af727b12153" xsi:nil="true"/>
  </documentManagement>
</p:properties>
</file>

<file path=customXml/itemProps1.xml><?xml version="1.0" encoding="utf-8"?>
<ds:datastoreItem xmlns:ds="http://schemas.openxmlformats.org/officeDocument/2006/customXml" ds:itemID="{6C6E03CE-5E1D-48D1-BD74-7D9FD2F35BE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e9cc7ba-5910-4fa0-aa10-4af727b12153"/>
    <ds:schemaRef ds:uri="8da37629-794d-4b6e-ae3e-70610cd835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6A0F694-1A5A-40F4-BF8A-62C90CF4EA3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C0C9B8B-04DA-4096-91B0-FB8D8C895FE4}">
  <ds:schemaRefs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fe9cc7ba-5910-4fa0-aa10-4af727b12153"/>
    <ds:schemaRef ds:uri="http://purl.org/dc/dcmitype/"/>
    <ds:schemaRef ds:uri="http://schemas.microsoft.com/office/2006/documentManagement/types"/>
    <ds:schemaRef ds:uri="http://purl.org/dc/elements/1.1/"/>
    <ds:schemaRef ds:uri="8da37629-794d-4b6e-ae3e-70610cd8357e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1970</TotalTime>
  <Words>3081</Words>
  <Application>Microsoft Office PowerPoint</Application>
  <PresentationFormat>On-screen Show (4:3)</PresentationFormat>
  <Paragraphs>338</Paragraphs>
  <Slides>51</Slides>
  <Notes>39</Notes>
  <HiddenSlides>3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2" baseType="lpstr">
      <vt:lpstr>Office Theme</vt:lpstr>
      <vt:lpstr>PERANCANGAN SISTEM PEMANTAUAN CURAH HUJAN SEBAGAI PERINGATAN BANJIR BERBASIS INTERNET OF THINGS (IOT)</vt:lpstr>
      <vt:lpstr>PENDAHULUAN</vt:lpstr>
      <vt:lpstr>Pendahuluan</vt:lpstr>
      <vt:lpstr>Pendahuluan</vt:lpstr>
      <vt:lpstr>DASAR TEORI</vt:lpstr>
      <vt:lpstr>Internet of Things</vt:lpstr>
      <vt:lpstr>Pengukuran Curah Hujan</vt:lpstr>
      <vt:lpstr>Mikrokontroller ESP32</vt:lpstr>
      <vt:lpstr>Teknologi LoRa</vt:lpstr>
      <vt:lpstr>Message Queueing Telemetry Transport</vt:lpstr>
      <vt:lpstr>Algoritma Decision Tree</vt:lpstr>
      <vt:lpstr>Algoritma Linear Regression</vt:lpstr>
      <vt:lpstr>Feature Importance</vt:lpstr>
      <vt:lpstr>METODE</vt:lpstr>
      <vt:lpstr>Arsitektur Sistem Peringatan Dini Banjir</vt:lpstr>
      <vt:lpstr>Arsitektur Sensor Node</vt:lpstr>
      <vt:lpstr>Metode Pengujian Sensor Curah Hujan</vt:lpstr>
      <vt:lpstr>Metode Pengujian Sensor Curah Hujan</vt:lpstr>
      <vt:lpstr>Metode Pengujian Sensor Curah Hujan</vt:lpstr>
      <vt:lpstr>Metode Pengujian Sensor Curah Hujan</vt:lpstr>
      <vt:lpstr>Metode Pengujian LoRa SX1276</vt:lpstr>
      <vt:lpstr>Metode Pengujian LoRa SX1276</vt:lpstr>
      <vt:lpstr>Analisa Keberpengaruhan</vt:lpstr>
      <vt:lpstr>Analisa Keberpengaruhan</vt:lpstr>
      <vt:lpstr>Analisa Keberpengaruhan</vt:lpstr>
      <vt:lpstr>Analisa Keberpengaruhan</vt:lpstr>
      <vt:lpstr>HASIL DAN ANALISISNYA</vt:lpstr>
      <vt:lpstr>Hasil Pengujian Sensor Curah Hujan RK400-07</vt:lpstr>
      <vt:lpstr>Hasil Kalibrasi Sensor Curah Hujan RK400-07</vt:lpstr>
      <vt:lpstr>Hasil Pengujian LoRa SX1276</vt:lpstr>
      <vt:lpstr>Analisa Keberpengaruhan</vt:lpstr>
      <vt:lpstr>Analisa Keberpengaruhan</vt:lpstr>
      <vt:lpstr>Analisa Keberpengaruhan</vt:lpstr>
      <vt:lpstr>Kesimpulan</vt:lpstr>
      <vt:lpstr>SESI DISKUSI</vt:lpstr>
      <vt:lpstr>Hasil Perbandingan Sensor Curah Hujan</vt:lpstr>
      <vt:lpstr>Algoritma Decision Tree</vt:lpstr>
      <vt:lpstr>Algoritma Linear Regression</vt:lpstr>
      <vt:lpstr>Analisa Keberpengaruhan</vt:lpstr>
      <vt:lpstr>Pemrograman Sensor Node</vt:lpstr>
      <vt:lpstr>Pemrograman Sensor Node</vt:lpstr>
      <vt:lpstr>Pengukuran Ketinggian Permukaan Sungai</vt:lpstr>
      <vt:lpstr>Pengukuran Ketinggian Permukaan Sungai</vt:lpstr>
      <vt:lpstr>LoRa Chirp Spread Spectrum</vt:lpstr>
      <vt:lpstr>LoRa Chirp Spread Spectrum</vt:lpstr>
      <vt:lpstr>Panel Surya</vt:lpstr>
      <vt:lpstr>Panel Surya</vt:lpstr>
      <vt:lpstr>Ikthisar Kemampuan Daya Sensor Node</vt:lpstr>
      <vt:lpstr>Pengujian Panel Surya</vt:lpstr>
      <vt:lpstr>Pengujian Panel Surya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PERANCANGAN SISTEM PEMANTAUAN KETINGGIAN PERMUKAAN SUNGAI SEBAGAI PERINGATAN BANJIR BERBASIS INTERNET OF THINGS (IOT)</dc:title>
  <dc:creator>Samuel Obadiah</dc:creator>
  <cp:lastModifiedBy>Samuel Obadiah</cp:lastModifiedBy>
  <cp:revision>69</cp:revision>
  <dcterms:created xsi:type="dcterms:W3CDTF">2025-01-27T03:10:24Z</dcterms:created>
  <dcterms:modified xsi:type="dcterms:W3CDTF">2025-09-03T02:30:52Z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8b525e5-f3da-4501-8f1e-526b6769fc56_Enabled">
    <vt:lpwstr>true</vt:lpwstr>
  </property>
  <property fmtid="{D5CDD505-2E9C-101B-9397-08002B2CF9AE}" pid="3" name="MSIP_Label_38b525e5-f3da-4501-8f1e-526b6769fc56_SetDate">
    <vt:lpwstr>2025-01-27T03:53:00Z</vt:lpwstr>
  </property>
  <property fmtid="{D5CDD505-2E9C-101B-9397-08002B2CF9AE}" pid="4" name="MSIP_Label_38b525e5-f3da-4501-8f1e-526b6769fc56_Method">
    <vt:lpwstr>Standard</vt:lpwstr>
  </property>
  <property fmtid="{D5CDD505-2E9C-101B-9397-08002B2CF9AE}" pid="5" name="MSIP_Label_38b525e5-f3da-4501-8f1e-526b6769fc56_Name">
    <vt:lpwstr>defa4170-0d19-0005-0004-bc88714345d2</vt:lpwstr>
  </property>
  <property fmtid="{D5CDD505-2E9C-101B-9397-08002B2CF9AE}" pid="6" name="MSIP_Label_38b525e5-f3da-4501-8f1e-526b6769fc56_SiteId">
    <vt:lpwstr>db6e1183-4c65-405c-82ce-7cd53fa6e9dc</vt:lpwstr>
  </property>
  <property fmtid="{D5CDD505-2E9C-101B-9397-08002B2CF9AE}" pid="7" name="MSIP_Label_38b525e5-f3da-4501-8f1e-526b6769fc56_ActionId">
    <vt:lpwstr>17714d6d-64b5-4c92-8f26-af8f6e46ab77</vt:lpwstr>
  </property>
  <property fmtid="{D5CDD505-2E9C-101B-9397-08002B2CF9AE}" pid="8" name="MSIP_Label_38b525e5-f3da-4501-8f1e-526b6769fc56_ContentBits">
    <vt:lpwstr>0</vt:lpwstr>
  </property>
  <property fmtid="{D5CDD505-2E9C-101B-9397-08002B2CF9AE}" pid="9" name="ContentTypeId">
    <vt:lpwstr>0x01010017423A6D19F2AC41B2AFD0C366C2EE05</vt:lpwstr>
  </property>
</Properties>
</file>